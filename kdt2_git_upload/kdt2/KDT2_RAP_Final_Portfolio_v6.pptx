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2"/>
  </p:sldMasterIdLst>
  <p:notesMasterIdLst>
    <p:notesMasterId r:id="rId1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613" autoAdjust="0"/>
  </p:normalViewPr>
  <p:slideViewPr>
    <p:cSldViewPr snapToGrid="0">
      <p:cViewPr varScale="1">
        <p:scale>
          <a:sx n="69" d="100"/>
          <a:sy n="69" d="100"/>
        </p:scale>
        <p:origin x="109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b="1" dirty="0"/>
              <a:t>슬라이드 1. 표지</a:t>
            </a:r>
            <a:endParaRPr lang="en-US" altLang="ko-KR" b="1" dirty="0"/>
          </a:p>
          <a:p>
            <a:endParaRPr lang="ko-KR" altLang="ko-KR" b="1" dirty="0"/>
          </a:p>
          <a:p>
            <a:r>
              <a:rPr lang="ko-KR" altLang="ko-KR" b="1" dirty="0"/>
              <a:t>시간: 10초</a:t>
            </a:r>
            <a:endParaRPr lang="en-US" altLang="ko-KR" b="1" dirty="0"/>
          </a:p>
          <a:p>
            <a:endParaRPr lang="ko-KR" altLang="ko-KR" dirty="0"/>
          </a:p>
          <a:p>
            <a:r>
              <a:rPr lang="ko-KR" altLang="ko-KR" b="1" dirty="0"/>
              <a:t>키워드: 구매 프로세스, RAP, 개인 구현</a:t>
            </a:r>
            <a:endParaRPr lang="en-US" altLang="ko-KR" b="1" dirty="0"/>
          </a:p>
          <a:p>
            <a:endParaRPr lang="ko-KR" altLang="ko-KR" dirty="0"/>
          </a:p>
          <a:p>
            <a:r>
              <a:rPr lang="ko-KR" altLang="ko-KR" dirty="0"/>
              <a:t>안녕하세요. 구매 프로세스를 SAP </a:t>
            </a:r>
            <a:r>
              <a:rPr lang="ko-KR" altLang="ko-KR" dirty="0" err="1"/>
              <a:t>RAP으로</a:t>
            </a:r>
            <a:r>
              <a:rPr lang="ko-KR" altLang="ko-KR" dirty="0"/>
              <a:t> 구현한 최민준입니다.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ko-KR" dirty="0"/>
              <a:t>이번 발표에서는 제가 직접 구현한 기능과 RAP 적용을 통해 개선한 부분을 설명</a:t>
            </a:r>
            <a:r>
              <a:rPr lang="en-US" altLang="ko-KR" dirty="0"/>
              <a:t> </a:t>
            </a:r>
            <a:r>
              <a:rPr lang="ko-KR" altLang="ko-KR" dirty="0"/>
              <a:t>드리겠습니다.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b="1" dirty="0"/>
              <a:t>슬라이드 2. 프로젝트 개요와 목표</a:t>
            </a:r>
          </a:p>
          <a:p>
            <a:r>
              <a:rPr lang="ko-KR" altLang="ko-KR" b="1" dirty="0"/>
              <a:t>시간: 30초</a:t>
            </a:r>
            <a:br>
              <a:rPr lang="ko-KR" altLang="ko-KR" dirty="0"/>
            </a:br>
            <a:r>
              <a:rPr lang="ko-KR" altLang="ko-KR" b="1" dirty="0"/>
              <a:t>키워드: 가상 유통기업, 업무 통합, RAP 애플리케이션</a:t>
            </a:r>
            <a:endParaRPr lang="ko-KR" altLang="ko-KR" dirty="0"/>
          </a:p>
          <a:p>
            <a:r>
              <a:rPr lang="ko-KR" altLang="ko-KR" dirty="0"/>
              <a:t>프로젝트 대상은 스마트폰 상품을 판매하는 가상 유통기업입니다. 자재, 구매, 입고, 판매, 회계 업무를 하나의 프로세스로 연결하는 것을 목표로 했습니다.</a:t>
            </a:r>
          </a:p>
          <a:p>
            <a:r>
              <a:rPr lang="ko-KR" altLang="ko-KR" dirty="0"/>
              <a:t>저희 팀은 업무를 Business </a:t>
            </a:r>
            <a:r>
              <a:rPr lang="ko-KR" altLang="ko-KR" dirty="0" err="1"/>
              <a:t>Object</a:t>
            </a:r>
            <a:r>
              <a:rPr lang="ko-KR" altLang="ko-KR" dirty="0"/>
              <a:t> 단위로 나누고, </a:t>
            </a:r>
            <a:r>
              <a:rPr lang="ko-KR" altLang="ko-KR" dirty="0" err="1"/>
              <a:t>CDS와</a:t>
            </a:r>
            <a:r>
              <a:rPr lang="ko-KR" altLang="ko-KR" dirty="0"/>
              <a:t> RAP, </a:t>
            </a:r>
            <a:r>
              <a:rPr lang="ko-KR" altLang="ko-KR" dirty="0" err="1"/>
              <a:t>Fiori</a:t>
            </a:r>
            <a:r>
              <a:rPr lang="ko-KR" altLang="ko-KR" dirty="0"/>
              <a:t> </a:t>
            </a:r>
            <a:r>
              <a:rPr lang="ko-KR" altLang="ko-KR" dirty="0" err="1"/>
              <a:t>Elements를</a:t>
            </a:r>
            <a:r>
              <a:rPr lang="ko-KR" altLang="ko-KR" dirty="0"/>
              <a:t> 활용해 </a:t>
            </a:r>
            <a:r>
              <a:rPr lang="ko-KR" altLang="ko-KR" dirty="0" err="1"/>
              <a:t>구매·자재·FI</a:t>
            </a:r>
            <a:r>
              <a:rPr lang="ko-KR" altLang="ko-KR" dirty="0"/>
              <a:t> 애플리케이션을 구현했습니다.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b="1" dirty="0"/>
              <a:t>슬라이드 3. 개인 개발 범위</a:t>
            </a:r>
          </a:p>
          <a:p>
            <a:r>
              <a:rPr lang="ko-KR" altLang="ko-KR" b="1" dirty="0"/>
              <a:t>시간: 35초</a:t>
            </a:r>
            <a:br>
              <a:rPr lang="ko-KR" altLang="ko-KR" dirty="0"/>
            </a:br>
            <a:r>
              <a:rPr lang="ko-KR" altLang="ko-KR" b="1" dirty="0"/>
              <a:t>키워드: FS00~FS06, 직접 구현, FS07~FS08 후속 설계</a:t>
            </a:r>
            <a:endParaRPr lang="ko-KR" altLang="ko-KR" dirty="0"/>
          </a:p>
          <a:p>
            <a:r>
              <a:rPr lang="ko-KR" altLang="ko-KR" dirty="0"/>
              <a:t>저는 FS00 공통 </a:t>
            </a:r>
            <a:r>
              <a:rPr lang="ko-KR" altLang="ko-KR" dirty="0" err="1"/>
              <a:t>Search</a:t>
            </a:r>
            <a:r>
              <a:rPr lang="ko-KR" altLang="ko-KR" dirty="0"/>
              <a:t> </a:t>
            </a:r>
            <a:r>
              <a:rPr lang="ko-KR" altLang="ko-KR" dirty="0" err="1"/>
              <a:t>Help부터</a:t>
            </a:r>
            <a:r>
              <a:rPr lang="ko-KR" altLang="ko-KR" dirty="0"/>
              <a:t> FS06 </a:t>
            </a:r>
            <a:r>
              <a:rPr lang="ko-KR" altLang="ko-KR" dirty="0" err="1"/>
              <a:t>구매오더까지</a:t>
            </a:r>
            <a:r>
              <a:rPr lang="ko-KR" altLang="ko-KR" dirty="0"/>
              <a:t> 직접 구현했습니다.</a:t>
            </a:r>
          </a:p>
          <a:p>
            <a:r>
              <a:rPr lang="ko-KR" altLang="ko-KR" dirty="0"/>
              <a:t>공통 입력 도움, 자재관리, FI 계정관리, 공급업체관리, 계정결정, 구매정보레코드와 </a:t>
            </a:r>
            <a:r>
              <a:rPr lang="ko-KR" altLang="ko-KR" dirty="0" err="1"/>
              <a:t>구매오더가</a:t>
            </a:r>
            <a:r>
              <a:rPr lang="ko-KR" altLang="ko-KR" dirty="0"/>
              <a:t> 구현 범위입니다. FS07 입고와 FS08 회계전표는 </a:t>
            </a:r>
            <a:r>
              <a:rPr lang="ko-KR" altLang="ko-KR" dirty="0" err="1"/>
              <a:t>구매오더</a:t>
            </a:r>
            <a:r>
              <a:rPr lang="ko-KR" altLang="ko-KR" dirty="0"/>
              <a:t> 이후의 후속 연계 구조로 설계했습니다.</a:t>
            </a:r>
          </a:p>
          <a:p>
            <a:r>
              <a:rPr lang="ko-KR" altLang="ko-KR" dirty="0"/>
              <a:t>이번 발표에서는 </a:t>
            </a:r>
            <a:r>
              <a:rPr lang="ko-KR" altLang="ko-KR" dirty="0" err="1"/>
              <a:t>RAP의</a:t>
            </a:r>
            <a:r>
              <a:rPr lang="ko-KR" altLang="ko-KR" dirty="0"/>
              <a:t> 특징이 잘 나타나는 </a:t>
            </a:r>
            <a:r>
              <a:rPr lang="ko-KR" altLang="ko-KR" dirty="0" err="1"/>
              <a:t>Validation</a:t>
            </a:r>
            <a:r>
              <a:rPr lang="ko-KR" altLang="ko-KR" dirty="0"/>
              <a:t>, </a:t>
            </a:r>
            <a:r>
              <a:rPr lang="ko-KR" altLang="ko-KR" dirty="0" err="1"/>
              <a:t>Draft</a:t>
            </a:r>
            <a:r>
              <a:rPr lang="ko-KR" altLang="ko-KR" dirty="0"/>
              <a:t>, </a:t>
            </a:r>
            <a:r>
              <a:rPr lang="ko-KR" altLang="ko-KR" dirty="0" err="1"/>
              <a:t>Determination</a:t>
            </a:r>
            <a:r>
              <a:rPr lang="ko-KR" altLang="ko-KR"/>
              <a:t> 사례를 중심으로 설명하겠습니다.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b="1" dirty="0"/>
              <a:t>슬라이드 4. </a:t>
            </a:r>
            <a:r>
              <a:rPr lang="ko-KR" altLang="ko-KR" b="1" dirty="0" err="1"/>
              <a:t>Classic</a:t>
            </a:r>
            <a:r>
              <a:rPr lang="ko-KR" altLang="ko-KR" b="1" dirty="0"/>
              <a:t> </a:t>
            </a:r>
            <a:r>
              <a:rPr lang="ko-KR" altLang="ko-KR" b="1" dirty="0" err="1"/>
              <a:t>ABAP에서</a:t>
            </a:r>
            <a:r>
              <a:rPr lang="ko-KR" altLang="ko-KR" b="1" dirty="0"/>
              <a:t> </a:t>
            </a:r>
            <a:r>
              <a:rPr lang="ko-KR" altLang="ko-KR" b="1" dirty="0" err="1"/>
              <a:t>RAP로</a:t>
            </a:r>
            <a:r>
              <a:rPr lang="ko-KR" altLang="ko-KR" b="1" dirty="0"/>
              <a:t> 전환</a:t>
            </a:r>
          </a:p>
          <a:p>
            <a:r>
              <a:rPr lang="ko-KR" altLang="ko-KR" b="1" dirty="0"/>
              <a:t>시간: 35초</a:t>
            </a:r>
            <a:br>
              <a:rPr lang="ko-KR" altLang="ko-KR" dirty="0"/>
            </a:br>
            <a:r>
              <a:rPr lang="ko-KR" altLang="ko-KR" b="1" dirty="0"/>
              <a:t>키워드: 화면 중심, 로직 반복, Business </a:t>
            </a:r>
            <a:r>
              <a:rPr lang="ko-KR" altLang="ko-KR" b="1" dirty="0" err="1"/>
              <a:t>Object</a:t>
            </a:r>
            <a:r>
              <a:rPr lang="ko-KR" altLang="ko-KR" b="1" dirty="0"/>
              <a:t> 중심</a:t>
            </a:r>
            <a:br>
              <a:rPr lang="en-US" altLang="ko-KR" b="1" dirty="0"/>
            </a:br>
            <a:endParaRPr lang="ko-KR" altLang="ko-KR" dirty="0"/>
          </a:p>
          <a:p>
            <a:r>
              <a:rPr lang="ko-KR" altLang="ko-KR" dirty="0" err="1"/>
              <a:t>Classic</a:t>
            </a:r>
            <a:r>
              <a:rPr lang="ko-KR" altLang="ko-KR" dirty="0"/>
              <a:t> </a:t>
            </a:r>
            <a:r>
              <a:rPr lang="ko-KR" altLang="ko-KR" dirty="0" err="1"/>
              <a:t>ABAP에서는</a:t>
            </a:r>
            <a:r>
              <a:rPr lang="ko-KR" altLang="ko-KR" dirty="0"/>
              <a:t> 화면 이벤트 안에 조회, 검증, 저장 로직이 함께 들어가는 경우가 많습니다. 같은 검증이 여러 프로그램에 반복되고, 화면이 변경되면 관련 로직도 함께 수정해야 합니다.</a:t>
            </a:r>
          </a:p>
          <a:p>
            <a:r>
              <a:rPr lang="ko-KR" altLang="ko-KR" dirty="0" err="1"/>
              <a:t>RAP에서는</a:t>
            </a:r>
            <a:r>
              <a:rPr lang="ko-KR" altLang="ko-KR" dirty="0"/>
              <a:t> 업무 규칙을 화면이 아니라 Business </a:t>
            </a:r>
            <a:r>
              <a:rPr lang="ko-KR" altLang="ko-KR" dirty="0" err="1"/>
              <a:t>Object에</a:t>
            </a:r>
            <a:r>
              <a:rPr lang="ko-KR" altLang="ko-KR" dirty="0"/>
              <a:t> 정의합니다. 이를 통해 여러 화면과 서비스에서 같은 규칙을 일관되게 적용할 수 있습니다.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b="1" dirty="0"/>
              <a:t>슬라이드 5. RAP 설계 구조</a:t>
            </a:r>
          </a:p>
          <a:p>
            <a:r>
              <a:rPr lang="ko-KR" altLang="ko-KR" b="1" dirty="0"/>
              <a:t>시간: 35초</a:t>
            </a:r>
            <a:br>
              <a:rPr lang="ko-KR" altLang="ko-KR" dirty="0"/>
            </a:br>
            <a:r>
              <a:rPr lang="ko-KR" altLang="ko-KR" b="1" dirty="0"/>
              <a:t>키워드: 계층 분리, CDS, </a:t>
            </a:r>
            <a:r>
              <a:rPr lang="ko-KR" altLang="ko-KR" b="1" dirty="0" err="1"/>
              <a:t>Behavior</a:t>
            </a:r>
            <a:r>
              <a:rPr lang="ko-KR" altLang="ko-KR" b="1" dirty="0"/>
              <a:t>, Service </a:t>
            </a:r>
            <a:r>
              <a:rPr lang="ko-KR" altLang="ko-KR" b="1" dirty="0" err="1"/>
              <a:t>Binding</a:t>
            </a:r>
            <a:endParaRPr lang="ko-KR" altLang="ko-KR" dirty="0"/>
          </a:p>
          <a:p>
            <a:r>
              <a:rPr lang="ko-KR" altLang="ko-KR" dirty="0"/>
              <a:t>구현 구조는 </a:t>
            </a:r>
            <a:r>
              <a:rPr lang="ko-KR" altLang="ko-KR" dirty="0" err="1"/>
              <a:t>Database</a:t>
            </a:r>
            <a:r>
              <a:rPr lang="ko-KR" altLang="ko-KR" dirty="0"/>
              <a:t> </a:t>
            </a:r>
            <a:r>
              <a:rPr lang="ko-KR" altLang="ko-KR" dirty="0" err="1"/>
              <a:t>Table</a:t>
            </a:r>
            <a:r>
              <a:rPr lang="ko-KR" altLang="ko-KR" dirty="0"/>
              <a:t>, </a:t>
            </a:r>
            <a:r>
              <a:rPr lang="ko-KR" altLang="ko-KR" dirty="0" err="1"/>
              <a:t>Root와</a:t>
            </a:r>
            <a:r>
              <a:rPr lang="ko-KR" altLang="ko-KR" dirty="0"/>
              <a:t> </a:t>
            </a:r>
            <a:r>
              <a:rPr lang="ko-KR" altLang="ko-KR" dirty="0" err="1"/>
              <a:t>Interface</a:t>
            </a:r>
            <a:r>
              <a:rPr lang="ko-KR" altLang="ko-KR" dirty="0"/>
              <a:t> CDS, </a:t>
            </a:r>
            <a:r>
              <a:rPr lang="ko-KR" altLang="ko-KR" dirty="0" err="1"/>
              <a:t>Behavior</a:t>
            </a:r>
            <a:r>
              <a:rPr lang="ko-KR" altLang="ko-KR" dirty="0"/>
              <a:t>, </a:t>
            </a:r>
            <a:r>
              <a:rPr lang="ko-KR" altLang="ko-KR" dirty="0" err="1"/>
              <a:t>Projection</a:t>
            </a:r>
            <a:r>
              <a:rPr lang="ko-KR" altLang="ko-KR" dirty="0"/>
              <a:t> CDS, Service </a:t>
            </a:r>
            <a:r>
              <a:rPr lang="ko-KR" altLang="ko-KR" dirty="0" err="1"/>
              <a:t>Binding</a:t>
            </a:r>
            <a:r>
              <a:rPr lang="ko-KR" altLang="ko-KR" dirty="0"/>
              <a:t> 순서로 구성했습니다.</a:t>
            </a:r>
          </a:p>
          <a:p>
            <a:r>
              <a:rPr lang="ko-KR" altLang="ko-KR" dirty="0" err="1"/>
              <a:t>CDS에서는</a:t>
            </a:r>
            <a:r>
              <a:rPr lang="ko-KR" altLang="ko-KR" dirty="0"/>
              <a:t> 데이터와 관계를 모델링하고, </a:t>
            </a:r>
            <a:r>
              <a:rPr lang="ko-KR" altLang="ko-KR" dirty="0" err="1"/>
              <a:t>Behavior에서는</a:t>
            </a:r>
            <a:r>
              <a:rPr lang="ko-KR" altLang="ko-KR" dirty="0"/>
              <a:t> </a:t>
            </a:r>
            <a:r>
              <a:rPr lang="ko-KR" altLang="ko-KR" dirty="0" err="1"/>
              <a:t>Validation과</a:t>
            </a:r>
            <a:r>
              <a:rPr lang="ko-KR" altLang="ko-KR" dirty="0"/>
              <a:t> </a:t>
            </a:r>
            <a:r>
              <a:rPr lang="ko-KR" altLang="ko-KR" dirty="0" err="1"/>
              <a:t>Determination을</a:t>
            </a:r>
            <a:r>
              <a:rPr lang="ko-KR" altLang="ko-KR" dirty="0"/>
              <a:t> 구현했습니다. 이후 </a:t>
            </a:r>
            <a:r>
              <a:rPr lang="ko-KR" altLang="ko-KR" dirty="0" err="1"/>
              <a:t>Projection과</a:t>
            </a:r>
            <a:r>
              <a:rPr lang="ko-KR" altLang="ko-KR" dirty="0"/>
              <a:t> Service </a:t>
            </a:r>
            <a:r>
              <a:rPr lang="ko-KR" altLang="ko-KR" dirty="0" err="1"/>
              <a:t>Binding을</a:t>
            </a:r>
            <a:r>
              <a:rPr lang="ko-KR" altLang="ko-KR" dirty="0"/>
              <a:t> 통해 필요한 기능을 </a:t>
            </a:r>
            <a:r>
              <a:rPr lang="ko-KR" altLang="ko-KR" dirty="0" err="1"/>
              <a:t>OData</a:t>
            </a:r>
            <a:r>
              <a:rPr lang="ko-KR" altLang="ko-KR" dirty="0"/>
              <a:t> V4 서비스로 노출했습니다.</a:t>
            </a:r>
          </a:p>
          <a:p>
            <a:r>
              <a:rPr lang="ko-KR" altLang="ko-KR" dirty="0"/>
              <a:t>각 계층의 역할을 분리해 유지보수와 재사용이 가능하도록 설계했습니다.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b="1" dirty="0"/>
              <a:t>슬라이드 6. </a:t>
            </a:r>
            <a:r>
              <a:rPr lang="ko-KR" altLang="ko-KR" b="1" dirty="0" err="1"/>
              <a:t>Validation</a:t>
            </a:r>
            <a:endParaRPr lang="ko-KR" altLang="ko-KR" b="1" dirty="0"/>
          </a:p>
          <a:p>
            <a:r>
              <a:rPr lang="ko-KR" altLang="ko-KR" b="1" dirty="0"/>
              <a:t>시간: 1분 20초</a:t>
            </a:r>
            <a:br>
              <a:rPr lang="ko-KR" altLang="ko-KR" dirty="0"/>
            </a:br>
            <a:r>
              <a:rPr lang="ko-KR" altLang="ko-KR" b="1" dirty="0"/>
              <a:t>키워드: ALPHA 변환, 중복 검증, 업무 조합, 저장 차단</a:t>
            </a:r>
            <a:endParaRPr lang="ko-KR" altLang="ko-KR" dirty="0"/>
          </a:p>
          <a:p>
            <a:r>
              <a:rPr lang="ko-KR" altLang="ko-KR" dirty="0"/>
              <a:t>첫 번째 핵심 구현 사례는 </a:t>
            </a:r>
            <a:r>
              <a:rPr lang="ko-KR" altLang="ko-KR" dirty="0" err="1"/>
              <a:t>Validation입니다</a:t>
            </a:r>
            <a:r>
              <a:rPr lang="ko-KR" altLang="ko-KR" dirty="0"/>
              <a:t>.</a:t>
            </a:r>
          </a:p>
          <a:p>
            <a:r>
              <a:rPr lang="ko-KR" altLang="ko-KR" dirty="0"/>
              <a:t>FS02 FI 계정관리에서는 앞자리 0이 포함된 계정번호의 외부 입력 형식과 데이터베이스 저장 형식이 다를 수 있었습니다. </a:t>
            </a:r>
            <a:r>
              <a:rPr lang="ko-KR" altLang="ko-KR" dirty="0" err="1"/>
              <a:t>입력값에</a:t>
            </a:r>
            <a:r>
              <a:rPr lang="ko-KR" altLang="ko-KR" dirty="0"/>
              <a:t> ALPHA 변환을 적용한 후 데이터베이스 값과 비교하도록 구현했습니다.</a:t>
            </a:r>
          </a:p>
          <a:p>
            <a:r>
              <a:rPr lang="ko-KR" altLang="ko-KR" dirty="0"/>
              <a:t>이미 존재하는 계정번호가 확인되면 오류 메시지를 표시하고 저장을 차단합니다.</a:t>
            </a:r>
          </a:p>
          <a:p>
            <a:r>
              <a:rPr lang="ko-KR" altLang="ko-KR" dirty="0"/>
              <a:t>FS04 계정결정에서는 단순한 필드 길이가 아니라 실제 업무 조합을 검증했습니다. 이동유형 101, 계정키 WRX, 평가클래스 3000을 입력하면 WRX 계정키에는 평가클래스를 지정할 수 없다는 업무 규칙이 적용됩니다.</a:t>
            </a:r>
          </a:p>
          <a:p>
            <a:r>
              <a:rPr lang="ko-KR" altLang="ko-KR" dirty="0"/>
              <a:t>이처럼 </a:t>
            </a:r>
            <a:r>
              <a:rPr lang="ko-KR" altLang="ko-KR" dirty="0" err="1"/>
              <a:t>Validation을</a:t>
            </a:r>
            <a:r>
              <a:rPr lang="ko-KR" altLang="ko-KR" dirty="0"/>
              <a:t> 통해 잘못된 데이터를 저장 전에 서버에서 차단했습니다.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b="1" dirty="0"/>
              <a:t>슬라이드 7. 공통 입력 도움과 </a:t>
            </a:r>
            <a:r>
              <a:rPr lang="ko-KR" altLang="ko-KR" b="1" dirty="0" err="1"/>
              <a:t>Draft</a:t>
            </a:r>
            <a:endParaRPr lang="ko-KR" altLang="ko-KR" b="1" dirty="0"/>
          </a:p>
          <a:p>
            <a:r>
              <a:rPr lang="ko-KR" altLang="ko-KR" b="1" dirty="0"/>
              <a:t>시간: 50초</a:t>
            </a:r>
            <a:br>
              <a:rPr lang="ko-KR" altLang="ko-KR" dirty="0"/>
            </a:br>
            <a:r>
              <a:rPr lang="ko-KR" altLang="ko-KR" b="1" dirty="0"/>
              <a:t>키워드: 공통 CDS, </a:t>
            </a:r>
            <a:r>
              <a:rPr lang="ko-KR" altLang="ko-KR" b="1" dirty="0" err="1"/>
              <a:t>Value</a:t>
            </a:r>
            <a:r>
              <a:rPr lang="ko-KR" altLang="ko-KR" b="1" dirty="0"/>
              <a:t> </a:t>
            </a:r>
            <a:r>
              <a:rPr lang="ko-KR" altLang="ko-KR" b="1" dirty="0" err="1"/>
              <a:t>Help</a:t>
            </a:r>
            <a:r>
              <a:rPr lang="ko-KR" altLang="ko-KR" b="1" dirty="0"/>
              <a:t>, </a:t>
            </a:r>
            <a:r>
              <a:rPr lang="ko-KR" altLang="ko-KR" b="1" dirty="0" err="1"/>
              <a:t>semanticKey</a:t>
            </a:r>
            <a:r>
              <a:rPr lang="ko-KR" altLang="ko-KR" b="1" dirty="0"/>
              <a:t>, 상태 관리</a:t>
            </a:r>
            <a:endParaRPr lang="ko-KR" altLang="ko-KR" dirty="0"/>
          </a:p>
          <a:p>
            <a:r>
              <a:rPr lang="ko-KR" altLang="ko-KR" dirty="0"/>
              <a:t>자재유형, 플랜트, 평가클래스처럼 여러 프로그램에서 사용하는 값은 공통 CDS </a:t>
            </a:r>
            <a:r>
              <a:rPr lang="ko-KR" altLang="ko-KR" dirty="0" err="1"/>
              <a:t>Value</a:t>
            </a:r>
            <a:r>
              <a:rPr lang="ko-KR" altLang="ko-KR" dirty="0"/>
              <a:t> </a:t>
            </a:r>
            <a:r>
              <a:rPr lang="ko-KR" altLang="ko-KR" dirty="0" err="1"/>
              <a:t>Help로</a:t>
            </a:r>
            <a:r>
              <a:rPr lang="ko-KR" altLang="ko-KR" dirty="0"/>
              <a:t> 구성했습니다.</a:t>
            </a:r>
          </a:p>
          <a:p>
            <a:r>
              <a:rPr lang="ko-KR" altLang="ko-KR" dirty="0"/>
              <a:t>사용자가 코드를 직접 입력하면서 발생할 수 있는 </a:t>
            </a:r>
            <a:r>
              <a:rPr lang="ko-KR" altLang="ko-KR" dirty="0" err="1"/>
              <a:t>오입력을</a:t>
            </a:r>
            <a:r>
              <a:rPr lang="ko-KR" altLang="ko-KR" dirty="0"/>
              <a:t> 줄이고, 여러 Business </a:t>
            </a:r>
            <a:r>
              <a:rPr lang="ko-KR" altLang="ko-KR" dirty="0" err="1"/>
              <a:t>Object에서</a:t>
            </a:r>
            <a:r>
              <a:rPr lang="ko-KR" altLang="ko-KR" dirty="0"/>
              <a:t> 동일한 선택 기준을 재사용할 수 있습니다.</a:t>
            </a:r>
          </a:p>
          <a:p>
            <a:r>
              <a:rPr lang="ko-KR" altLang="ko-KR" dirty="0" err="1"/>
              <a:t>Draft는</a:t>
            </a:r>
            <a:r>
              <a:rPr lang="ko-KR" altLang="ko-KR" dirty="0"/>
              <a:t> 작성 중 데이터와 저장된 데이터를 분리해 관리하는 기능입니다. 초기에는 목록에서 </a:t>
            </a:r>
            <a:r>
              <a:rPr lang="ko-KR" altLang="ko-KR" dirty="0" err="1"/>
              <a:t>Draft</a:t>
            </a:r>
            <a:r>
              <a:rPr lang="ko-KR" altLang="ko-KR" dirty="0"/>
              <a:t> 상태가 명확하게 표시되지 않았지만, </a:t>
            </a:r>
            <a:r>
              <a:rPr lang="ko-KR" altLang="ko-KR" dirty="0" err="1"/>
              <a:t>Projection</a:t>
            </a:r>
            <a:r>
              <a:rPr lang="ko-KR" altLang="ko-KR" dirty="0"/>
              <a:t> </a:t>
            </a:r>
            <a:r>
              <a:rPr lang="ko-KR" altLang="ko-KR" dirty="0" err="1"/>
              <a:t>View에</a:t>
            </a:r>
            <a:r>
              <a:rPr lang="ko-KR" altLang="ko-KR" dirty="0"/>
              <a:t> </a:t>
            </a:r>
            <a:r>
              <a:rPr lang="ko-KR" altLang="ko-KR" dirty="0" err="1"/>
              <a:t>semanticKey를</a:t>
            </a:r>
            <a:r>
              <a:rPr lang="ko-KR" altLang="ko-KR" dirty="0"/>
              <a:t> 보완해 </a:t>
            </a:r>
            <a:r>
              <a:rPr lang="ko-KR" altLang="ko-KR" dirty="0" err="1"/>
              <a:t>Draft</a:t>
            </a:r>
            <a:r>
              <a:rPr lang="ko-KR" altLang="ko-KR" dirty="0"/>
              <a:t> 상태가 목록에 표시되도록 개선했습니다.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b="1" dirty="0"/>
              <a:t>슬라이드 8. </a:t>
            </a:r>
            <a:r>
              <a:rPr lang="ko-KR" altLang="ko-KR" b="1" dirty="0" err="1"/>
              <a:t>Determination</a:t>
            </a:r>
            <a:endParaRPr lang="ko-KR" altLang="ko-KR" b="1" dirty="0"/>
          </a:p>
          <a:p>
            <a:r>
              <a:rPr lang="ko-KR" altLang="ko-KR" b="1" dirty="0"/>
              <a:t>시간: 1분 10초</a:t>
            </a:r>
            <a:br>
              <a:rPr lang="ko-KR" altLang="ko-KR" dirty="0"/>
            </a:br>
            <a:r>
              <a:rPr lang="ko-KR" altLang="ko-KR" b="1" dirty="0"/>
              <a:t>키워드: 기준정보 선택, 자동 반영, 반복 입력 감소</a:t>
            </a:r>
            <a:endParaRPr lang="ko-KR" altLang="ko-KR" dirty="0"/>
          </a:p>
          <a:p>
            <a:r>
              <a:rPr lang="ko-KR" altLang="ko-KR" dirty="0"/>
              <a:t>두 번째 핵심 구현 사례는 FS05 구매정보레코드의 </a:t>
            </a:r>
            <a:r>
              <a:rPr lang="ko-KR" altLang="ko-KR" dirty="0" err="1"/>
              <a:t>Determination입니다</a:t>
            </a:r>
            <a:r>
              <a:rPr lang="ko-KR" altLang="ko-KR" dirty="0"/>
              <a:t>.</a:t>
            </a:r>
          </a:p>
          <a:p>
            <a:r>
              <a:rPr lang="ko-KR" altLang="ko-KR" dirty="0"/>
              <a:t>기존에는 공급업체와 자재, 플랜트 관련 정보를 사용자가 반복해서 입력해야 했습니다.</a:t>
            </a:r>
          </a:p>
          <a:p>
            <a:r>
              <a:rPr lang="ko-KR" altLang="ko-KR" dirty="0"/>
              <a:t>구현 화면에서는 사용자가 공급업체, 자재, 플랜트를 선택하면 </a:t>
            </a:r>
            <a:r>
              <a:rPr lang="ko-KR" altLang="ko-KR" dirty="0" err="1"/>
              <a:t>Determination이</a:t>
            </a:r>
            <a:r>
              <a:rPr lang="ko-KR" altLang="ko-KR" dirty="0"/>
              <a:t> 실행됩니다. 이후 공급업체명, </a:t>
            </a:r>
            <a:r>
              <a:rPr lang="ko-KR" altLang="ko-KR" dirty="0" err="1"/>
              <a:t>자재명</a:t>
            </a:r>
            <a:r>
              <a:rPr lang="ko-KR" altLang="ko-KR" dirty="0"/>
              <a:t>, 플랜트명, 단위와 가격이 자동으로 반영됩니다.</a:t>
            </a:r>
          </a:p>
          <a:p>
            <a:r>
              <a:rPr lang="ko-KR" altLang="ko-KR" dirty="0" err="1"/>
              <a:t>Validation이</a:t>
            </a:r>
            <a:r>
              <a:rPr lang="ko-KR" altLang="ko-KR" dirty="0"/>
              <a:t> 잘못된 데이터의 저장을 차단하는 기능이라면, </a:t>
            </a:r>
            <a:r>
              <a:rPr lang="ko-KR" altLang="ko-KR" dirty="0" err="1"/>
              <a:t>Determination은</a:t>
            </a:r>
            <a:r>
              <a:rPr lang="ko-KR" altLang="ko-KR" dirty="0"/>
              <a:t> </a:t>
            </a:r>
            <a:r>
              <a:rPr lang="ko-KR" altLang="ko-KR" dirty="0" err="1"/>
              <a:t>입력값을</a:t>
            </a:r>
            <a:r>
              <a:rPr lang="ko-KR" altLang="ko-KR" dirty="0"/>
              <a:t> 기준으로 관련 값을 자동 결정하는 기능입니다. 이를 통해 반복 입력과 </a:t>
            </a:r>
            <a:r>
              <a:rPr lang="ko-KR" altLang="ko-KR" dirty="0" err="1"/>
              <a:t>오입력</a:t>
            </a:r>
            <a:r>
              <a:rPr lang="ko-KR" altLang="ko-KR" dirty="0"/>
              <a:t> 가능성을 줄였습니다.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b="1" dirty="0"/>
              <a:t>슬라이드 9. </a:t>
            </a:r>
            <a:r>
              <a:rPr lang="ko-KR" altLang="ko-KR" b="1" dirty="0" err="1"/>
              <a:t>Classic</a:t>
            </a:r>
            <a:r>
              <a:rPr lang="ko-KR" altLang="ko-KR" b="1" dirty="0"/>
              <a:t> </a:t>
            </a:r>
            <a:r>
              <a:rPr lang="ko-KR" altLang="ko-KR" b="1" dirty="0" err="1"/>
              <a:t>ABAP과</a:t>
            </a:r>
            <a:r>
              <a:rPr lang="ko-KR" altLang="ko-KR" b="1" dirty="0"/>
              <a:t> RAP 비교</a:t>
            </a:r>
          </a:p>
          <a:p>
            <a:r>
              <a:rPr lang="ko-KR" altLang="ko-KR" b="1" dirty="0"/>
              <a:t>시간: 30초</a:t>
            </a:r>
            <a:br>
              <a:rPr lang="ko-KR" altLang="ko-KR" dirty="0"/>
            </a:br>
            <a:r>
              <a:rPr lang="ko-KR" altLang="ko-KR" b="1" dirty="0"/>
              <a:t>키워드: 규칙 중앙화, </a:t>
            </a:r>
            <a:r>
              <a:rPr lang="ko-KR" altLang="ko-KR" b="1" dirty="0" err="1"/>
              <a:t>Managed</a:t>
            </a:r>
            <a:r>
              <a:rPr lang="ko-KR" altLang="ko-KR" b="1" dirty="0"/>
              <a:t> RAP, 선언적 관계</a:t>
            </a:r>
            <a:endParaRPr lang="ko-KR" altLang="ko-KR" dirty="0"/>
          </a:p>
          <a:p>
            <a:r>
              <a:rPr lang="ko-KR" altLang="ko-KR" dirty="0" err="1"/>
              <a:t>Classic</a:t>
            </a:r>
            <a:r>
              <a:rPr lang="ko-KR" altLang="ko-KR" dirty="0"/>
              <a:t> </a:t>
            </a:r>
            <a:r>
              <a:rPr lang="ko-KR" altLang="ko-KR" dirty="0" err="1"/>
              <a:t>ABAP에서는</a:t>
            </a:r>
            <a:r>
              <a:rPr lang="ko-KR" altLang="ko-KR" dirty="0"/>
              <a:t> </a:t>
            </a:r>
            <a:r>
              <a:rPr lang="ko-KR" altLang="ko-KR" dirty="0" err="1"/>
              <a:t>CRUD와</a:t>
            </a:r>
            <a:r>
              <a:rPr lang="ko-KR" altLang="ko-KR" dirty="0"/>
              <a:t> 검증, </a:t>
            </a:r>
            <a:r>
              <a:rPr lang="ko-KR" altLang="ko-KR" dirty="0" err="1"/>
              <a:t>자동값</a:t>
            </a:r>
            <a:r>
              <a:rPr lang="ko-KR" altLang="ko-KR" dirty="0"/>
              <a:t> 처리를 화면 로직에서 직접 구현합니다.</a:t>
            </a:r>
          </a:p>
          <a:p>
            <a:r>
              <a:rPr lang="ko-KR" altLang="ko-KR" dirty="0" err="1"/>
              <a:t>RAP에서는</a:t>
            </a:r>
            <a:r>
              <a:rPr lang="ko-KR" altLang="ko-KR" dirty="0"/>
              <a:t> 기본 </a:t>
            </a:r>
            <a:r>
              <a:rPr lang="ko-KR" altLang="ko-KR" dirty="0" err="1"/>
              <a:t>CRUD를</a:t>
            </a:r>
            <a:r>
              <a:rPr lang="ko-KR" altLang="ko-KR" dirty="0"/>
              <a:t> </a:t>
            </a:r>
            <a:r>
              <a:rPr lang="ko-KR" altLang="ko-KR" dirty="0" err="1"/>
              <a:t>Managed</a:t>
            </a:r>
            <a:r>
              <a:rPr lang="ko-KR" altLang="ko-KR" dirty="0"/>
              <a:t> </a:t>
            </a:r>
            <a:r>
              <a:rPr lang="ko-KR" altLang="ko-KR" dirty="0" err="1"/>
              <a:t>Framework가</a:t>
            </a:r>
            <a:r>
              <a:rPr lang="ko-KR" altLang="ko-KR" dirty="0"/>
              <a:t> 처리하고, 검증과 자동화는 </a:t>
            </a:r>
            <a:r>
              <a:rPr lang="ko-KR" altLang="ko-KR" dirty="0" err="1"/>
              <a:t>Validation과</a:t>
            </a:r>
            <a:r>
              <a:rPr lang="ko-KR" altLang="ko-KR" dirty="0"/>
              <a:t> </a:t>
            </a:r>
            <a:r>
              <a:rPr lang="ko-KR" altLang="ko-KR" dirty="0" err="1"/>
              <a:t>Determination으로</a:t>
            </a:r>
            <a:r>
              <a:rPr lang="ko-KR" altLang="ko-KR" dirty="0"/>
              <a:t> 정의합니다. </a:t>
            </a:r>
            <a:r>
              <a:rPr lang="ko-KR" altLang="ko-KR" dirty="0" err="1"/>
              <a:t>Header와</a:t>
            </a:r>
            <a:r>
              <a:rPr lang="ko-KR" altLang="ko-KR" dirty="0"/>
              <a:t> </a:t>
            </a:r>
            <a:r>
              <a:rPr lang="ko-KR" altLang="ko-KR" dirty="0" err="1"/>
              <a:t>Item</a:t>
            </a:r>
            <a:r>
              <a:rPr lang="ko-KR" altLang="ko-KR" dirty="0"/>
              <a:t> 관계도 </a:t>
            </a:r>
            <a:r>
              <a:rPr lang="ko-KR" altLang="ko-KR" dirty="0" err="1"/>
              <a:t>Composition으로</a:t>
            </a:r>
            <a:r>
              <a:rPr lang="ko-KR" altLang="ko-KR" dirty="0"/>
              <a:t> 선언할 수 있습니다.</a:t>
            </a:r>
          </a:p>
          <a:p>
            <a:r>
              <a:rPr lang="ko-KR" altLang="ko-KR" dirty="0"/>
              <a:t>가장 큰 차이는 업무 규칙을 Business </a:t>
            </a:r>
            <a:r>
              <a:rPr lang="ko-KR" altLang="ko-KR" dirty="0" err="1"/>
              <a:t>Object에</a:t>
            </a:r>
            <a:r>
              <a:rPr lang="ko-KR" altLang="ko-KR" dirty="0"/>
              <a:t> 모아 일관되게 관리한다는 점입니다.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b="1" dirty="0"/>
              <a:t>슬라이드 10. 개선 결과와 장점</a:t>
            </a:r>
          </a:p>
          <a:p>
            <a:r>
              <a:rPr lang="ko-KR" altLang="ko-KR" b="1" dirty="0"/>
              <a:t>시간: 35초</a:t>
            </a:r>
            <a:br>
              <a:rPr lang="ko-KR" altLang="ko-KR" dirty="0"/>
            </a:br>
            <a:r>
              <a:rPr lang="ko-KR" altLang="ko-KR" b="1" dirty="0"/>
              <a:t>키워드: 데이터 무결성, 업무 자동화, 재사용, 유지보수</a:t>
            </a:r>
            <a:endParaRPr lang="ko-KR" altLang="ko-KR" dirty="0"/>
          </a:p>
          <a:p>
            <a:r>
              <a:rPr lang="ko-KR" altLang="ko-KR" dirty="0"/>
              <a:t>이번 구현을 통해 잘못된 데이터를 저장 전에 차단해 데이터 무결성을 높였습니다.</a:t>
            </a:r>
          </a:p>
          <a:p>
            <a:r>
              <a:rPr lang="ko-KR" altLang="ko-KR" dirty="0" err="1"/>
              <a:t>Determination으로</a:t>
            </a:r>
            <a:r>
              <a:rPr lang="ko-KR" altLang="ko-KR" dirty="0"/>
              <a:t> 반복 입력을 줄였고, 공통 CDS </a:t>
            </a:r>
            <a:r>
              <a:rPr lang="ko-KR" altLang="ko-KR" dirty="0" err="1"/>
              <a:t>Value</a:t>
            </a:r>
            <a:r>
              <a:rPr lang="ko-KR" altLang="ko-KR" dirty="0"/>
              <a:t> </a:t>
            </a:r>
            <a:r>
              <a:rPr lang="ko-KR" altLang="ko-KR" dirty="0" err="1"/>
              <a:t>Help와</a:t>
            </a:r>
            <a:r>
              <a:rPr lang="ko-KR" altLang="ko-KR" dirty="0"/>
              <a:t> Association을 여러 Business </a:t>
            </a:r>
            <a:r>
              <a:rPr lang="ko-KR" altLang="ko-KR" dirty="0" err="1"/>
              <a:t>Object에서</a:t>
            </a:r>
            <a:r>
              <a:rPr lang="ko-KR" altLang="ko-KR" dirty="0"/>
              <a:t> 재사용했습니다.</a:t>
            </a:r>
          </a:p>
          <a:p>
            <a:r>
              <a:rPr lang="ko-KR" altLang="ko-KR" dirty="0"/>
              <a:t>또한 데이터, </a:t>
            </a:r>
            <a:r>
              <a:rPr lang="ko-KR" altLang="ko-KR" dirty="0" err="1"/>
              <a:t>Behavior</a:t>
            </a:r>
            <a:r>
              <a:rPr lang="ko-KR" altLang="ko-KR" dirty="0"/>
              <a:t>, 서비스, UI 계층을 분리해 기능 변경 시 수정 범위를 명확하게 관리할 수 있도록 했습니다.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b="1" dirty="0"/>
              <a:t>슬라이드 11. 후속 확장 설계</a:t>
            </a:r>
          </a:p>
          <a:p>
            <a:r>
              <a:rPr lang="ko-KR" altLang="ko-KR" b="1" dirty="0"/>
              <a:t>시간: 20초</a:t>
            </a:r>
            <a:br>
              <a:rPr lang="ko-KR" altLang="ko-KR" dirty="0"/>
            </a:br>
            <a:r>
              <a:rPr lang="ko-KR" altLang="ko-KR" b="1" dirty="0"/>
              <a:t>키워드: </a:t>
            </a:r>
            <a:r>
              <a:rPr lang="ko-KR" altLang="ko-KR" b="1" dirty="0" err="1"/>
              <a:t>Header</a:t>
            </a:r>
            <a:r>
              <a:rPr lang="ko-KR" altLang="ko-KR" b="1" dirty="0"/>
              <a:t>–</a:t>
            </a:r>
            <a:r>
              <a:rPr lang="ko-KR" altLang="ko-KR" b="1" dirty="0" err="1"/>
              <a:t>Item</a:t>
            </a:r>
            <a:r>
              <a:rPr lang="ko-KR" altLang="ko-KR" b="1" dirty="0"/>
              <a:t> </a:t>
            </a:r>
            <a:r>
              <a:rPr lang="ko-KR" altLang="ko-KR" b="1" dirty="0" err="1"/>
              <a:t>Composition</a:t>
            </a:r>
            <a:r>
              <a:rPr lang="ko-KR" altLang="ko-KR" b="1" dirty="0"/>
              <a:t>, PO, GR, FI</a:t>
            </a:r>
            <a:br>
              <a:rPr lang="en-US" altLang="ko-KR" b="1" dirty="0"/>
            </a:br>
            <a:endParaRPr lang="ko-KR" altLang="ko-KR" dirty="0"/>
          </a:p>
          <a:p>
            <a:r>
              <a:rPr lang="ko-KR" altLang="ko-KR" dirty="0"/>
              <a:t>FS06 </a:t>
            </a:r>
            <a:r>
              <a:rPr lang="ko-KR" altLang="ko-KR" dirty="0" err="1"/>
              <a:t>구매오더에서는</a:t>
            </a:r>
            <a:r>
              <a:rPr lang="ko-KR" altLang="ko-KR" dirty="0"/>
              <a:t> </a:t>
            </a:r>
            <a:r>
              <a:rPr lang="ko-KR" altLang="ko-KR" dirty="0" err="1"/>
              <a:t>Header와</a:t>
            </a:r>
            <a:r>
              <a:rPr lang="ko-KR" altLang="ko-KR" dirty="0"/>
              <a:t> </a:t>
            </a:r>
            <a:r>
              <a:rPr lang="ko-KR" altLang="ko-KR" dirty="0" err="1"/>
              <a:t>Item을</a:t>
            </a:r>
            <a:r>
              <a:rPr lang="ko-KR" altLang="ko-KR" dirty="0"/>
              <a:t> </a:t>
            </a:r>
            <a:r>
              <a:rPr lang="ko-KR" altLang="ko-KR" dirty="0" err="1"/>
              <a:t>Composition으로</a:t>
            </a:r>
            <a:r>
              <a:rPr lang="ko-KR" altLang="ko-KR" dirty="0"/>
              <a:t> 연결해 하나의 </a:t>
            </a:r>
            <a:r>
              <a:rPr lang="ko-KR" altLang="ko-KR" dirty="0" err="1"/>
              <a:t>구매오더</a:t>
            </a:r>
            <a:r>
              <a:rPr lang="ko-KR" altLang="ko-KR" dirty="0"/>
              <a:t> 구조로 관리했습니다.</a:t>
            </a:r>
            <a:br>
              <a:rPr lang="en-US" altLang="ko-KR" dirty="0"/>
            </a:br>
            <a:endParaRPr lang="ko-KR" altLang="ko-KR" dirty="0"/>
          </a:p>
          <a:p>
            <a:r>
              <a:rPr lang="ko-KR" altLang="ko-KR" dirty="0"/>
              <a:t>이 </a:t>
            </a:r>
            <a:r>
              <a:rPr lang="ko-KR" altLang="ko-KR" dirty="0" err="1"/>
              <a:t>구매오더는</a:t>
            </a:r>
            <a:r>
              <a:rPr lang="ko-KR" altLang="ko-KR" dirty="0"/>
              <a:t> 향후 FS07 입고에서 참조되고, 입고 결과가 FS08 회계전표로 이어지는 MM-FI 프로세스의 기준이 됩니다. 입고와 회계전표는 후속 설계 범위로 구분했습니다.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b="1" dirty="0"/>
              <a:t>슬라이드 12. 핵심 성과 요약</a:t>
            </a:r>
          </a:p>
          <a:p>
            <a:r>
              <a:rPr lang="ko-KR" altLang="ko-KR" b="1" dirty="0"/>
              <a:t>시간: 25초</a:t>
            </a:r>
            <a:br>
              <a:rPr lang="ko-KR" altLang="ko-KR" dirty="0"/>
            </a:br>
            <a:r>
              <a:rPr lang="ko-KR" altLang="ko-KR" b="1" dirty="0"/>
              <a:t>키워드: Business </a:t>
            </a:r>
            <a:r>
              <a:rPr lang="ko-KR" altLang="ko-KR" b="1" dirty="0" err="1"/>
              <a:t>Object</a:t>
            </a:r>
            <a:r>
              <a:rPr lang="ko-KR" altLang="ko-KR" b="1" dirty="0"/>
              <a:t>, 데이터 품질, 입력 효율, 확장성</a:t>
            </a:r>
            <a:br>
              <a:rPr lang="en-US" altLang="ko-KR" b="1" dirty="0"/>
            </a:br>
            <a:endParaRPr lang="ko-KR" altLang="ko-KR" dirty="0"/>
          </a:p>
          <a:p>
            <a:r>
              <a:rPr lang="ko-KR" altLang="ko-KR" dirty="0"/>
              <a:t>정리하면, 저는 업무 요구사항을 RAP Business </a:t>
            </a:r>
            <a:r>
              <a:rPr lang="ko-KR" altLang="ko-KR" dirty="0" err="1"/>
              <a:t>Object로</a:t>
            </a:r>
            <a:r>
              <a:rPr lang="ko-KR" altLang="ko-KR" dirty="0"/>
              <a:t> 구조화하고 </a:t>
            </a:r>
            <a:r>
              <a:rPr lang="ko-KR" altLang="ko-KR" dirty="0" err="1"/>
              <a:t>Validation으로</a:t>
            </a:r>
            <a:r>
              <a:rPr lang="ko-KR" altLang="ko-KR" dirty="0"/>
              <a:t> 데이터 품질을 확보했습니다.</a:t>
            </a:r>
            <a:br>
              <a:rPr lang="en-US" altLang="ko-KR" dirty="0"/>
            </a:br>
            <a:endParaRPr lang="ko-KR" altLang="ko-KR" dirty="0"/>
          </a:p>
          <a:p>
            <a:r>
              <a:rPr lang="ko-KR" altLang="ko-KR" dirty="0" err="1"/>
              <a:t>Determination으로</a:t>
            </a:r>
            <a:r>
              <a:rPr lang="ko-KR" altLang="ko-KR" dirty="0"/>
              <a:t> 입력 효율을 개선했으며, 공통 </a:t>
            </a:r>
            <a:r>
              <a:rPr lang="ko-KR" altLang="ko-KR" dirty="0" err="1"/>
              <a:t>Value</a:t>
            </a:r>
            <a:r>
              <a:rPr lang="ko-KR" altLang="ko-KR" dirty="0"/>
              <a:t> </a:t>
            </a:r>
            <a:r>
              <a:rPr lang="ko-KR" altLang="ko-KR" dirty="0" err="1"/>
              <a:t>Help와</a:t>
            </a:r>
            <a:r>
              <a:rPr lang="ko-KR" altLang="ko-KR" dirty="0"/>
              <a:t> </a:t>
            </a:r>
            <a:r>
              <a:rPr lang="ko-KR" altLang="ko-KR" dirty="0" err="1"/>
              <a:t>Draft</a:t>
            </a:r>
            <a:r>
              <a:rPr lang="ko-KR" altLang="ko-KR" dirty="0"/>
              <a:t>, Association, </a:t>
            </a:r>
            <a:r>
              <a:rPr lang="ko-KR" altLang="ko-KR" dirty="0" err="1"/>
              <a:t>Composition을</a:t>
            </a:r>
            <a:r>
              <a:rPr lang="ko-KR" altLang="ko-KR" dirty="0"/>
              <a:t> 적용해 재사용과 후속 확장이 가능한 구조를 구현했습니다.</a:t>
            </a:r>
            <a:br>
              <a:rPr lang="en-US" altLang="ko-KR" dirty="0"/>
            </a:br>
            <a:endParaRPr lang="ko-KR" altLang="ko-KR" dirty="0"/>
          </a:p>
          <a:p>
            <a:r>
              <a:rPr lang="ko-KR" altLang="ko-KR" dirty="0"/>
              <a:t>이상으로 발표를 마치겠습니다. 감사합니다.</a:t>
            </a:r>
          </a:p>
          <a:p>
            <a:endParaRPr lang="en-US" dirty="0"/>
          </a:p>
          <a:p>
            <a:r>
              <a:rPr lang="en-US" dirty="0"/>
              <a:t>--- </a:t>
            </a:r>
            <a:r>
              <a:rPr lang="ko-KR" altLang="en-US" dirty="0"/>
              <a:t>질문 관련  </a:t>
            </a:r>
            <a:r>
              <a:rPr lang="en-US" altLang="ko-KR" dirty="0"/>
              <a:t>----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ko-KR" altLang="ko-KR" dirty="0" err="1"/>
              <a:t>Validation은</a:t>
            </a:r>
            <a:r>
              <a:rPr lang="ko-KR" altLang="ko-KR" dirty="0"/>
              <a:t> 입력된 값이 업무 규칙에 맞는지 검사하고, 문제가 있으면 저장을 차단하는 기능입니다. </a:t>
            </a:r>
            <a:r>
              <a:rPr lang="ko-KR" altLang="ko-KR" dirty="0" err="1"/>
              <a:t>Determination은</a:t>
            </a:r>
            <a:r>
              <a:rPr lang="ko-KR" altLang="ko-KR" dirty="0"/>
              <a:t> </a:t>
            </a:r>
            <a:r>
              <a:rPr lang="ko-KR" altLang="ko-KR" dirty="0" err="1"/>
              <a:t>입력값을</a:t>
            </a:r>
            <a:r>
              <a:rPr lang="ko-KR" altLang="ko-KR" dirty="0"/>
              <a:t> 기준으로 관련 값이나 기본값을 자동으로 결정하는 기능입니다.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ko-KR" dirty="0"/>
              <a:t>제 프로젝트에서는 FS02와 FS04에 </a:t>
            </a:r>
            <a:r>
              <a:rPr lang="ko-KR" altLang="ko-KR" dirty="0" err="1"/>
              <a:t>Validation을</a:t>
            </a:r>
            <a:r>
              <a:rPr lang="ko-KR" altLang="ko-KR" dirty="0"/>
              <a:t> 적용했고, FS05에는 </a:t>
            </a:r>
            <a:r>
              <a:rPr lang="ko-KR" altLang="ko-KR" dirty="0" err="1"/>
              <a:t>Determination을</a:t>
            </a:r>
            <a:r>
              <a:rPr lang="ko-KR" altLang="ko-KR" dirty="0"/>
              <a:t> 적용했습니다.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Subtitle 2">
            <a:extLst>
              <a:ext uri="{FF2B5EF4-FFF2-40B4-BE49-F238E27FC236}">
                <a16:creationId xmlns:a16="http://schemas.microsoft.com/office/drawing/2014/main" id="{65D8ECFE-1BF2-DCBF-5139-F2F6A77253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7692" y="5188077"/>
            <a:ext cx="9144000" cy="55726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latin typeface="페이퍼로지 4 Regular"/>
                <a:ea typeface="페이퍼로지 4 Regular"/>
                <a:cs typeface="페이퍼로지 4 Regular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00379-58BA-B4C9-15B5-7FD9A17B4E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47FC00-B449-1D8A-4A5A-A3E9B22F03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latin typeface="페이퍼로지 4 Regular"/>
                <a:ea typeface="페이퍼로지 4 Regular"/>
                <a:cs typeface="페이퍼로지 4 Regular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0D5EF1-29FF-8E38-0793-FCE9B5C51B8E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latin typeface="페이퍼로지 4 Regular"/>
                <a:ea typeface="페이퍼로지 4 Regular"/>
                <a:cs typeface="페이퍼로지 4 Regular"/>
              </a:defRPr>
            </a:lvl1pPr>
          </a:lstStyle>
          <a:p>
            <a:fld id="{2E30878B-51F1-416D-9C64-CFA8388A4FD8}" type="datetimeFigureOut">
              <a:t>2026-09-11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309CCF-5AD6-DCC5-9418-3C362CD492B8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latin typeface="페이퍼로지 4 Regular"/>
                <a:ea typeface="페이퍼로지 4 Regular"/>
                <a:cs typeface="페이퍼로지 4 Regular"/>
              </a:defRPr>
            </a:lvl1pPr>
          </a:lstStyle>
          <a:p>
            <a:endParaRPr/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CBA1EE7B-DEF4-4999-971D-EEAF311E73DF}"/>
              </a:ext>
            </a:extLst>
          </p:cNvPr>
          <p:cNvSpPr>
            <a:spLocks noGrp="1"/>
          </p:cNvSpPr>
          <p:nvPr/>
        </p:nvSpPr>
        <p:spPr>
          <a:xfrm>
            <a:off x="4276725" y="825388"/>
            <a:ext cx="6967242" cy="0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A5995A2-A5BB-F03C-F673-8BA0E6353543}"/>
              </a:ext>
            </a:extLst>
          </p:cNvPr>
          <p:cNvSpPr>
            <a:spLocks noGrp="1"/>
          </p:cNvSpPr>
          <p:nvPr/>
        </p:nvSpPr>
        <p:spPr>
          <a:xfrm>
            <a:off x="174654" y="241477"/>
            <a:ext cx="10515600" cy="36512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t>제목 기입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15FC2A5-3394-C020-F4CC-CB48938454D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078421" y="6210012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buNone/>
              <a:defRPr sz="1200">
                <a:latin typeface="페이퍼로지 4 Regular"/>
                <a:ea typeface="페이퍼로지 4 Regular"/>
                <a:cs typeface="페이퍼로지 4 Regular"/>
              </a:defRPr>
            </a:lvl1pPr>
          </a:lstStyle>
          <a:p>
            <a:fld id="{EAD0677B-937F-4286-A44C-DF21B017D36C}" type="slidenum">
              <a:t>‹#›</a:t>
            </a:fld>
            <a:endParaRPr/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C485895E-CC6A-4561-AF06-AB22B8F6C928}"/>
              </a:ext>
            </a:extLst>
          </p:cNvPr>
          <p:cNvSpPr>
            <a:spLocks noGrp="1"/>
          </p:cNvSpPr>
          <p:nvPr/>
        </p:nvSpPr>
        <p:spPr>
          <a:xfrm>
            <a:off x="-8092" y="825388"/>
            <a:ext cx="4284817" cy="0"/>
          </a:xfrm>
          <a:prstGeom prst="line">
            <a:avLst/>
          </a:prstGeom>
          <a:ln w="889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bg>
      <p:bgPr>
        <a:solidFill>
          <a:srgbClr val="E9F2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00379-58BA-B4C9-15B5-7FD9A17B4E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47FC00-B449-1D8A-4A5A-A3E9B22F03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latin typeface="페이퍼로지 4 Regular"/>
                <a:ea typeface="페이퍼로지 4 Regular"/>
                <a:cs typeface="페이퍼로지 4 Regular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0D5EF1-29FF-8E38-0793-FCE9B5C51B8E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latin typeface="페이퍼로지 4 Regular"/>
                <a:ea typeface="페이퍼로지 4 Regular"/>
                <a:cs typeface="페이퍼로지 4 Regular"/>
              </a:defRPr>
            </a:lvl1pPr>
          </a:lstStyle>
          <a:p>
            <a:fld id="{2E30878B-51F1-416D-9C64-CFA8388A4FD8}" type="datetimeFigureOut">
              <a:t>2026-09-11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309CCF-5AD6-DCC5-9418-3C362CD492B8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latin typeface="페이퍼로지 4 Regular"/>
                <a:ea typeface="페이퍼로지 4 Regular"/>
                <a:cs typeface="페이퍼로지 4 Regular"/>
              </a:defRPr>
            </a:lvl1pPr>
          </a:lstStyle>
          <a:p>
            <a:endParaRPr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A5995A2-A5BB-F03C-F673-8BA0E6353543}"/>
              </a:ext>
            </a:extLst>
          </p:cNvPr>
          <p:cNvSpPr>
            <a:spLocks noGrp="1"/>
          </p:cNvSpPr>
          <p:nvPr/>
        </p:nvSpPr>
        <p:spPr>
          <a:xfrm>
            <a:off x="174654" y="241477"/>
            <a:ext cx="10515600" cy="36512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t>제목 기입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C2F776E-9916-05EF-8404-12A4C10D6D47}"/>
              </a:ext>
            </a:extLst>
          </p:cNvPr>
          <p:cNvSpPr>
            <a:spLocks noGrp="1"/>
          </p:cNvSpPr>
          <p:nvPr/>
        </p:nvSpPr>
        <p:spPr>
          <a:xfrm>
            <a:off x="247482" y="979136"/>
            <a:ext cx="11669389" cy="5596001"/>
          </a:xfrm>
          <a:prstGeom prst="roundRect">
            <a:avLst>
              <a:gd name="adj" fmla="val 1448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페이퍼로지 4 Regular"/>
              <a:ea typeface="페이퍼로지 4 Regular"/>
              <a:cs typeface="페이퍼로지 4 Regular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674C0D-D896-E1C3-84BB-CE7C5123FF1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078421" y="6210012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buNone/>
              <a:defRPr sz="1200">
                <a:latin typeface="페이퍼로지 4 Regular"/>
                <a:ea typeface="페이퍼로지 4 Regular"/>
                <a:cs typeface="페이퍼로지 4 Regular"/>
              </a:defRPr>
            </a:lvl1pPr>
          </a:lstStyle>
          <a:p>
            <a:fld id="{EAD0677B-937F-4286-A44C-DF21B017D36C}" type="slidenum">
              <a:t>‹#›</a:t>
            </a:fld>
            <a:endParaRPr/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7B3B0DC3-3F3C-4FAB-BF51-25679B532046}"/>
              </a:ext>
            </a:extLst>
          </p:cNvPr>
          <p:cNvSpPr>
            <a:spLocks noGrp="1"/>
          </p:cNvSpPr>
          <p:nvPr/>
        </p:nvSpPr>
        <p:spPr>
          <a:xfrm>
            <a:off x="4276725" y="825388"/>
            <a:ext cx="6967242" cy="0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82EAEC3C-F613-4480-BA8E-4D45A06D652B}"/>
              </a:ext>
            </a:extLst>
          </p:cNvPr>
          <p:cNvSpPr>
            <a:spLocks noGrp="1"/>
          </p:cNvSpPr>
          <p:nvPr/>
        </p:nvSpPr>
        <p:spPr>
          <a:xfrm>
            <a:off x="-8092" y="825388"/>
            <a:ext cx="4284817" cy="0"/>
          </a:xfrm>
          <a:prstGeom prst="line">
            <a:avLst/>
          </a:prstGeom>
          <a:ln w="889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813CB0-FDAC-2AE7-6C91-83CE33BB11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083" y="1194446"/>
            <a:ext cx="10515600" cy="4351338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latin typeface="페이퍼로지 4 Regular"/>
                <a:ea typeface="페이퍼로지 4 Regular"/>
                <a:cs typeface="페이퍼로지 4 Regular"/>
              </a:defRPr>
            </a:lvl1pPr>
            <a:lvl2pPr>
              <a:buNone/>
              <a:defRPr>
                <a:latin typeface="페이퍼로지 4 Regular"/>
                <a:ea typeface="페이퍼로지 4 Regular"/>
                <a:cs typeface="페이퍼로지 4 Regular"/>
              </a:defRPr>
            </a:lvl2pPr>
            <a:lvl3pPr>
              <a:buNone/>
              <a:defRPr>
                <a:latin typeface="페이퍼로지 4 Regular"/>
                <a:ea typeface="페이퍼로지 4 Regular"/>
                <a:cs typeface="페이퍼로지 4 Regular"/>
              </a:defRPr>
            </a:lvl3pPr>
            <a:lvl4pPr>
              <a:buNone/>
              <a:defRPr>
                <a:latin typeface="페이퍼로지 4 Regular"/>
                <a:ea typeface="페이퍼로지 4 Regular"/>
                <a:cs typeface="페이퍼로지 4 Regular"/>
              </a:defRPr>
            </a:lvl4pPr>
            <a:lvl5pPr>
              <a:buNone/>
              <a:defRPr>
                <a:latin typeface="페이퍼로지 4 Regular"/>
                <a:ea typeface="페이퍼로지 4 Regular"/>
                <a:cs typeface="페이퍼로지 4 Regular"/>
              </a:defRPr>
            </a:lvl5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F479FA-8983-9A08-7EF7-4FE92E704C3B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latin typeface="페이퍼로지 4 Regular"/>
                <a:ea typeface="페이퍼로지 4 Regular"/>
                <a:cs typeface="페이퍼로지 4 Regular"/>
              </a:defRPr>
            </a:lvl1pPr>
          </a:lstStyle>
          <a:p>
            <a:fld id="{2E30878B-51F1-416D-9C64-CFA8388A4FD8}" type="datetimeFigureOut">
              <a:t>2026-09-11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A61006-68A1-5FFB-8188-83BBDD704785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latin typeface="페이퍼로지 4 Regular"/>
                <a:ea typeface="페이퍼로지 4 Regular"/>
                <a:cs typeface="페이퍼로지 4 Regular"/>
              </a:defRPr>
            </a:lvl1pPr>
          </a:lstStyle>
          <a:p>
            <a:endParaRPr/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C2258BAF-27CB-4557-9762-8EDBAB9EB4D8}"/>
              </a:ext>
            </a:extLst>
          </p:cNvPr>
          <p:cNvSpPr>
            <a:spLocks noGrp="1"/>
          </p:cNvSpPr>
          <p:nvPr/>
        </p:nvSpPr>
        <p:spPr>
          <a:xfrm>
            <a:off x="-8092" y="825388"/>
            <a:ext cx="6967242" cy="0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B5FA871-B0F1-8D56-F84C-9199FC9754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4654" y="241477"/>
            <a:ext cx="10515600" cy="365124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 sz="3200" b="1"/>
            </a:lvl1pPr>
          </a:lstStyle>
          <a:p>
            <a:r>
              <a:t>제목 기입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A54B312-E625-FF92-268D-D358DA009B6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201318" y="6356349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buNone/>
              <a:defRPr sz="1200">
                <a:latin typeface="페이퍼로지 4 Regular"/>
                <a:ea typeface="페이퍼로지 4 Regular"/>
                <a:cs typeface="페이퍼로지 4 Regular"/>
              </a:defRPr>
            </a:lvl1pPr>
          </a:lstStyle>
          <a:p>
            <a:fld id="{EAD0677B-937F-4286-A44C-DF21B017D36C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EA10-1926-4126-00F5-C6D9E1B55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733" y="1208229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84A6BC-3FCF-1C38-5D74-6599BEE095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  <a:latin typeface="페이퍼로지 4 Regular"/>
                <a:ea typeface="페이퍼로지 4 Regular"/>
                <a:cs typeface="페이퍼로지 4 Regular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60BA07-9FB1-AA87-8371-AF53745C7B0E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latin typeface="페이퍼로지 4 Regular"/>
                <a:ea typeface="페이퍼로지 4 Regular"/>
                <a:cs typeface="페이퍼로지 4 Regular"/>
              </a:defRPr>
            </a:lvl1pPr>
          </a:lstStyle>
          <a:p>
            <a:fld id="{2E30878B-51F1-416D-9C64-CFA8388A4FD8}" type="datetimeFigureOut">
              <a:t>2026-09-11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8C174F-BF74-BDA4-5A20-A46EEC01DFF8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latin typeface="페이퍼로지 4 Regular"/>
                <a:ea typeface="페이퍼로지 4 Regular"/>
                <a:cs typeface="페이퍼로지 4 Regular"/>
              </a:defRPr>
            </a:lvl1pPr>
          </a:lstStyle>
          <a:p>
            <a:endParaRPr/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9823EFF1-077D-4BF0-829C-D01332BF96BD}"/>
              </a:ext>
            </a:extLst>
          </p:cNvPr>
          <p:cNvSpPr>
            <a:spLocks noGrp="1"/>
          </p:cNvSpPr>
          <p:nvPr/>
        </p:nvSpPr>
        <p:spPr>
          <a:xfrm>
            <a:off x="-8092" y="825388"/>
            <a:ext cx="6967242" cy="0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D990C10-B5EF-55D2-5DC5-2F14023C1512}"/>
              </a:ext>
            </a:extLst>
          </p:cNvPr>
          <p:cNvSpPr>
            <a:spLocks noGrp="1"/>
          </p:cNvSpPr>
          <p:nvPr/>
        </p:nvSpPr>
        <p:spPr>
          <a:xfrm>
            <a:off x="174654" y="241477"/>
            <a:ext cx="10515600" cy="36512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t>제목 기입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C6C2FE2A-C37D-DF4D-B633-A7698D3DF5A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201318" y="6356349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buNone/>
              <a:defRPr sz="1200">
                <a:latin typeface="페이퍼로지 4 Regular"/>
                <a:ea typeface="페이퍼로지 4 Regular"/>
                <a:cs typeface="페이퍼로지 4 Regular"/>
              </a:defRPr>
            </a:lvl1pPr>
          </a:lstStyle>
          <a:p>
            <a:fld id="{EAD0677B-937F-4286-A44C-DF21B017D36C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786064-A4B0-A06B-6688-1EA0DEFE84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latin typeface="페이퍼로지 4 Regular"/>
                <a:ea typeface="페이퍼로지 4 Regular"/>
                <a:cs typeface="페이퍼로지 4 Regular"/>
              </a:defRPr>
            </a:lvl1pPr>
            <a:lvl2pPr>
              <a:buNone/>
              <a:defRPr>
                <a:latin typeface="페이퍼로지 4 Regular"/>
                <a:ea typeface="페이퍼로지 4 Regular"/>
                <a:cs typeface="페이퍼로지 4 Regular"/>
              </a:defRPr>
            </a:lvl2pPr>
            <a:lvl3pPr>
              <a:buNone/>
              <a:defRPr>
                <a:latin typeface="페이퍼로지 4 Regular"/>
                <a:ea typeface="페이퍼로지 4 Regular"/>
                <a:cs typeface="페이퍼로지 4 Regular"/>
              </a:defRPr>
            </a:lvl3pPr>
            <a:lvl4pPr>
              <a:buNone/>
              <a:defRPr>
                <a:latin typeface="페이퍼로지 4 Regular"/>
                <a:ea typeface="페이퍼로지 4 Regular"/>
                <a:cs typeface="페이퍼로지 4 Regular"/>
              </a:defRPr>
            </a:lvl4pPr>
            <a:lvl5pPr>
              <a:buNone/>
              <a:defRPr>
                <a:latin typeface="페이퍼로지 4 Regular"/>
                <a:ea typeface="페이퍼로지 4 Regular"/>
                <a:cs typeface="페이퍼로지 4 Regular"/>
              </a:defRPr>
            </a:lvl5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4345B8-2C23-0410-AE10-D81EAC1D4443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latin typeface="페이퍼로지 4 Regular"/>
                <a:ea typeface="페이퍼로지 4 Regular"/>
                <a:cs typeface="페이퍼로지 4 Regular"/>
              </a:defRPr>
            </a:lvl1pPr>
            <a:lvl2pPr>
              <a:buNone/>
              <a:defRPr>
                <a:latin typeface="페이퍼로지 4 Regular"/>
                <a:ea typeface="페이퍼로지 4 Regular"/>
                <a:cs typeface="페이퍼로지 4 Regular"/>
              </a:defRPr>
            </a:lvl2pPr>
            <a:lvl3pPr>
              <a:buNone/>
              <a:defRPr>
                <a:latin typeface="페이퍼로지 4 Regular"/>
                <a:ea typeface="페이퍼로지 4 Regular"/>
                <a:cs typeface="페이퍼로지 4 Regular"/>
              </a:defRPr>
            </a:lvl3pPr>
            <a:lvl4pPr>
              <a:buNone/>
              <a:defRPr>
                <a:latin typeface="페이퍼로지 4 Regular"/>
                <a:ea typeface="페이퍼로지 4 Regular"/>
                <a:cs typeface="페이퍼로지 4 Regular"/>
              </a:defRPr>
            </a:lvl4pPr>
            <a:lvl5pPr>
              <a:buNone/>
              <a:defRPr>
                <a:latin typeface="페이퍼로지 4 Regular"/>
                <a:ea typeface="페이퍼로지 4 Regular"/>
                <a:cs typeface="페이퍼로지 4 Regular"/>
              </a:defRPr>
            </a:lvl5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53F567-1C86-1F5A-48D2-64101957CD2A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latin typeface="페이퍼로지 4 Regular"/>
                <a:ea typeface="페이퍼로지 4 Regular"/>
                <a:cs typeface="페이퍼로지 4 Regular"/>
              </a:defRPr>
            </a:lvl1pPr>
          </a:lstStyle>
          <a:p>
            <a:fld id="{2E30878B-51F1-416D-9C64-CFA8388A4FD8}" type="datetimeFigureOut">
              <a:t>2026-09-11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E9F3BD-B31B-8BE0-31AA-598676AF6CA6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latin typeface="페이퍼로지 4 Regular"/>
                <a:ea typeface="페이퍼로지 4 Regular"/>
                <a:cs typeface="페이퍼로지 4 Regular"/>
              </a:defRPr>
            </a:lvl1pPr>
          </a:lstStyle>
          <a:p>
            <a:endParaRPr/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B64B42C3-7FF3-4D49-9C50-9851F2900835}"/>
              </a:ext>
            </a:extLst>
          </p:cNvPr>
          <p:cNvSpPr>
            <a:spLocks noGrp="1"/>
          </p:cNvSpPr>
          <p:nvPr/>
        </p:nvSpPr>
        <p:spPr>
          <a:xfrm>
            <a:off x="-8092" y="825388"/>
            <a:ext cx="6967242" cy="0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DBD4530-5043-1F82-DD2D-0FAF0DDCC1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4654" y="241477"/>
            <a:ext cx="10515600" cy="365124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 sz="3200" b="1"/>
            </a:lvl1pPr>
          </a:lstStyle>
          <a:p>
            <a:r>
              <a:t>제목 기입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70EE0AE0-589D-0D9A-4F6A-B59B984CF0B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201318" y="6356349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buNone/>
              <a:defRPr sz="1200">
                <a:latin typeface="페이퍼로지 4 Regular"/>
                <a:ea typeface="페이퍼로지 4 Regular"/>
                <a:cs typeface="페이퍼로지 4 Regular"/>
              </a:defRPr>
            </a:lvl1pPr>
          </a:lstStyle>
          <a:p>
            <a:fld id="{EAD0677B-937F-4286-A44C-DF21B017D36C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B2E52-86D1-9CF0-354A-8D0527E60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24B40-C226-78D6-7DAC-4FA741F6D7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latin typeface="페이퍼로지 4 Regular"/>
                <a:ea typeface="페이퍼로지 4 Regular"/>
                <a:cs typeface="페이퍼로지 4 Regular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F6AE3A-C81D-EB3B-0595-E6EEAE3A0E65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latin typeface="페이퍼로지 4 Regular"/>
                <a:ea typeface="페이퍼로지 4 Regular"/>
                <a:cs typeface="페이퍼로지 4 Regular"/>
              </a:defRPr>
            </a:lvl1pPr>
            <a:lvl2pPr>
              <a:buNone/>
              <a:defRPr>
                <a:latin typeface="페이퍼로지 4 Regular"/>
                <a:ea typeface="페이퍼로지 4 Regular"/>
                <a:cs typeface="페이퍼로지 4 Regular"/>
              </a:defRPr>
            </a:lvl2pPr>
            <a:lvl3pPr>
              <a:buNone/>
              <a:defRPr>
                <a:latin typeface="페이퍼로지 4 Regular"/>
                <a:ea typeface="페이퍼로지 4 Regular"/>
                <a:cs typeface="페이퍼로지 4 Regular"/>
              </a:defRPr>
            </a:lvl3pPr>
            <a:lvl4pPr>
              <a:buNone/>
              <a:defRPr>
                <a:latin typeface="페이퍼로지 4 Regular"/>
                <a:ea typeface="페이퍼로지 4 Regular"/>
                <a:cs typeface="페이퍼로지 4 Regular"/>
              </a:defRPr>
            </a:lvl4pPr>
            <a:lvl5pPr>
              <a:buNone/>
              <a:defRPr>
                <a:latin typeface="페이퍼로지 4 Regular"/>
                <a:ea typeface="페이퍼로지 4 Regular"/>
                <a:cs typeface="페이퍼로지 4 Regular"/>
              </a:defRPr>
            </a:lvl5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FF8289-3EDC-D72E-3AEE-71372B2C4DA6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latin typeface="페이퍼로지 4 Regular"/>
                <a:ea typeface="페이퍼로지 4 Regular"/>
                <a:cs typeface="페이퍼로지 4 Regular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3A0186-B586-5024-D752-44C93BF34271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latin typeface="페이퍼로지 4 Regular"/>
                <a:ea typeface="페이퍼로지 4 Regular"/>
                <a:cs typeface="페이퍼로지 4 Regular"/>
              </a:defRPr>
            </a:lvl1pPr>
            <a:lvl2pPr>
              <a:buNone/>
              <a:defRPr>
                <a:latin typeface="페이퍼로지 4 Regular"/>
                <a:ea typeface="페이퍼로지 4 Regular"/>
                <a:cs typeface="페이퍼로지 4 Regular"/>
              </a:defRPr>
            </a:lvl2pPr>
            <a:lvl3pPr>
              <a:buNone/>
              <a:defRPr>
                <a:latin typeface="페이퍼로지 4 Regular"/>
                <a:ea typeface="페이퍼로지 4 Regular"/>
                <a:cs typeface="페이퍼로지 4 Regular"/>
              </a:defRPr>
            </a:lvl3pPr>
            <a:lvl4pPr>
              <a:buNone/>
              <a:defRPr>
                <a:latin typeface="페이퍼로지 4 Regular"/>
                <a:ea typeface="페이퍼로지 4 Regular"/>
                <a:cs typeface="페이퍼로지 4 Regular"/>
              </a:defRPr>
            </a:lvl4pPr>
            <a:lvl5pPr>
              <a:buNone/>
              <a:defRPr>
                <a:latin typeface="페이퍼로지 4 Regular"/>
                <a:ea typeface="페이퍼로지 4 Regular"/>
                <a:cs typeface="페이퍼로지 4 Regular"/>
              </a:defRPr>
            </a:lvl5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97940F-76AA-50BA-A24A-1619ED500FC0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latin typeface="페이퍼로지 4 Regular"/>
                <a:ea typeface="페이퍼로지 4 Regular"/>
                <a:cs typeface="페이퍼로지 4 Regular"/>
              </a:defRPr>
            </a:lvl1pPr>
          </a:lstStyle>
          <a:p>
            <a:fld id="{2E30878B-51F1-416D-9C64-CFA8388A4FD8}" type="datetimeFigureOut">
              <a:t>2026-09-11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B9BDD5-C1A3-80AD-5DA8-92197587F151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latin typeface="페이퍼로지 4 Regular"/>
                <a:ea typeface="페이퍼로지 4 Regular"/>
                <a:cs typeface="페이퍼로지 4 Regular"/>
              </a:defRPr>
            </a:lvl1pPr>
          </a:lstStyle>
          <a:p>
            <a:endParaRPr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E655C210-8861-5521-A51B-5112D487F02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201318" y="6356349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buNone/>
              <a:defRPr sz="1200">
                <a:latin typeface="페이퍼로지 4 Regular"/>
                <a:ea typeface="페이퍼로지 4 Regular"/>
                <a:cs typeface="페이퍼로지 4 Regular"/>
              </a:defRPr>
            </a:lvl1pPr>
          </a:lstStyle>
          <a:p>
            <a:fld id="{EAD0677B-937F-4286-A44C-DF21B017D36C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E38B59-68AD-50EA-C357-910F49DD684F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latin typeface="페이퍼로지 4 Regular"/>
                <a:ea typeface="페이퍼로지 4 Regular"/>
                <a:cs typeface="페이퍼로지 4 Regular"/>
              </a:defRPr>
            </a:lvl1pPr>
          </a:lstStyle>
          <a:p>
            <a:fld id="{2E30878B-51F1-416D-9C64-CFA8388A4FD8}" type="datetimeFigureOut">
              <a:t>2026-09-11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9E13E2-6733-9F6C-2169-CB4DCB1DD782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latin typeface="페이퍼로지 4 Regular"/>
                <a:ea typeface="페이퍼로지 4 Regular"/>
                <a:cs typeface="페이퍼로지 4 Regular"/>
              </a:defRPr>
            </a:lvl1pPr>
          </a:lstStyle>
          <a:p>
            <a:endParaRPr/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02592E84-2CE3-4098-83CB-C981B58DA6CC}"/>
              </a:ext>
            </a:extLst>
          </p:cNvPr>
          <p:cNvSpPr>
            <a:spLocks noGrp="1"/>
          </p:cNvSpPr>
          <p:nvPr/>
        </p:nvSpPr>
        <p:spPr>
          <a:xfrm>
            <a:off x="-8092" y="825388"/>
            <a:ext cx="6967242" cy="0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A34476F-B4D7-03B4-BF3F-B1609E6DF6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4654" y="241477"/>
            <a:ext cx="10515600" cy="365124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 sz="3200" b="1"/>
            </a:lvl1pPr>
          </a:lstStyle>
          <a:p>
            <a:r>
              <a:t>제목 기입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334C062-69C3-ECD0-C4A2-37C1D1F1571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201318" y="6356349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buNone/>
              <a:defRPr sz="1200">
                <a:latin typeface="페이퍼로지 4 Regular"/>
                <a:ea typeface="페이퍼로지 4 Regular"/>
                <a:cs typeface="페이퍼로지 4 Regular"/>
              </a:defRPr>
            </a:lvl1pPr>
          </a:lstStyle>
          <a:p>
            <a:fld id="{EAD0677B-937F-4286-A44C-DF21B017D36C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2694D9-B8F4-5B32-0B21-975AD75EFD8D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latin typeface="페이퍼로지 4 Regular"/>
                <a:ea typeface="페이퍼로지 4 Regular"/>
                <a:cs typeface="페이퍼로지 4 Regular"/>
              </a:defRPr>
            </a:lvl1pPr>
          </a:lstStyle>
          <a:p>
            <a:fld id="{2E30878B-51F1-416D-9C64-CFA8388A4FD8}" type="datetimeFigureOut">
              <a:t>2026-09-11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61580B-16DA-D21E-6C3B-62E6C9F6761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latin typeface="페이퍼로지 4 Regular"/>
                <a:ea typeface="페이퍼로지 4 Regular"/>
                <a:cs typeface="페이퍼로지 4 Regular"/>
              </a:defRPr>
            </a:lvl1pPr>
          </a:lstStyle>
          <a:p>
            <a:endParaRPr/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AE3863EC-38FE-432E-85A1-3EC576D9C794}"/>
              </a:ext>
            </a:extLst>
          </p:cNvPr>
          <p:cNvSpPr>
            <a:spLocks noGrp="1"/>
          </p:cNvSpPr>
          <p:nvPr/>
        </p:nvSpPr>
        <p:spPr>
          <a:xfrm>
            <a:off x="-8092" y="825388"/>
            <a:ext cx="6967242" cy="0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41E3B9B-00D0-9E37-CE8E-2724777D5F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4654" y="241477"/>
            <a:ext cx="10515600" cy="365124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 sz="3200" b="1"/>
            </a:lvl1pPr>
          </a:lstStyle>
          <a:p>
            <a:r>
              <a:t>제목 기입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51D6F48-8304-04E9-B8F0-DF27C77299D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201318" y="6356349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buNone/>
              <a:defRPr sz="1200">
                <a:latin typeface="페이퍼로지 4 Regular"/>
                <a:ea typeface="페이퍼로지 4 Regular"/>
                <a:cs typeface="페이퍼로지 4 Regular"/>
              </a:defRPr>
            </a:lvl1pPr>
          </a:lstStyle>
          <a:p>
            <a:fld id="{EAD0677B-937F-4286-A44C-DF21B017D36C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F211B-95C0-3401-1500-DDA7ADDAE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29CDC6-DADC-DB4C-D5B0-89C47A1A57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buNone/>
              <a:defRPr sz="3200">
                <a:latin typeface="페이퍼로지 4 Regular"/>
                <a:ea typeface="페이퍼로지 4 Regular"/>
                <a:cs typeface="페이퍼로지 4 Regular"/>
              </a:defRPr>
            </a:lvl1pPr>
            <a:lvl2pPr>
              <a:buNone/>
              <a:defRPr sz="2800">
                <a:latin typeface="페이퍼로지 4 Regular"/>
                <a:ea typeface="페이퍼로지 4 Regular"/>
                <a:cs typeface="페이퍼로지 4 Regular"/>
              </a:defRPr>
            </a:lvl2pPr>
            <a:lvl3pPr>
              <a:buNone/>
              <a:defRPr sz="2400">
                <a:latin typeface="페이퍼로지 4 Regular"/>
                <a:ea typeface="페이퍼로지 4 Regular"/>
                <a:cs typeface="페이퍼로지 4 Regular"/>
              </a:defRPr>
            </a:lvl3pPr>
            <a:lvl4pPr>
              <a:buNone/>
              <a:defRPr sz="2000">
                <a:latin typeface="페이퍼로지 4 Regular"/>
                <a:ea typeface="페이퍼로지 4 Regular"/>
                <a:cs typeface="페이퍼로지 4 Regular"/>
              </a:defRPr>
            </a:lvl4pPr>
            <a:lvl5pPr>
              <a:buNone/>
              <a:defRPr sz="2000">
                <a:latin typeface="페이퍼로지 4 Regular"/>
                <a:ea typeface="페이퍼로지 4 Regular"/>
                <a:cs typeface="페이퍼로지 4 Regular"/>
              </a:defRPr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6CD35F-D847-75D9-48C9-3AA27707695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페이퍼로지 4 Regular"/>
                <a:ea typeface="페이퍼로지 4 Regular"/>
                <a:cs typeface="페이퍼로지 4 Regular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61311E-4678-79FA-4603-D6DEF35CD2C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latin typeface="페이퍼로지 4 Regular"/>
                <a:ea typeface="페이퍼로지 4 Regular"/>
                <a:cs typeface="페이퍼로지 4 Regular"/>
              </a:defRPr>
            </a:lvl1pPr>
          </a:lstStyle>
          <a:p>
            <a:fld id="{2E30878B-51F1-416D-9C64-CFA8388A4FD8}" type="datetimeFigureOut">
              <a:t>2026-09-11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D64B85-91A4-BB10-2180-DEF06A9E8559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latin typeface="페이퍼로지 4 Regular"/>
                <a:ea typeface="페이퍼로지 4 Regular"/>
                <a:cs typeface="페이퍼로지 4 Regular"/>
              </a:defRPr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322125-CF59-7C45-8ABD-637F6E7DC6D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latin typeface="페이퍼로지 4 Regular"/>
                <a:ea typeface="페이퍼로지 4 Regular"/>
                <a:cs typeface="페이퍼로지 4 Regular"/>
              </a:defRPr>
            </a:lvl1pPr>
          </a:lstStyle>
          <a:p>
            <a:fld id="{CDE7C478-4D2B-44D4-A32D-484824358C3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FF507-90B7-BCDA-B9BE-DD45C8848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0F1131-DF4F-D36E-F6CA-7209105B59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latin typeface="페이퍼로지 4 Regular"/>
                <a:ea typeface="페이퍼로지 4 Regular"/>
                <a:cs typeface="페이퍼로지 4 Regular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1BDCEF-49C5-5DA3-71F5-BEE66CB55B4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페이퍼로지 4 Regular"/>
                <a:ea typeface="페이퍼로지 4 Regular"/>
                <a:cs typeface="페이퍼로지 4 Regular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ADBA1B-A877-83BB-6C0B-B43F035F8680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latin typeface="페이퍼로지 4 Regular"/>
                <a:ea typeface="페이퍼로지 4 Regular"/>
                <a:cs typeface="페이퍼로지 4 Regular"/>
              </a:defRPr>
            </a:lvl1pPr>
          </a:lstStyle>
          <a:p>
            <a:fld id="{2E30878B-51F1-416D-9C64-CFA8388A4FD8}" type="datetimeFigureOut">
              <a:t>2026-09-11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FD841E-DC27-E7F4-2D97-8DACC6AEFD8F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latin typeface="페이퍼로지 4 Regular"/>
                <a:ea typeface="페이퍼로지 4 Regular"/>
                <a:cs typeface="페이퍼로지 4 Regular"/>
              </a:defRPr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271A53-D295-7769-0880-8F317028C4E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latin typeface="페이퍼로지 4 Regular"/>
                <a:ea typeface="페이퍼로지 4 Regular"/>
                <a:cs typeface="페이퍼로지 4 Regular"/>
              </a:defRPr>
            </a:lvl1pPr>
          </a:lstStyle>
          <a:p>
            <a:fld id="{CDE7C478-4D2B-44D4-A32D-484824358C3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97F5B-996B-0E47-E125-F16B94ABA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EA580D-05B2-2475-C19A-9AA84F77F7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>
            <a:lvl1pPr>
              <a:buNone/>
              <a:defRPr>
                <a:latin typeface="페이퍼로지 4 Regular"/>
                <a:ea typeface="페이퍼로지 4 Regular"/>
                <a:cs typeface="페이퍼로지 4 Regular"/>
              </a:defRPr>
            </a:lvl1pPr>
            <a:lvl2pPr>
              <a:buNone/>
              <a:defRPr>
                <a:latin typeface="페이퍼로지 4 Regular"/>
                <a:ea typeface="페이퍼로지 4 Regular"/>
                <a:cs typeface="페이퍼로지 4 Regular"/>
              </a:defRPr>
            </a:lvl2pPr>
            <a:lvl3pPr>
              <a:buNone/>
              <a:defRPr>
                <a:latin typeface="페이퍼로지 4 Regular"/>
                <a:ea typeface="페이퍼로지 4 Regular"/>
                <a:cs typeface="페이퍼로지 4 Regular"/>
              </a:defRPr>
            </a:lvl3pPr>
            <a:lvl4pPr>
              <a:buNone/>
              <a:defRPr>
                <a:latin typeface="페이퍼로지 4 Regular"/>
                <a:ea typeface="페이퍼로지 4 Regular"/>
                <a:cs typeface="페이퍼로지 4 Regular"/>
              </a:defRPr>
            </a:lvl4pPr>
            <a:lvl5pPr>
              <a:buNone/>
              <a:defRPr>
                <a:latin typeface="페이퍼로지 4 Regular"/>
                <a:ea typeface="페이퍼로지 4 Regular"/>
                <a:cs typeface="페이퍼로지 4 Regular"/>
              </a:defRPr>
            </a:lvl5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CC5F3E-175C-42CC-3D5E-9DCF47433941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latin typeface="페이퍼로지 4 Regular"/>
                <a:ea typeface="페이퍼로지 4 Regular"/>
                <a:cs typeface="페이퍼로지 4 Regular"/>
              </a:defRPr>
            </a:lvl1pPr>
          </a:lstStyle>
          <a:p>
            <a:fld id="{2E30878B-51F1-416D-9C64-CFA8388A4FD8}" type="datetimeFigureOut">
              <a:t>2026-09-11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7C7314-848C-D820-C2DA-10269F206122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latin typeface="페이퍼로지 4 Regular"/>
                <a:ea typeface="페이퍼로지 4 Regular"/>
                <a:cs typeface="페이퍼로지 4 Regular"/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2840EA-AE91-B198-0975-B8B4D0003AA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latin typeface="페이퍼로지 4 Regular"/>
                <a:ea typeface="페이퍼로지 4 Regular"/>
                <a:cs typeface="페이퍼로지 4 Regular"/>
              </a:defRPr>
            </a:lvl1pPr>
          </a:lstStyle>
          <a:p>
            <a:fld id="{CDE7C478-4D2B-44D4-A32D-484824358C3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6F2684-334F-E288-67CF-7346D0872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9BCEDB-D3CC-7028-F3B9-0F4D2911E3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>
            <a:lvl1pPr>
              <a:buNone/>
              <a:defRPr>
                <a:latin typeface="페이퍼로지 4 Regular"/>
                <a:ea typeface="페이퍼로지 4 Regular"/>
                <a:cs typeface="페이퍼로지 4 Regular"/>
              </a:defRPr>
            </a:lvl1pPr>
            <a:lvl2pPr>
              <a:buNone/>
              <a:defRPr>
                <a:latin typeface="페이퍼로지 4 Regular"/>
                <a:ea typeface="페이퍼로지 4 Regular"/>
                <a:cs typeface="페이퍼로지 4 Regular"/>
              </a:defRPr>
            </a:lvl2pPr>
            <a:lvl3pPr>
              <a:buNone/>
              <a:defRPr>
                <a:latin typeface="페이퍼로지 4 Regular"/>
                <a:ea typeface="페이퍼로지 4 Regular"/>
                <a:cs typeface="페이퍼로지 4 Regular"/>
              </a:defRPr>
            </a:lvl3pPr>
            <a:lvl4pPr>
              <a:buNone/>
              <a:defRPr>
                <a:latin typeface="페이퍼로지 4 Regular"/>
                <a:ea typeface="페이퍼로지 4 Regular"/>
                <a:cs typeface="페이퍼로지 4 Regular"/>
              </a:defRPr>
            </a:lvl4pPr>
            <a:lvl5pPr>
              <a:buNone/>
              <a:defRPr>
                <a:latin typeface="페이퍼로지 4 Regular"/>
                <a:ea typeface="페이퍼로지 4 Regular"/>
                <a:cs typeface="페이퍼로지 4 Regular"/>
              </a:defRPr>
            </a:lvl5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42A380-A667-EBD7-E85E-EB81C66933F2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latin typeface="페이퍼로지 4 Regular"/>
                <a:ea typeface="페이퍼로지 4 Regular"/>
                <a:cs typeface="페이퍼로지 4 Regular"/>
              </a:defRPr>
            </a:lvl1pPr>
          </a:lstStyle>
          <a:p>
            <a:fld id="{2E30878B-51F1-416D-9C64-CFA8388A4FD8}" type="datetimeFigureOut">
              <a:t>2026-09-11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13763C-C36B-01CA-BA16-556BF53F9B7B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latin typeface="페이퍼로지 4 Regular"/>
                <a:ea typeface="페이퍼로지 4 Regular"/>
                <a:cs typeface="페이퍼로지 4 Regular"/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0B006-4702-25EB-5B1B-E2107A84DE4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latin typeface="페이퍼로지 4 Regular"/>
                <a:ea typeface="페이퍼로지 4 Regular"/>
                <a:cs typeface="페이퍼로지 4 Regular"/>
              </a:defRPr>
            </a:lvl1pPr>
          </a:lstStyle>
          <a:p>
            <a:fld id="{CDE7C478-4D2B-44D4-A32D-484824358C3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00379-58BA-B4C9-15B5-7FD9A17B4E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47FC00-B449-1D8A-4A5A-A3E9B22F03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0D5EF1-29FF-8E38-0793-FCE9B5C51B8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E30878B-51F1-416D-9C64-CFA8388A4FD8}" type="datetimeFigureOut">
              <a:t>2026-09-11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309CCF-5AD6-DCC5-9418-3C362CD492B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674C0D-D896-E1C3-84BB-CE7C5123FF1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DE7C478-4D2B-44D4-A32D-484824358C3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813CB0-FDAC-2AE7-6C91-83CE33BB11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083" y="1194446"/>
            <a:ext cx="10515600" cy="4351338"/>
          </a:xfr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F479FA-8983-9A08-7EF7-4FE92E704C3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E30878B-51F1-416D-9C64-CFA8388A4FD8}" type="datetimeFigureOut">
              <a:t>2026-09-11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A61006-68A1-5FFB-8188-83BBDD70478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E5C4BD-417C-91BE-6347-B03F4D76605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DE7C478-4D2B-44D4-A32D-484824358C33}" type="slidenum">
              <a:t>‹#›</a:t>
            </a:fld>
            <a:endParaRPr/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D093EFA7-E559-497E-A3EE-FCC7ED2D1CB3}"/>
              </a:ext>
            </a:extLst>
          </p:cNvPr>
          <p:cNvSpPr>
            <a:spLocks noGrp="1"/>
          </p:cNvSpPr>
          <p:nvPr/>
        </p:nvSpPr>
        <p:spPr>
          <a:xfrm>
            <a:off x="0" y="679731"/>
            <a:ext cx="6967242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B5FA871-B0F1-8D56-F84C-9199FC975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838" y="165017"/>
            <a:ext cx="10515600" cy="365124"/>
          </a:xfrm>
        </p:spPr>
        <p:txBody>
          <a:bodyPr>
            <a:noAutofit/>
          </a:bodyPr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EA10-1926-4126-00F5-C6D9E1B55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733" y="1208229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84A6BC-3FCF-1C38-5D74-6599BEE095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60BA07-9FB1-AA87-8371-AF53745C7B0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E30878B-51F1-416D-9C64-CFA8388A4FD8}" type="datetimeFigureOut">
              <a:t>2026-09-11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8C174F-BF74-BDA4-5A20-A46EEC01DFF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DCDA0C-1BD5-0E3C-DBC4-AAB0B1E183C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DE7C478-4D2B-44D4-A32D-484824358C33}" type="slidenum">
              <a:t>‹#›</a:t>
            </a:fld>
            <a:endParaRPr/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332B08EC-FF76-44F2-9D9E-344491ED0FD7}"/>
              </a:ext>
            </a:extLst>
          </p:cNvPr>
          <p:cNvSpPr>
            <a:spLocks noGrp="1"/>
          </p:cNvSpPr>
          <p:nvPr/>
        </p:nvSpPr>
        <p:spPr>
          <a:xfrm>
            <a:off x="0" y="679731"/>
            <a:ext cx="6967242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B26BF67-7AC0-E571-7ECF-993887CED33A}"/>
              </a:ext>
            </a:extLst>
          </p:cNvPr>
          <p:cNvSpPr>
            <a:spLocks noGrp="1"/>
          </p:cNvSpPr>
          <p:nvPr/>
        </p:nvSpPr>
        <p:spPr>
          <a:xfrm>
            <a:off x="190838" y="165017"/>
            <a:ext cx="10515600" cy="365124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AC2EA-A128-4D04-E2A8-92678B3A4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561" y="135220"/>
            <a:ext cx="10515600" cy="365124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786064-A4B0-A06B-6688-1EA0DEFE84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4345B8-2C23-0410-AE10-D81EAC1D4443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53F567-1C86-1F5A-48D2-64101957CD2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E30878B-51F1-416D-9C64-CFA8388A4FD8}" type="datetimeFigureOut">
              <a:t>2026-09-11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E9F3BD-B31B-8BE0-31AA-598676AF6CA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1A1F9F-DA84-4112-B166-B42B74A49E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DE7C478-4D2B-44D4-A32D-484824358C33}" type="slidenum">
              <a:t>‹#›</a:t>
            </a:fld>
            <a:endParaRPr/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CC522FA9-A0C8-4EF7-91C2-CE53BD45F47D}"/>
              </a:ext>
            </a:extLst>
          </p:cNvPr>
          <p:cNvSpPr>
            <a:spLocks noGrp="1"/>
          </p:cNvSpPr>
          <p:nvPr/>
        </p:nvSpPr>
        <p:spPr>
          <a:xfrm>
            <a:off x="0" y="679731"/>
            <a:ext cx="6967242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B2E52-86D1-9CF0-354A-8D0527E60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24B40-C226-78D6-7DAC-4FA741F6D7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F6AE3A-C81D-EB3B-0595-E6EEAE3A0E65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FF8289-3EDC-D72E-3AEE-71372B2C4DA6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3A0186-B586-5024-D752-44C93BF34271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97940F-76AA-50BA-A24A-1619ED500FC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E30878B-51F1-416D-9C64-CFA8388A4FD8}" type="datetimeFigureOut">
              <a:t>2026-09-11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B9BDD5-C1A3-80AD-5DA8-92197587F15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1B0244-3E94-9B58-96D8-B24464B4520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DE7C478-4D2B-44D4-A32D-484824358C3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E38B59-68AD-50EA-C357-910F49DD684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E30878B-51F1-416D-9C64-CFA8388A4FD8}" type="datetimeFigureOut">
              <a:t>2026-09-11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9E13E2-6733-9F6C-2169-CB4DCB1DD78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5D0566-72D9-C3F5-F44F-FFE1DD45164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DE7C478-4D2B-44D4-A32D-484824358C33}" type="slidenum">
              <a:t>‹#›</a:t>
            </a:fld>
            <a:endParaRPr/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B0E5D96C-3359-4A26-87A0-CC78FF8C6652}"/>
              </a:ext>
            </a:extLst>
          </p:cNvPr>
          <p:cNvSpPr>
            <a:spLocks noGrp="1"/>
          </p:cNvSpPr>
          <p:nvPr/>
        </p:nvSpPr>
        <p:spPr>
          <a:xfrm>
            <a:off x="0" y="679731"/>
            <a:ext cx="6967242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7CB76A0-7A69-C8FB-A046-096429A18CDC}"/>
              </a:ext>
            </a:extLst>
          </p:cNvPr>
          <p:cNvSpPr>
            <a:spLocks noGrp="1"/>
          </p:cNvSpPr>
          <p:nvPr/>
        </p:nvSpPr>
        <p:spPr>
          <a:xfrm>
            <a:off x="190838" y="165017"/>
            <a:ext cx="10515600" cy="365124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2694D9-B8F4-5B32-0B21-975AD75EFD8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E30878B-51F1-416D-9C64-CFA8388A4FD8}" type="datetimeFigureOut">
              <a:t>2026-09-11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61580B-16DA-D21E-6C3B-62E6C9F6761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26FDA3-C86C-1D42-2FA1-33A5AA78E7F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DE7C478-4D2B-44D4-A32D-484824358C33}" type="slidenum">
              <a:t>‹#›</a:t>
            </a:fld>
            <a:endParaRPr/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F40A5A99-73A9-428B-AA23-DB600AC5F122}"/>
              </a:ext>
            </a:extLst>
          </p:cNvPr>
          <p:cNvSpPr>
            <a:spLocks noGrp="1"/>
          </p:cNvSpPr>
          <p:nvPr/>
        </p:nvSpPr>
        <p:spPr>
          <a:xfrm>
            <a:off x="0" y="679731"/>
            <a:ext cx="6967242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BFC44F-E2C6-205A-06DC-6874E61796F3}"/>
              </a:ext>
            </a:extLst>
          </p:cNvPr>
          <p:cNvSpPr>
            <a:spLocks noGrp="1"/>
          </p:cNvSpPr>
          <p:nvPr/>
        </p:nvSpPr>
        <p:spPr>
          <a:xfrm>
            <a:off x="190838" y="165017"/>
            <a:ext cx="10515600" cy="365124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F211B-95C0-3401-1500-DDA7ADDAE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29CDC6-DADC-DB4C-D5B0-89C47A1A57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6CD35F-D847-75D9-48C9-3AA27707695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61311E-4678-79FA-4603-D6DEF35CD2C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E30878B-51F1-416D-9C64-CFA8388A4FD8}" type="datetimeFigureOut">
              <a:t>2026-09-11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D64B85-91A4-BB10-2180-DEF06A9E855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322125-CF59-7C45-8ABD-637F6E7DC6D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DE7C478-4D2B-44D4-A32D-484824358C3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FF507-90B7-BCDA-B9BE-DD45C8848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0F1131-DF4F-D36E-F6CA-7209105B59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1BDCEF-49C5-5DA3-71F5-BEE66CB55B4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ADBA1B-A877-83BB-6C0B-B43F035F868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E30878B-51F1-416D-9C64-CFA8388A4FD8}" type="datetimeFigureOut">
              <a:t>2026-09-11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FD841E-DC27-E7F4-2D97-8DACC6AEFD8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271A53-D295-7769-0880-8F317028C4E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DE7C478-4D2B-44D4-A32D-484824358C3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97F5B-996B-0E47-E125-F16B94ABA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EA580D-05B2-2475-C19A-9AA84F77F7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CC5F3E-175C-42CC-3D5E-9DCF4743394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E30878B-51F1-416D-9C64-CFA8388A4FD8}" type="datetimeFigureOut">
              <a:t>2026-09-11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7C7314-848C-D820-C2DA-10269F20612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2840EA-AE91-B198-0975-B8B4D0003AA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DE7C478-4D2B-44D4-A32D-484824358C3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6F2684-334F-E288-67CF-7346D0872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9BCEDB-D3CC-7028-F3B9-0F4D2911E3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42A380-A667-EBD7-E85E-EB81C66933F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E30878B-51F1-416D-9C64-CFA8388A4FD8}" type="datetimeFigureOut">
              <a:t>2026-09-11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13763C-C36B-01CA-BA16-556BF53F9B7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0B006-4702-25EB-5B1B-E2107A84DE4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DE7C478-4D2B-44D4-A32D-484824358C3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FC2E6F-1489-A8FC-A499-877DCDCC5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3864DB-58BC-ECF0-39AD-C1BC29969D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240454-8810-D087-8CE8-70B805335C11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  <a:latin typeface="페이퍼로지 4 Regular"/>
                <a:ea typeface="페이퍼로지 4 Regular"/>
                <a:cs typeface="페이퍼로지 4 Regular"/>
              </a:defRPr>
            </a:lvl1pPr>
          </a:lstStyle>
          <a:p>
            <a:fld id="{2E30878B-51F1-416D-9C64-CFA8388A4FD8}" type="datetimeFigureOut">
              <a:t>2026-09-11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121F8-6849-9FD6-B256-5FC31A81BFA2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  <a:latin typeface="페이퍼로지 4 Regular"/>
                <a:ea typeface="페이퍼로지 4 Regular"/>
                <a:cs typeface="페이퍼로지 4 Regular"/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4EE580-4020-2245-D644-86D75331EF8F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  <a:latin typeface="페이퍼로지 4 Regular"/>
                <a:ea typeface="페이퍼로지 4 Regular"/>
                <a:cs typeface="페이퍼로지 4 Regular"/>
              </a:defRPr>
            </a:lvl1pPr>
          </a:lstStyle>
          <a:p>
            <a:fld id="{CDE7C478-4D2B-44D4-A32D-484824358C33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페이퍼로지 4 Regular"/>
          <a:ea typeface="페이퍼로지 4 Regular"/>
          <a:cs typeface="페이퍼로지 4 Regular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페이퍼로지 4 Regular"/>
          <a:ea typeface="페이퍼로지 4 Regular"/>
          <a:cs typeface="페이퍼로지 4 Regular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페이퍼로지 4 Regular"/>
          <a:ea typeface="페이퍼로지 4 Regular"/>
          <a:cs typeface="페이퍼로지 4 Regular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페이퍼로지 4 Regular"/>
          <a:ea typeface="페이퍼로지 4 Regular"/>
          <a:cs typeface="페이퍼로지 4 Regular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페이퍼로지 4 Regular"/>
          <a:ea typeface="페이퍼로지 4 Regular"/>
          <a:cs typeface="페이퍼로지 4 Regular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1F5C7D9-479F-4704-98A5-17709517001D}"/>
              </a:ext>
            </a:extLst>
          </p:cNvPr>
          <p:cNvSpPr>
            <a:spLocks noGrp="1"/>
          </p:cNvSpPr>
          <p:nvPr/>
        </p:nvSpPr>
        <p:spPr>
          <a:xfrm>
            <a:off x="666750" y="4619625"/>
            <a:ext cx="7429035" cy="530352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2850" b="1">
                <a:solidFill>
                  <a:srgbClr val="132A47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 dirty="0">
                <a:solidFill>
                  <a:srgbClr val="132A47"/>
                </a:solidFill>
                <a:latin typeface="페이퍼로지 5 Medium"/>
                <a:ea typeface="페이퍼로지 5 Medium"/>
                <a:cs typeface="페이퍼로지 5 Medium"/>
              </a:rPr>
              <a:t>RAP </a:t>
            </a:r>
            <a:r>
              <a:rPr sz="2850" b="1" dirty="0" err="1">
                <a:solidFill>
                  <a:srgbClr val="132A47"/>
                </a:solidFill>
                <a:latin typeface="페이퍼로지 5 Medium"/>
                <a:ea typeface="페이퍼로지 5 Medium"/>
                <a:cs typeface="페이퍼로지 5 Medium"/>
              </a:rPr>
              <a:t>개인</a:t>
            </a:r>
            <a:r>
              <a:rPr sz="2850" b="1" dirty="0">
                <a:solidFill>
                  <a:srgbClr val="132A47"/>
                </a:solidFill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lang="ko-KR" altLang="en-US" sz="2850" b="1" dirty="0">
                <a:solidFill>
                  <a:srgbClr val="132A47"/>
                </a:solidFill>
                <a:latin typeface="페이퍼로지 5 Medium"/>
                <a:ea typeface="페이퍼로지 5 Medium"/>
                <a:cs typeface="페이퍼로지 5 Medium"/>
              </a:rPr>
              <a:t>최종 </a:t>
            </a:r>
            <a:r>
              <a:rPr sz="2850" b="1" dirty="0" err="1">
                <a:solidFill>
                  <a:srgbClr val="132A47"/>
                </a:solidFill>
                <a:latin typeface="페이퍼로지 5 Medium"/>
                <a:ea typeface="페이퍼로지 5 Medium"/>
                <a:cs typeface="페이퍼로지 5 Medium"/>
              </a:rPr>
              <a:t>포트폴리오</a:t>
            </a:r>
            <a:endParaRPr sz="2850" b="1" dirty="0">
              <a:solidFill>
                <a:srgbClr val="132A47"/>
              </a:solidFill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0D915C-1BA0-4599-8E16-D4ED77255BEA}"/>
              </a:ext>
            </a:extLst>
          </p:cNvPr>
          <p:cNvSpPr>
            <a:spLocks noGrp="1"/>
          </p:cNvSpPr>
          <p:nvPr/>
        </p:nvSpPr>
        <p:spPr>
          <a:xfrm>
            <a:off x="666750" y="5210175"/>
            <a:ext cx="6202401" cy="381000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875" b="0">
                <a:solidFill>
                  <a:srgbClr val="2768D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dirty="0">
                <a:solidFill>
                  <a:srgbClr val="2768D5"/>
                </a:solidFill>
                <a:latin typeface="페이퍼로지 5 Medium"/>
                <a:ea typeface="페이퍼로지 5 Medium"/>
                <a:cs typeface="페이퍼로지 5 Medium"/>
              </a:rPr>
              <a:t>FS00~FS06 </a:t>
            </a:r>
            <a:r>
              <a:rPr sz="1875" b="0" dirty="0" err="1">
                <a:solidFill>
                  <a:srgbClr val="2768D5"/>
                </a:solidFill>
                <a:latin typeface="페이퍼로지 5 Medium"/>
                <a:ea typeface="페이퍼로지 5 Medium"/>
                <a:cs typeface="페이퍼로지 5 Medium"/>
              </a:rPr>
              <a:t>구현</a:t>
            </a:r>
            <a:r>
              <a:rPr sz="1875" b="0" dirty="0">
                <a:solidFill>
                  <a:srgbClr val="2768D5"/>
                </a:solidFill>
                <a:latin typeface="페이퍼로지 5 Medium"/>
                <a:ea typeface="페이퍼로지 5 Medium"/>
                <a:cs typeface="페이퍼로지 5 Medium"/>
              </a:rPr>
              <a:t> · Validation · Determination · Draft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19293B-74FE-43DD-B058-E6FF81B0AA88}"/>
              </a:ext>
            </a:extLst>
          </p:cNvPr>
          <p:cNvSpPr>
            <a:spLocks noGrp="1"/>
          </p:cNvSpPr>
          <p:nvPr/>
        </p:nvSpPr>
        <p:spPr>
          <a:xfrm>
            <a:off x="666750" y="6267450"/>
            <a:ext cx="4095750" cy="285750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66717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 dirty="0">
                <a:solidFill>
                  <a:srgbClr val="66717E"/>
                </a:solidFill>
                <a:latin typeface="페이퍼로지 5 Medium"/>
                <a:ea typeface="페이퍼로지 5 Medium"/>
                <a:cs typeface="페이퍼로지 5 Medium"/>
              </a:rPr>
              <a:t>28번 최민준 · SAP KDT </a:t>
            </a:r>
            <a:r>
              <a:rPr sz="1350" b="0" dirty="0" err="1">
                <a:solidFill>
                  <a:srgbClr val="66717E"/>
                </a:solidFill>
                <a:latin typeface="페이퍼로지 5 Medium"/>
                <a:ea typeface="페이퍼로지 5 Medium"/>
                <a:cs typeface="페이퍼로지 5 Medium"/>
              </a:rPr>
              <a:t>심화과정</a:t>
            </a:r>
            <a:r>
              <a:rPr sz="1350" b="0" dirty="0">
                <a:solidFill>
                  <a:srgbClr val="66717E"/>
                </a:solidFill>
                <a:latin typeface="페이퍼로지 5 Medium"/>
                <a:ea typeface="페이퍼로지 5 Medium"/>
                <a:cs typeface="페이퍼로지 5 Medium"/>
              </a:rPr>
              <a:t> 2기</a:t>
            </a:r>
          </a:p>
        </p:txBody>
      </p:sp>
    </p:spTree>
    <p:extLst>
      <p:ext uri="{BB962C8B-B14F-4D97-AF65-F5344CB8AC3E}">
        <p14:creationId xmlns:p14="http://schemas.microsoft.com/office/powerpoint/2010/main" val="1454514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EB4DC6F-3FB7-4852-B964-22AF265289E8}"/>
              </a:ext>
            </a:extLst>
          </p:cNvPr>
          <p:cNvSpPr>
            <a:spLocks noGrp="1"/>
          </p:cNvSpPr>
          <p:nvPr/>
        </p:nvSpPr>
        <p:spPr>
          <a:xfrm>
            <a:off x="502920" y="1591056"/>
            <a:ext cx="5394960" cy="4480560"/>
          </a:xfrm>
          <a:prstGeom prst="roundRect">
            <a:avLst/>
          </a:prstGeom>
          <a:solidFill>
            <a:srgbClr val="F3F8FC"/>
          </a:solidFill>
          <a:ln w="12700"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0A8B271-70C4-4CAD-8309-1DC1D2F0BD50}"/>
              </a:ext>
            </a:extLst>
          </p:cNvPr>
          <p:cNvSpPr>
            <a:spLocks noGrp="1"/>
          </p:cNvSpPr>
          <p:nvPr/>
        </p:nvSpPr>
        <p:spPr>
          <a:xfrm>
            <a:off x="713232" y="1837944"/>
            <a:ext cx="1325880" cy="292608"/>
          </a:xfrm>
          <a:prstGeom prst="roundRect">
            <a:avLst/>
          </a:prstGeom>
          <a:solidFill>
            <a:srgbClr val="15A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100" b="1">
                <a:solidFill>
                  <a:srgbClr val="FFFFFF"/>
                </a:solidFill>
                <a:latin typeface="페이퍼로지 5 Medium"/>
                <a:ea typeface="페이퍼로지 5 Medium"/>
                <a:cs typeface="페이퍼로지 5 Medium"/>
              </a:rPr>
              <a:t>S-Mobile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0938CC-692F-487A-9BE2-C490A89DF640}"/>
              </a:ext>
            </a:extLst>
          </p:cNvPr>
          <p:cNvSpPr>
            <a:spLocks noGrp="1"/>
          </p:cNvSpPr>
          <p:nvPr/>
        </p:nvSpPr>
        <p:spPr>
          <a:xfrm>
            <a:off x="749808" y="2258568"/>
            <a:ext cx="4800600" cy="3816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buNone/>
            </a:pPr>
            <a:r>
              <a:rPr sz="2000" b="1">
                <a:solidFill>
                  <a:srgbClr val="192D46"/>
                </a:solidFill>
                <a:latin typeface="페이퍼로지 5 Medium"/>
                <a:ea typeface="페이퍼로지 5 Medium"/>
                <a:cs typeface="페이퍼로지 5 Medium"/>
              </a:rPr>
              <a:t>스마트폰 Set 상품을 판매하는 가상 유통기업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BDAF4C-754F-4137-86B9-5CC6DF98F4B0}"/>
              </a:ext>
            </a:extLst>
          </p:cNvPr>
          <p:cNvSpPr>
            <a:spLocks noGrp="1"/>
          </p:cNvSpPr>
          <p:nvPr/>
        </p:nvSpPr>
        <p:spPr>
          <a:xfrm>
            <a:off x="626364" y="3433128"/>
            <a:ext cx="5148072" cy="184557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  <a:buNone/>
              <a:defRPr sz="1400">
                <a:solidFill>
                  <a:srgbClr val="343A40"/>
                </a:solidFill>
                <a:latin typeface="Malgun Gothic"/>
                <a:ea typeface="Malgun Gothic"/>
                <a:cs typeface="Malgun Gothic"/>
              </a:defRPr>
            </a:pPr>
            <a:r>
              <a:rPr>
                <a:latin typeface="페이퍼로지 5 Medium"/>
                <a:ea typeface="페이퍼로지 5 Medium"/>
                <a:cs typeface="페이퍼로지 5 Medium"/>
              </a:rPr>
              <a:t>신제품 출시를 앞두고 자재·구매·입고·판매·출고·회계를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  <a:buNone/>
              <a:defRPr sz="1400">
                <a:solidFill>
                  <a:srgbClr val="343A40"/>
                </a:solidFill>
                <a:latin typeface="Malgun Gothic"/>
                <a:ea typeface="Malgun Gothic"/>
                <a:cs typeface="Malgun Gothic"/>
              </a:defRPr>
            </a:pPr>
            <a:r>
              <a:rPr>
                <a:latin typeface="페이퍼로지 5 Medium"/>
                <a:ea typeface="페이퍼로지 5 Medium"/>
                <a:cs typeface="페이퍼로지 5 Medium"/>
              </a:rPr>
              <a:t>하나의 프로세스로 연결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  <a:buNone/>
              <a:defRPr sz="1400">
                <a:solidFill>
                  <a:srgbClr val="343A40"/>
                </a:solidFill>
                <a:latin typeface="Malgun Gothic"/>
                <a:ea typeface="Malgun Gothic"/>
                <a:cs typeface="Malgun Gothic"/>
              </a:defRPr>
            </a:pPr>
            <a:endParaRPr>
              <a:latin typeface="페이퍼로지 5 Medium"/>
              <a:ea typeface="페이퍼로지 5 Medium"/>
              <a:cs typeface="페이퍼로지 5 Medium"/>
            </a:endParaRPr>
          </a:p>
          <a:p>
            <a:pPr algn="ctr">
              <a:lnSpc>
                <a:spcPct val="110000"/>
              </a:lnSpc>
              <a:spcAft>
                <a:spcPts val="200"/>
              </a:spcAft>
              <a:buNone/>
              <a:defRPr sz="1400">
                <a:solidFill>
                  <a:srgbClr val="343A40"/>
                </a:solidFill>
                <a:latin typeface="Malgun Gothic"/>
                <a:ea typeface="Malgun Gothic"/>
                <a:cs typeface="Malgun Gothic"/>
              </a:defRPr>
            </a:pPr>
            <a:r>
              <a:rPr>
                <a:latin typeface="페이퍼로지 5 Medium"/>
                <a:ea typeface="페이퍼로지 5 Medium"/>
                <a:cs typeface="페이퍼로지 5 Medium"/>
              </a:rPr>
              <a:t>구매팀(MM)과 판매팀(SD)이 Business Object를 분담하여 개발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  <a:buNone/>
              <a:defRPr sz="1400">
                <a:solidFill>
                  <a:srgbClr val="343A40"/>
                </a:solidFill>
                <a:latin typeface="Malgun Gothic"/>
                <a:ea typeface="Malgun Gothic"/>
                <a:cs typeface="Malgun Gothic"/>
              </a:defRPr>
            </a:pPr>
            <a:endParaRPr>
              <a:latin typeface="페이퍼로지 5 Medium"/>
              <a:ea typeface="페이퍼로지 5 Medium"/>
              <a:cs typeface="페이퍼로지 5 Medium"/>
            </a:endParaRPr>
          </a:p>
          <a:p>
            <a:pPr algn="ctr">
              <a:lnSpc>
                <a:spcPct val="110000"/>
              </a:lnSpc>
              <a:spcAft>
                <a:spcPts val="200"/>
              </a:spcAft>
              <a:buNone/>
              <a:defRPr sz="1400">
                <a:solidFill>
                  <a:srgbClr val="343A40"/>
                </a:solidFill>
                <a:latin typeface="Malgun Gothic"/>
                <a:ea typeface="Malgun Gothic"/>
                <a:cs typeface="Malgun Gothic"/>
              </a:defRPr>
            </a:pPr>
            <a:r>
              <a:rPr>
                <a:latin typeface="페이퍼로지 5 Medium"/>
                <a:ea typeface="페이퍼로지 5 Medium"/>
                <a:cs typeface="페이퍼로지 5 Medium"/>
              </a:rPr>
              <a:t>물류 흐름과 회계 흐름을 일치시키는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  <a:buNone/>
              <a:defRPr sz="1400">
                <a:solidFill>
                  <a:srgbClr val="343A40"/>
                </a:solidFill>
                <a:latin typeface="Malgun Gothic"/>
                <a:ea typeface="Malgun Gothic"/>
                <a:cs typeface="Malgun Gothic"/>
              </a:defRPr>
            </a:pPr>
            <a:r>
              <a:rPr>
                <a:latin typeface="페이퍼로지 5 Medium"/>
                <a:ea typeface="페이퍼로지 5 Medium"/>
                <a:cs typeface="페이퍼로지 5 Medium"/>
              </a:rPr>
              <a:t>End-to-End 시스템을 목표로 설계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E8E12EB-717F-4590-82F4-3450069B4CF3}"/>
              </a:ext>
            </a:extLst>
          </p:cNvPr>
          <p:cNvSpPr>
            <a:spLocks noGrp="1"/>
          </p:cNvSpPr>
          <p:nvPr/>
        </p:nvSpPr>
        <p:spPr>
          <a:xfrm>
            <a:off x="6172200" y="1591056"/>
            <a:ext cx="5468112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B10F7DD-C0BA-4146-9928-2F8FECBAB954}"/>
              </a:ext>
            </a:extLst>
          </p:cNvPr>
          <p:cNvSpPr>
            <a:spLocks noGrp="1"/>
          </p:cNvSpPr>
          <p:nvPr/>
        </p:nvSpPr>
        <p:spPr>
          <a:xfrm>
            <a:off x="6382512" y="1837944"/>
            <a:ext cx="1691640" cy="292608"/>
          </a:xfrm>
          <a:prstGeom prst="roundRect">
            <a:avLst/>
          </a:prstGeom>
          <a:solidFill>
            <a:srgbClr val="246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100" b="1">
                <a:solidFill>
                  <a:srgbClr val="FFFFFF"/>
                </a:solidFill>
                <a:latin typeface="페이퍼로지 5 Medium"/>
                <a:ea typeface="페이퍼로지 5 Medium"/>
                <a:cs typeface="페이퍼로지 5 Medium"/>
              </a:rPr>
              <a:t>Project Goal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06C2AA-2B64-4946-8764-FA21AA9B3D74}"/>
              </a:ext>
            </a:extLst>
          </p:cNvPr>
          <p:cNvSpPr>
            <a:spLocks noGrp="1"/>
          </p:cNvSpPr>
          <p:nvPr/>
        </p:nvSpPr>
        <p:spPr>
          <a:xfrm>
            <a:off x="6419088" y="2258568"/>
            <a:ext cx="4754880" cy="3816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buNone/>
            </a:pPr>
            <a:r>
              <a:rPr sz="2000" b="1">
                <a:solidFill>
                  <a:srgbClr val="192D46"/>
                </a:solidFill>
                <a:latin typeface="페이퍼로지 5 Medium"/>
                <a:ea typeface="페이퍼로지 5 Medium"/>
                <a:cs typeface="페이퍼로지 5 Medium"/>
              </a:rPr>
              <a:t>RAP 기반 구매·자재·FI 애플리케이션 구현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E5872F5-160C-431F-A4A7-58F9B7B2375E}"/>
              </a:ext>
            </a:extLst>
          </p:cNvPr>
          <p:cNvSpPr>
            <a:spLocks noGrp="1"/>
          </p:cNvSpPr>
          <p:nvPr/>
        </p:nvSpPr>
        <p:spPr>
          <a:xfrm>
            <a:off x="6446520" y="2898648"/>
            <a:ext cx="822960" cy="292608"/>
          </a:xfrm>
          <a:prstGeom prst="roundRect">
            <a:avLst/>
          </a:prstGeom>
          <a:solidFill>
            <a:srgbClr val="15A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000" b="1">
                <a:solidFill>
                  <a:srgbClr val="FFFFFF"/>
                </a:solidFill>
                <a:latin typeface="페이퍼로지 5 Medium"/>
                <a:ea typeface="페이퍼로지 5 Medium"/>
                <a:cs typeface="페이퍼로지 5 Medium"/>
              </a:rPr>
              <a:t>CDS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313771-9000-4A8C-8011-E898C5923DEB}"/>
              </a:ext>
            </a:extLst>
          </p:cNvPr>
          <p:cNvSpPr>
            <a:spLocks noGrp="1"/>
          </p:cNvSpPr>
          <p:nvPr/>
        </p:nvSpPr>
        <p:spPr>
          <a:xfrm>
            <a:off x="7424927" y="2880360"/>
            <a:ext cx="3749039" cy="27392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buNone/>
            </a:pPr>
            <a:r>
              <a:rPr sz="1300" b="0">
                <a:solidFill>
                  <a:srgbClr val="343A40"/>
                </a:solidFill>
                <a:latin typeface="페이퍼로지 5 Medium"/>
                <a:ea typeface="페이퍼로지 5 Medium"/>
                <a:cs typeface="페이퍼로지 5 Medium"/>
              </a:rPr>
              <a:t>View 설계 · Association / Composition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130C564-2A9B-4835-93A4-1549E14664CE}"/>
              </a:ext>
            </a:extLst>
          </p:cNvPr>
          <p:cNvSpPr>
            <a:spLocks noGrp="1"/>
          </p:cNvSpPr>
          <p:nvPr/>
        </p:nvSpPr>
        <p:spPr>
          <a:xfrm>
            <a:off x="6446520" y="3557016"/>
            <a:ext cx="822960" cy="292608"/>
          </a:xfrm>
          <a:prstGeom prst="roundRect">
            <a:avLst/>
          </a:prstGeom>
          <a:solidFill>
            <a:srgbClr val="15A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000" b="1">
                <a:solidFill>
                  <a:srgbClr val="FFFFFF"/>
                </a:solidFill>
                <a:latin typeface="페이퍼로지 5 Medium"/>
                <a:ea typeface="페이퍼로지 5 Medium"/>
                <a:cs typeface="페이퍼로지 5 Medium"/>
              </a:rPr>
              <a:t>RAP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6EC6D8E-D669-4A2D-9D38-8E9C6FDD3B10}"/>
              </a:ext>
            </a:extLst>
          </p:cNvPr>
          <p:cNvSpPr>
            <a:spLocks noGrp="1"/>
          </p:cNvSpPr>
          <p:nvPr/>
        </p:nvSpPr>
        <p:spPr>
          <a:xfrm>
            <a:off x="7424927" y="3538728"/>
            <a:ext cx="3749039" cy="27392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buNone/>
            </a:pPr>
            <a:r>
              <a:rPr sz="1300" b="0">
                <a:solidFill>
                  <a:srgbClr val="343A40"/>
                </a:solidFill>
                <a:latin typeface="페이퍼로지 5 Medium"/>
                <a:ea typeface="페이퍼로지 5 Medium"/>
                <a:cs typeface="페이퍼로지 5 Medium"/>
              </a:rPr>
              <a:t>Business Object · CRUD · Draft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57725DE5-5474-4E0D-958A-95E68ADF9DAE}"/>
              </a:ext>
            </a:extLst>
          </p:cNvPr>
          <p:cNvSpPr>
            <a:spLocks noGrp="1"/>
          </p:cNvSpPr>
          <p:nvPr/>
        </p:nvSpPr>
        <p:spPr>
          <a:xfrm>
            <a:off x="6446520" y="4215384"/>
            <a:ext cx="822960" cy="292608"/>
          </a:xfrm>
          <a:prstGeom prst="roundRect">
            <a:avLst/>
          </a:prstGeom>
          <a:solidFill>
            <a:srgbClr val="246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000" b="1">
                <a:solidFill>
                  <a:srgbClr val="FFFFFF"/>
                </a:solidFill>
                <a:latin typeface="페이퍼로지 5 Medium"/>
                <a:ea typeface="페이퍼로지 5 Medium"/>
                <a:cs typeface="페이퍼로지 5 Medium"/>
              </a:rPr>
              <a:t>Fiori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2B6D52C-5170-4FCA-B15A-031242C9BAAF}"/>
              </a:ext>
            </a:extLst>
          </p:cNvPr>
          <p:cNvSpPr>
            <a:spLocks noGrp="1"/>
          </p:cNvSpPr>
          <p:nvPr/>
        </p:nvSpPr>
        <p:spPr>
          <a:xfrm>
            <a:off x="7424927" y="4197096"/>
            <a:ext cx="3749039" cy="27392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buNone/>
            </a:pPr>
            <a:r>
              <a:rPr sz="1300" b="0">
                <a:solidFill>
                  <a:srgbClr val="343A40"/>
                </a:solidFill>
                <a:latin typeface="페이퍼로지 5 Medium"/>
                <a:ea typeface="페이퍼로지 5 Medium"/>
                <a:cs typeface="페이퍼로지 5 Medium"/>
              </a:rPr>
              <a:t>UI Annotation · Fiori Elements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50FDB141-7561-40F5-A192-D5EBB47419F7}"/>
              </a:ext>
            </a:extLst>
          </p:cNvPr>
          <p:cNvSpPr>
            <a:spLocks noGrp="1"/>
          </p:cNvSpPr>
          <p:nvPr/>
        </p:nvSpPr>
        <p:spPr>
          <a:xfrm>
            <a:off x="6446520" y="4873752"/>
            <a:ext cx="822960" cy="292608"/>
          </a:xfrm>
          <a:prstGeom prst="roundRect">
            <a:avLst/>
          </a:prstGeom>
          <a:solidFill>
            <a:srgbClr val="246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000" b="1">
                <a:solidFill>
                  <a:srgbClr val="FFFFFF"/>
                </a:solidFill>
                <a:latin typeface="페이퍼로지 5 Medium"/>
                <a:ea typeface="페이퍼로지 5 Medium"/>
                <a:cs typeface="페이퍼로지 5 Medium"/>
              </a:rPr>
              <a:t>Service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67BF55A-4E37-41C3-BADE-1B4E376F4FFD}"/>
              </a:ext>
            </a:extLst>
          </p:cNvPr>
          <p:cNvSpPr>
            <a:spLocks noGrp="1"/>
          </p:cNvSpPr>
          <p:nvPr/>
        </p:nvSpPr>
        <p:spPr>
          <a:xfrm>
            <a:off x="7424927" y="4855464"/>
            <a:ext cx="3749039" cy="27392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buNone/>
            </a:pPr>
            <a:r>
              <a:rPr sz="1300" b="0">
                <a:solidFill>
                  <a:srgbClr val="343A40"/>
                </a:solidFill>
                <a:latin typeface="페이퍼로지 5 Medium"/>
                <a:ea typeface="페이퍼로지 5 Medium"/>
                <a:cs typeface="페이퍼로지 5 Medium"/>
              </a:rPr>
              <a:t>OData V4 기반 서비스 노출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DC6DCDE-4B1A-4377-B27A-67B170A4D6E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EF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97CEB26-D6C5-467C-8934-D54894581FEC}"/>
              </a:ext>
            </a:extLst>
          </p:cNvPr>
          <p:cNvSpPr>
            <a:spLocks noGrp="1"/>
          </p:cNvSpPr>
          <p:nvPr/>
        </p:nvSpPr>
        <p:spPr>
          <a:xfrm>
            <a:off x="0" y="804672"/>
            <a:ext cx="11292840" cy="32004"/>
          </a:xfrm>
          <a:prstGeom prst="rect">
            <a:avLst/>
          </a:prstGeom>
          <a:solidFill>
            <a:srgbClr val="CDD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71961D8-AF02-43B2-ADA1-369FE50B723C}"/>
              </a:ext>
            </a:extLst>
          </p:cNvPr>
          <p:cNvSpPr>
            <a:spLocks noGrp="1"/>
          </p:cNvSpPr>
          <p:nvPr/>
        </p:nvSpPr>
        <p:spPr>
          <a:xfrm>
            <a:off x="0" y="786384"/>
            <a:ext cx="4297680" cy="64008"/>
          </a:xfrm>
          <a:prstGeom prst="rect">
            <a:avLst/>
          </a:prstGeom>
          <a:solidFill>
            <a:srgbClr val="15A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9A1FFBF-C5C6-4CDE-807C-4699EF101D28}"/>
              </a:ext>
            </a:extLst>
          </p:cNvPr>
          <p:cNvSpPr>
            <a:spLocks noGrp="1"/>
          </p:cNvSpPr>
          <p:nvPr/>
        </p:nvSpPr>
        <p:spPr>
          <a:xfrm>
            <a:off x="361950" y="123825"/>
            <a:ext cx="11239500" cy="590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925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000000"/>
                </a:solidFill>
                <a:latin typeface="페이퍼로지 5 Medium"/>
                <a:ea typeface="페이퍼로지 5 Medium"/>
                <a:cs typeface="페이퍼로지 5 Medium"/>
              </a:rPr>
              <a:t>01. 프로젝트 개요와 목표</a:t>
            </a:r>
          </a:p>
        </p:txBody>
      </p:sp>
    </p:spTree>
    <p:extLst>
      <p:ext uri="{BB962C8B-B14F-4D97-AF65-F5344CB8AC3E}">
        <p14:creationId xmlns:p14="http://schemas.microsoft.com/office/powerpoint/2010/main" val="2011795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7764048-362C-48F9-B7F4-D9849F257557}"/>
              </a:ext>
            </a:extLst>
          </p:cNvPr>
          <p:cNvSpPr>
            <a:spLocks noGrp="1"/>
          </p:cNvSpPr>
          <p:nvPr/>
        </p:nvSpPr>
        <p:spPr>
          <a:xfrm>
            <a:off x="666750" y="1066800"/>
            <a:ext cx="10858500" cy="457200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950" b="1">
                <a:solidFill>
                  <a:srgbClr val="1C3557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C3557"/>
                </a:solidFill>
                <a:latin typeface="페이퍼로지 5 Medium"/>
                <a:ea typeface="페이퍼로지 5 Medium"/>
                <a:cs typeface="페이퍼로지 5 Medium"/>
              </a:rPr>
              <a:t>FS00~FS06을 직접 구현하고 PO 이후 MM-FI 연계 구조를 설계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800D220-EA26-4BA7-A8B7-40CFA9341EB8}"/>
              </a:ext>
            </a:extLst>
          </p:cNvPr>
          <p:cNvSpPr>
            <a:spLocks noGrp="1"/>
          </p:cNvSpPr>
          <p:nvPr/>
        </p:nvSpPr>
        <p:spPr>
          <a:xfrm>
            <a:off x="566928" y="1874519"/>
            <a:ext cx="25146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FA8725A-4BDB-41CE-9BA7-3740CE68EB6C}"/>
              </a:ext>
            </a:extLst>
          </p:cNvPr>
          <p:cNvSpPr>
            <a:spLocks noGrp="1"/>
          </p:cNvSpPr>
          <p:nvPr/>
        </p:nvSpPr>
        <p:spPr>
          <a:xfrm>
            <a:off x="676656" y="1984248"/>
            <a:ext cx="576072" cy="292608"/>
          </a:xfrm>
          <a:prstGeom prst="roundRect">
            <a:avLst/>
          </a:prstGeom>
          <a:solidFill>
            <a:srgbClr val="246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900" b="1">
                <a:solidFill>
                  <a:srgbClr val="FFFFFF"/>
                </a:solidFill>
                <a:latin typeface="페이퍼로지 5 Medium"/>
                <a:ea typeface="페이퍼로지 5 Medium"/>
                <a:cs typeface="페이퍼로지 5 Medium"/>
              </a:rPr>
              <a:t>FS00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DEB920-DEF2-4747-8259-79390315C090}"/>
              </a:ext>
            </a:extLst>
          </p:cNvPr>
          <p:cNvSpPr>
            <a:spLocks noGrp="1"/>
          </p:cNvSpPr>
          <p:nvPr/>
        </p:nvSpPr>
        <p:spPr>
          <a:xfrm>
            <a:off x="676656" y="2340863"/>
            <a:ext cx="2240280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buNone/>
            </a:pPr>
            <a:r>
              <a:rPr sz="1400" b="1">
                <a:solidFill>
                  <a:srgbClr val="192D46"/>
                </a:solidFill>
                <a:latin typeface="페이퍼로지 5 Medium"/>
                <a:ea typeface="페이퍼로지 5 Medium"/>
                <a:cs typeface="페이퍼로지 5 Medium"/>
              </a:rPr>
              <a:t>공통 Search Help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5FA8BC-4398-46DD-BCB4-2EFACD258891}"/>
              </a:ext>
            </a:extLst>
          </p:cNvPr>
          <p:cNvSpPr>
            <a:spLocks noGrp="1"/>
          </p:cNvSpPr>
          <p:nvPr/>
        </p:nvSpPr>
        <p:spPr>
          <a:xfrm>
            <a:off x="676656" y="2642615"/>
            <a:ext cx="2267712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666E76"/>
                </a:solidFill>
                <a:latin typeface="페이퍼로지 5 Medium"/>
                <a:ea typeface="페이퍼로지 5 Medium"/>
                <a:cs typeface="페이퍼로지 5 Medium"/>
              </a:rPr>
              <a:t>Value Help / Combo Box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B6CA244-0BDB-4244-9604-2D85735A4F06}"/>
              </a:ext>
            </a:extLst>
          </p:cNvPr>
          <p:cNvSpPr>
            <a:spLocks noGrp="1"/>
          </p:cNvSpPr>
          <p:nvPr/>
        </p:nvSpPr>
        <p:spPr>
          <a:xfrm>
            <a:off x="3355848" y="1874519"/>
            <a:ext cx="25146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E0B7E24-E652-4C32-A2DE-4C0D91246D25}"/>
              </a:ext>
            </a:extLst>
          </p:cNvPr>
          <p:cNvSpPr>
            <a:spLocks noGrp="1"/>
          </p:cNvSpPr>
          <p:nvPr/>
        </p:nvSpPr>
        <p:spPr>
          <a:xfrm>
            <a:off x="3465576" y="1984248"/>
            <a:ext cx="576072" cy="292608"/>
          </a:xfrm>
          <a:prstGeom prst="roundRect">
            <a:avLst/>
          </a:prstGeom>
          <a:solidFill>
            <a:srgbClr val="246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900" b="1">
                <a:solidFill>
                  <a:srgbClr val="FFFFFF"/>
                </a:solidFill>
                <a:latin typeface="페이퍼로지 5 Medium"/>
                <a:ea typeface="페이퍼로지 5 Medium"/>
                <a:cs typeface="페이퍼로지 5 Medium"/>
              </a:rPr>
              <a:t>FS01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FD216F-6959-4686-8339-A17AC00EAD94}"/>
              </a:ext>
            </a:extLst>
          </p:cNvPr>
          <p:cNvSpPr>
            <a:spLocks noGrp="1"/>
          </p:cNvSpPr>
          <p:nvPr/>
        </p:nvSpPr>
        <p:spPr>
          <a:xfrm>
            <a:off x="3465576" y="2340863"/>
            <a:ext cx="2240280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buNone/>
            </a:pPr>
            <a:r>
              <a:rPr sz="1400" b="1">
                <a:solidFill>
                  <a:srgbClr val="192D46"/>
                </a:solidFill>
                <a:latin typeface="페이퍼로지 5 Medium"/>
                <a:ea typeface="페이퍼로지 5 Medium"/>
                <a:cs typeface="페이퍼로지 5 Medium"/>
              </a:rPr>
              <a:t>자재관리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FC4FBB-6AAA-46BA-B78B-90978A8E6B3C}"/>
              </a:ext>
            </a:extLst>
          </p:cNvPr>
          <p:cNvSpPr>
            <a:spLocks noGrp="1"/>
          </p:cNvSpPr>
          <p:nvPr/>
        </p:nvSpPr>
        <p:spPr>
          <a:xfrm>
            <a:off x="3465576" y="2642615"/>
            <a:ext cx="2267712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666E76"/>
                </a:solidFill>
                <a:latin typeface="페이퍼로지 5 Medium"/>
                <a:ea typeface="페이퍼로지 5 Medium"/>
                <a:cs typeface="페이퍼로지 5 Medium"/>
              </a:rPr>
              <a:t>MARA + Draft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61FD675-7F31-4AD6-94B3-B3214E237D51}"/>
              </a:ext>
            </a:extLst>
          </p:cNvPr>
          <p:cNvSpPr>
            <a:spLocks noGrp="1"/>
          </p:cNvSpPr>
          <p:nvPr/>
        </p:nvSpPr>
        <p:spPr>
          <a:xfrm>
            <a:off x="6144768" y="1874519"/>
            <a:ext cx="25146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99DCC33-4064-4899-A6C1-EDBD96169214}"/>
              </a:ext>
            </a:extLst>
          </p:cNvPr>
          <p:cNvSpPr>
            <a:spLocks noGrp="1"/>
          </p:cNvSpPr>
          <p:nvPr/>
        </p:nvSpPr>
        <p:spPr>
          <a:xfrm>
            <a:off x="6254496" y="1984248"/>
            <a:ext cx="576072" cy="292608"/>
          </a:xfrm>
          <a:prstGeom prst="roundRect">
            <a:avLst/>
          </a:prstGeom>
          <a:solidFill>
            <a:srgbClr val="246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900" b="1">
                <a:solidFill>
                  <a:srgbClr val="FFFFFF"/>
                </a:solidFill>
                <a:latin typeface="페이퍼로지 5 Medium"/>
                <a:ea typeface="페이퍼로지 5 Medium"/>
                <a:cs typeface="페이퍼로지 5 Medium"/>
              </a:rPr>
              <a:t>FS02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F61F95-8885-4932-8AE7-5C8AB936C48C}"/>
              </a:ext>
            </a:extLst>
          </p:cNvPr>
          <p:cNvSpPr>
            <a:spLocks noGrp="1"/>
          </p:cNvSpPr>
          <p:nvPr/>
        </p:nvSpPr>
        <p:spPr>
          <a:xfrm>
            <a:off x="6254496" y="2340863"/>
            <a:ext cx="2240280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buNone/>
            </a:pPr>
            <a:r>
              <a:rPr sz="1400" b="1">
                <a:solidFill>
                  <a:srgbClr val="192D46"/>
                </a:solidFill>
                <a:latin typeface="페이퍼로지 5 Medium"/>
                <a:ea typeface="페이퍼로지 5 Medium"/>
                <a:cs typeface="페이퍼로지 5 Medium"/>
              </a:rPr>
              <a:t>FI 계정관리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D3FD1F9-47BA-4A58-9DDD-66ACBB93A629}"/>
              </a:ext>
            </a:extLst>
          </p:cNvPr>
          <p:cNvSpPr>
            <a:spLocks noGrp="1"/>
          </p:cNvSpPr>
          <p:nvPr/>
        </p:nvSpPr>
        <p:spPr>
          <a:xfrm>
            <a:off x="6254496" y="2642615"/>
            <a:ext cx="2267712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666E76"/>
                </a:solidFill>
                <a:latin typeface="페이퍼로지 5 Medium"/>
                <a:ea typeface="페이퍼로지 5 Medium"/>
                <a:cs typeface="페이퍼로지 5 Medium"/>
              </a:rPr>
              <a:t>SKA1 + Validation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52E13A5A-40C5-4489-86AF-0441FE1723A3}"/>
              </a:ext>
            </a:extLst>
          </p:cNvPr>
          <p:cNvSpPr>
            <a:spLocks noGrp="1"/>
          </p:cNvSpPr>
          <p:nvPr/>
        </p:nvSpPr>
        <p:spPr>
          <a:xfrm>
            <a:off x="8933687" y="1874519"/>
            <a:ext cx="25146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F062A2DD-580D-4FC8-B19C-57A30C415507}"/>
              </a:ext>
            </a:extLst>
          </p:cNvPr>
          <p:cNvSpPr>
            <a:spLocks noGrp="1"/>
          </p:cNvSpPr>
          <p:nvPr/>
        </p:nvSpPr>
        <p:spPr>
          <a:xfrm>
            <a:off x="9043415" y="1984248"/>
            <a:ext cx="576072" cy="292608"/>
          </a:xfrm>
          <a:prstGeom prst="roundRect">
            <a:avLst/>
          </a:prstGeom>
          <a:solidFill>
            <a:srgbClr val="246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900" b="1">
                <a:solidFill>
                  <a:srgbClr val="FFFFFF"/>
                </a:solidFill>
                <a:latin typeface="페이퍼로지 5 Medium"/>
                <a:ea typeface="페이퍼로지 5 Medium"/>
                <a:cs typeface="페이퍼로지 5 Medium"/>
              </a:rPr>
              <a:t>FS03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C2D7E64-1C6B-4D0D-891E-BAAF2514F444}"/>
              </a:ext>
            </a:extLst>
          </p:cNvPr>
          <p:cNvSpPr>
            <a:spLocks noGrp="1"/>
          </p:cNvSpPr>
          <p:nvPr/>
        </p:nvSpPr>
        <p:spPr>
          <a:xfrm>
            <a:off x="9043415" y="2340863"/>
            <a:ext cx="2240280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buNone/>
            </a:pPr>
            <a:r>
              <a:rPr sz="1400" b="1">
                <a:solidFill>
                  <a:srgbClr val="192D46"/>
                </a:solidFill>
                <a:latin typeface="페이퍼로지 5 Medium"/>
                <a:ea typeface="페이퍼로지 5 Medium"/>
                <a:cs typeface="페이퍼로지 5 Medium"/>
              </a:rPr>
              <a:t>공급업체관리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ACA8157-705F-414B-81C7-5A9123FE0B8A}"/>
              </a:ext>
            </a:extLst>
          </p:cNvPr>
          <p:cNvSpPr>
            <a:spLocks noGrp="1"/>
          </p:cNvSpPr>
          <p:nvPr/>
        </p:nvSpPr>
        <p:spPr>
          <a:xfrm>
            <a:off x="9043415" y="2642615"/>
            <a:ext cx="2267712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666E76"/>
                </a:solidFill>
                <a:latin typeface="페이퍼로지 5 Medium"/>
                <a:ea typeface="페이퍼로지 5 Medium"/>
                <a:cs typeface="페이퍼로지 5 Medium"/>
              </a:rPr>
              <a:t>LFA1 + 조정계정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A31A11A-329C-4478-9D6B-64758F936FD5}"/>
              </a:ext>
            </a:extLst>
          </p:cNvPr>
          <p:cNvSpPr>
            <a:spLocks noGrp="1"/>
          </p:cNvSpPr>
          <p:nvPr/>
        </p:nvSpPr>
        <p:spPr>
          <a:xfrm>
            <a:off x="566928" y="3291839"/>
            <a:ext cx="25146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3589303D-7F89-40E4-8BE5-922933F46458}"/>
              </a:ext>
            </a:extLst>
          </p:cNvPr>
          <p:cNvSpPr>
            <a:spLocks noGrp="1"/>
          </p:cNvSpPr>
          <p:nvPr/>
        </p:nvSpPr>
        <p:spPr>
          <a:xfrm>
            <a:off x="676656" y="3401568"/>
            <a:ext cx="576072" cy="292608"/>
          </a:xfrm>
          <a:prstGeom prst="roundRect">
            <a:avLst/>
          </a:prstGeom>
          <a:solidFill>
            <a:srgbClr val="246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900" b="1">
                <a:solidFill>
                  <a:srgbClr val="FFFFFF"/>
                </a:solidFill>
                <a:latin typeface="페이퍼로지 5 Medium"/>
                <a:ea typeface="페이퍼로지 5 Medium"/>
                <a:cs typeface="페이퍼로지 5 Medium"/>
              </a:rPr>
              <a:t>FS04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E8FE276-55E4-4CCA-A1D7-4D47BDF9FFD6}"/>
              </a:ext>
            </a:extLst>
          </p:cNvPr>
          <p:cNvSpPr>
            <a:spLocks noGrp="1"/>
          </p:cNvSpPr>
          <p:nvPr/>
        </p:nvSpPr>
        <p:spPr>
          <a:xfrm>
            <a:off x="676656" y="3758183"/>
            <a:ext cx="2240280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buNone/>
            </a:pPr>
            <a:r>
              <a:rPr sz="1400" b="1">
                <a:solidFill>
                  <a:srgbClr val="192D46"/>
                </a:solidFill>
                <a:latin typeface="페이퍼로지 5 Medium"/>
                <a:ea typeface="페이퍼로지 5 Medium"/>
                <a:cs typeface="페이퍼로지 5 Medium"/>
              </a:rPr>
              <a:t>계정결정관리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9D057C0-0CB6-4484-852F-C7C84F2BD48E}"/>
              </a:ext>
            </a:extLst>
          </p:cNvPr>
          <p:cNvSpPr>
            <a:spLocks noGrp="1"/>
          </p:cNvSpPr>
          <p:nvPr/>
        </p:nvSpPr>
        <p:spPr>
          <a:xfrm>
            <a:off x="676656" y="4059935"/>
            <a:ext cx="2267712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666E76"/>
                </a:solidFill>
                <a:latin typeface="페이퍼로지 5 Medium"/>
                <a:ea typeface="페이퍼로지 5 Medium"/>
                <a:cs typeface="페이퍼로지 5 Medium"/>
              </a:rPr>
              <a:t>T030 + 업무규칙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CF644CD4-F021-4662-93CF-4883B35D76FA}"/>
              </a:ext>
            </a:extLst>
          </p:cNvPr>
          <p:cNvSpPr>
            <a:spLocks noGrp="1"/>
          </p:cNvSpPr>
          <p:nvPr/>
        </p:nvSpPr>
        <p:spPr>
          <a:xfrm>
            <a:off x="3355848" y="3291839"/>
            <a:ext cx="25146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233156F4-CB12-4996-8F42-03B614064F46}"/>
              </a:ext>
            </a:extLst>
          </p:cNvPr>
          <p:cNvSpPr>
            <a:spLocks noGrp="1"/>
          </p:cNvSpPr>
          <p:nvPr/>
        </p:nvSpPr>
        <p:spPr>
          <a:xfrm>
            <a:off x="3465576" y="3401568"/>
            <a:ext cx="576072" cy="292608"/>
          </a:xfrm>
          <a:prstGeom prst="roundRect">
            <a:avLst/>
          </a:prstGeom>
          <a:solidFill>
            <a:srgbClr val="246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900" b="1">
                <a:solidFill>
                  <a:srgbClr val="FFFFFF"/>
                </a:solidFill>
                <a:latin typeface="페이퍼로지 5 Medium"/>
                <a:ea typeface="페이퍼로지 5 Medium"/>
                <a:cs typeface="페이퍼로지 5 Medium"/>
              </a:rPr>
              <a:t>FS05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93631BD-7F35-4364-9706-5DA4EFCD0664}"/>
              </a:ext>
            </a:extLst>
          </p:cNvPr>
          <p:cNvSpPr>
            <a:spLocks noGrp="1"/>
          </p:cNvSpPr>
          <p:nvPr/>
        </p:nvSpPr>
        <p:spPr>
          <a:xfrm>
            <a:off x="3465576" y="3758183"/>
            <a:ext cx="2240280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buNone/>
            </a:pPr>
            <a:r>
              <a:rPr sz="1400" b="1">
                <a:solidFill>
                  <a:srgbClr val="192D46"/>
                </a:solidFill>
                <a:latin typeface="페이퍼로지 5 Medium"/>
                <a:ea typeface="페이퍼로지 5 Medium"/>
                <a:cs typeface="페이퍼로지 5 Medium"/>
              </a:rPr>
              <a:t>구매정보레코드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CD7BE16-88BD-4DEF-9673-7BC70EBF33CF}"/>
              </a:ext>
            </a:extLst>
          </p:cNvPr>
          <p:cNvSpPr>
            <a:spLocks noGrp="1"/>
          </p:cNvSpPr>
          <p:nvPr/>
        </p:nvSpPr>
        <p:spPr>
          <a:xfrm>
            <a:off x="3465576" y="4059935"/>
            <a:ext cx="2267712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666E76"/>
                </a:solidFill>
                <a:latin typeface="페이퍼로지 5 Medium"/>
                <a:ea typeface="페이퍼로지 5 Medium"/>
                <a:cs typeface="페이퍼로지 5 Medium"/>
              </a:rPr>
              <a:t>EINA/EINE + Determination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6C37B552-29DC-4EED-80EB-A018039BF03D}"/>
              </a:ext>
            </a:extLst>
          </p:cNvPr>
          <p:cNvSpPr>
            <a:spLocks noGrp="1"/>
          </p:cNvSpPr>
          <p:nvPr/>
        </p:nvSpPr>
        <p:spPr>
          <a:xfrm>
            <a:off x="6144768" y="3291839"/>
            <a:ext cx="25146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DE083AEB-F64F-4564-B595-E8BB763557E9}"/>
              </a:ext>
            </a:extLst>
          </p:cNvPr>
          <p:cNvSpPr>
            <a:spLocks noGrp="1"/>
          </p:cNvSpPr>
          <p:nvPr/>
        </p:nvSpPr>
        <p:spPr>
          <a:xfrm>
            <a:off x="6254496" y="3401568"/>
            <a:ext cx="576072" cy="292608"/>
          </a:xfrm>
          <a:prstGeom prst="roundRect">
            <a:avLst/>
          </a:prstGeom>
          <a:solidFill>
            <a:srgbClr val="246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900" b="1">
                <a:solidFill>
                  <a:srgbClr val="FFFFFF"/>
                </a:solidFill>
                <a:latin typeface="페이퍼로지 5 Medium"/>
                <a:ea typeface="페이퍼로지 5 Medium"/>
                <a:cs typeface="페이퍼로지 5 Medium"/>
              </a:rPr>
              <a:t>FS06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6FEF110-4258-4A3A-AE28-12F1A4C17C05}"/>
              </a:ext>
            </a:extLst>
          </p:cNvPr>
          <p:cNvSpPr>
            <a:spLocks noGrp="1"/>
          </p:cNvSpPr>
          <p:nvPr/>
        </p:nvSpPr>
        <p:spPr>
          <a:xfrm>
            <a:off x="6254496" y="3758183"/>
            <a:ext cx="2240280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buNone/>
            </a:pPr>
            <a:r>
              <a:rPr sz="1400" b="1">
                <a:solidFill>
                  <a:srgbClr val="192D46"/>
                </a:solidFill>
                <a:latin typeface="페이퍼로지 5 Medium"/>
                <a:ea typeface="페이퍼로지 5 Medium"/>
                <a:cs typeface="페이퍼로지 5 Medium"/>
              </a:rPr>
              <a:t>구매오더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A84D736-3702-4B43-A8FF-2EA40933E08A}"/>
              </a:ext>
            </a:extLst>
          </p:cNvPr>
          <p:cNvSpPr>
            <a:spLocks noGrp="1"/>
          </p:cNvSpPr>
          <p:nvPr/>
        </p:nvSpPr>
        <p:spPr>
          <a:xfrm>
            <a:off x="6254496" y="4059935"/>
            <a:ext cx="2267712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666E76"/>
                </a:solidFill>
                <a:latin typeface="페이퍼로지 5 Medium"/>
                <a:ea typeface="페이퍼로지 5 Medium"/>
                <a:cs typeface="페이퍼로지 5 Medium"/>
              </a:rPr>
              <a:t>EKKO/EKPO + Header–Item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75A062C9-B974-4F0F-A04B-F47746F43845}"/>
              </a:ext>
            </a:extLst>
          </p:cNvPr>
          <p:cNvSpPr>
            <a:spLocks noGrp="1"/>
          </p:cNvSpPr>
          <p:nvPr/>
        </p:nvSpPr>
        <p:spPr>
          <a:xfrm>
            <a:off x="8933688" y="3291840"/>
            <a:ext cx="2514600" cy="109728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B4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D3908624-A8C2-4F35-825A-32FB46436744}"/>
              </a:ext>
            </a:extLst>
          </p:cNvPr>
          <p:cNvSpPr>
            <a:spLocks noGrp="1"/>
          </p:cNvSpPr>
          <p:nvPr/>
        </p:nvSpPr>
        <p:spPr>
          <a:xfrm>
            <a:off x="9043416" y="3401568"/>
            <a:ext cx="932688" cy="292608"/>
          </a:xfrm>
          <a:prstGeom prst="roundRect">
            <a:avLst/>
          </a:prstGeom>
          <a:solidFill>
            <a:srgbClr val="666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900" b="1">
                <a:solidFill>
                  <a:srgbClr val="FFFFFF"/>
                </a:solidFill>
                <a:latin typeface="페이퍼로지 5 Medium"/>
                <a:ea typeface="페이퍼로지 5 Medium"/>
                <a:cs typeface="페이퍼로지 5 Medium"/>
              </a:rPr>
              <a:t>FS07~08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B9ED0CE-3D56-478D-8301-37471E2E7F26}"/>
              </a:ext>
            </a:extLst>
          </p:cNvPr>
          <p:cNvSpPr>
            <a:spLocks noGrp="1"/>
          </p:cNvSpPr>
          <p:nvPr/>
        </p:nvSpPr>
        <p:spPr>
          <a:xfrm>
            <a:off x="9043416" y="3758184"/>
            <a:ext cx="2240280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buNone/>
            </a:pPr>
            <a:r>
              <a:rPr sz="1400" b="1">
                <a:solidFill>
                  <a:srgbClr val="192D46"/>
                </a:solidFill>
                <a:latin typeface="페이퍼로지 5 Medium"/>
                <a:ea typeface="페이퍼로지 5 Medium"/>
                <a:cs typeface="페이퍼로지 5 Medium"/>
              </a:rPr>
              <a:t>후속 연계 설계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BD620DC-DD05-4DA2-9A19-76B16C0E6240}"/>
              </a:ext>
            </a:extLst>
          </p:cNvPr>
          <p:cNvSpPr>
            <a:spLocks noGrp="1"/>
          </p:cNvSpPr>
          <p:nvPr/>
        </p:nvSpPr>
        <p:spPr>
          <a:xfrm>
            <a:off x="9043416" y="4059936"/>
            <a:ext cx="2267712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666E76"/>
                </a:solidFill>
                <a:latin typeface="페이퍼로지 5 Medium"/>
                <a:ea typeface="페이퍼로지 5 Medium"/>
                <a:cs typeface="페이퍼로지 5 Medium"/>
              </a:rPr>
              <a:t>PO → GR → FI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1FF44D4-2914-4406-AD41-7F3277D017FB}"/>
              </a:ext>
            </a:extLst>
          </p:cNvPr>
          <p:cNvSpPr>
            <a:spLocks noGrp="1"/>
          </p:cNvSpPr>
          <p:nvPr/>
        </p:nvSpPr>
        <p:spPr>
          <a:xfrm>
            <a:off x="685800" y="5074920"/>
            <a:ext cx="10972800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666E76"/>
                </a:solidFill>
                <a:latin typeface="페이퍼로지 5 Medium"/>
                <a:ea typeface="페이퍼로지 5 Medium"/>
                <a:cs typeface="페이퍼로지 5 Medium"/>
              </a:rPr>
              <a:t>구현 범위 · FS00~FS06    후속 설계 · FS07 입고, FS08 회계전표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8478A634-12F1-4A9A-91DE-5BC7309AEFC8}"/>
              </a:ext>
            </a:extLst>
          </p:cNvPr>
          <p:cNvSpPr>
            <a:spLocks noGrp="1"/>
          </p:cNvSpPr>
          <p:nvPr/>
        </p:nvSpPr>
        <p:spPr>
          <a:xfrm>
            <a:off x="621792" y="5504688"/>
            <a:ext cx="10972800" cy="685800"/>
          </a:xfrm>
          <a:prstGeom prst="roundRect">
            <a:avLst/>
          </a:prstGeom>
          <a:solidFill>
            <a:srgbClr val="F3F8FC"/>
          </a:solidFill>
          <a:ln w="12700"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FD139E2-C707-4874-B79B-F1ECDBC78FB9}"/>
              </a:ext>
            </a:extLst>
          </p:cNvPr>
          <p:cNvSpPr>
            <a:spLocks noGrp="1"/>
          </p:cNvSpPr>
          <p:nvPr/>
        </p:nvSpPr>
        <p:spPr>
          <a:xfrm>
            <a:off x="841248" y="5718322"/>
            <a:ext cx="10561320" cy="2585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buNone/>
            </a:pPr>
            <a:r>
              <a:rPr sz="1200" b="1">
                <a:solidFill>
                  <a:srgbClr val="2466D2"/>
                </a:solidFill>
                <a:latin typeface="페이퍼로지 5 Medium"/>
                <a:ea typeface="페이퍼로지 5 Medium"/>
                <a:cs typeface="페이퍼로지 5 Medium"/>
              </a:rPr>
              <a:t>주요 적용 기술  |  CDS View · Association/Composition · Managed RAP · Draft · Validation · Determination · OData V4 · Fiori Elements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8F467D7-2BD4-4713-814B-C56A51546E0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EF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E9C098E-08D7-4E00-AFAC-33864CE5B500}"/>
              </a:ext>
            </a:extLst>
          </p:cNvPr>
          <p:cNvSpPr>
            <a:spLocks noGrp="1"/>
          </p:cNvSpPr>
          <p:nvPr/>
        </p:nvSpPr>
        <p:spPr>
          <a:xfrm>
            <a:off x="0" y="804672"/>
            <a:ext cx="11292840" cy="32004"/>
          </a:xfrm>
          <a:prstGeom prst="rect">
            <a:avLst/>
          </a:prstGeom>
          <a:solidFill>
            <a:srgbClr val="CDD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44B5C40-8470-41D3-AE0C-23534214A65A}"/>
              </a:ext>
            </a:extLst>
          </p:cNvPr>
          <p:cNvSpPr>
            <a:spLocks noGrp="1"/>
          </p:cNvSpPr>
          <p:nvPr/>
        </p:nvSpPr>
        <p:spPr>
          <a:xfrm>
            <a:off x="0" y="786384"/>
            <a:ext cx="4297680" cy="64008"/>
          </a:xfrm>
          <a:prstGeom prst="rect">
            <a:avLst/>
          </a:prstGeom>
          <a:solidFill>
            <a:srgbClr val="15A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8121279-E1E9-4F9B-8050-6B0E673F86DB}"/>
              </a:ext>
            </a:extLst>
          </p:cNvPr>
          <p:cNvSpPr>
            <a:spLocks noGrp="1"/>
          </p:cNvSpPr>
          <p:nvPr/>
        </p:nvSpPr>
        <p:spPr>
          <a:xfrm>
            <a:off x="361950" y="123825"/>
            <a:ext cx="11239500" cy="590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925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000000"/>
                </a:solidFill>
                <a:latin typeface="페이퍼로지 5 Medium"/>
                <a:ea typeface="페이퍼로지 5 Medium"/>
                <a:cs typeface="페이퍼로지 5 Medium"/>
              </a:rPr>
              <a:t>02. 개인 개발 범위 및 담당 업무</a:t>
            </a:r>
          </a:p>
        </p:txBody>
      </p:sp>
    </p:spTree>
    <p:extLst>
      <p:ext uri="{BB962C8B-B14F-4D97-AF65-F5344CB8AC3E}">
        <p14:creationId xmlns:p14="http://schemas.microsoft.com/office/powerpoint/2010/main" val="3933058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62DEE1C-86EB-4762-B4FC-E16EF74337E4}"/>
              </a:ext>
            </a:extLst>
          </p:cNvPr>
          <p:cNvSpPr>
            <a:spLocks noGrp="1"/>
          </p:cNvSpPr>
          <p:nvPr/>
        </p:nvSpPr>
        <p:spPr>
          <a:xfrm>
            <a:off x="594360" y="1417320"/>
            <a:ext cx="5257800" cy="452628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3C78960-429E-4FFC-92AA-280C2F23E756}"/>
              </a:ext>
            </a:extLst>
          </p:cNvPr>
          <p:cNvSpPr>
            <a:spLocks noGrp="1"/>
          </p:cNvSpPr>
          <p:nvPr/>
        </p:nvSpPr>
        <p:spPr>
          <a:xfrm>
            <a:off x="6327648" y="1417320"/>
            <a:ext cx="5257800" cy="4526280"/>
          </a:xfrm>
          <a:prstGeom prst="roundRect">
            <a:avLst/>
          </a:prstGeom>
          <a:solidFill>
            <a:srgbClr val="F3F8FC"/>
          </a:solidFill>
          <a:ln w="12700"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1ABED91-B2B8-4F54-8852-B59172789CDE}"/>
              </a:ext>
            </a:extLst>
          </p:cNvPr>
          <p:cNvSpPr>
            <a:spLocks noGrp="1"/>
          </p:cNvSpPr>
          <p:nvPr/>
        </p:nvSpPr>
        <p:spPr>
          <a:xfrm>
            <a:off x="822960" y="1627632"/>
            <a:ext cx="1143000" cy="292608"/>
          </a:xfrm>
          <a:prstGeom prst="roundRect">
            <a:avLst/>
          </a:prstGeom>
          <a:solidFill>
            <a:srgbClr val="666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100" b="1">
                <a:solidFill>
                  <a:srgbClr val="FFFFFF"/>
                </a:solidFill>
                <a:latin typeface="페이퍼로지 5 Medium"/>
                <a:ea typeface="페이퍼로지 5 Medium"/>
                <a:cs typeface="페이퍼로지 5 Medium"/>
              </a:rPr>
              <a:t>AS-IS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FB5A69D-0278-461A-ADD1-FEF04377878F}"/>
              </a:ext>
            </a:extLst>
          </p:cNvPr>
          <p:cNvSpPr>
            <a:spLocks noGrp="1"/>
          </p:cNvSpPr>
          <p:nvPr/>
        </p:nvSpPr>
        <p:spPr>
          <a:xfrm>
            <a:off x="6556248" y="1627632"/>
            <a:ext cx="1143000" cy="292608"/>
          </a:xfrm>
          <a:prstGeom prst="roundRect">
            <a:avLst/>
          </a:prstGeom>
          <a:solidFill>
            <a:srgbClr val="246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100" b="1">
                <a:solidFill>
                  <a:srgbClr val="FFFFFF"/>
                </a:solidFill>
                <a:latin typeface="페이퍼로지 5 Medium"/>
                <a:ea typeface="페이퍼로지 5 Medium"/>
                <a:cs typeface="페이퍼로지 5 Medium"/>
              </a:rPr>
              <a:t>TO-BE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6AB323-38C8-418C-976C-790428A4E74C}"/>
              </a:ext>
            </a:extLst>
          </p:cNvPr>
          <p:cNvSpPr>
            <a:spLocks noGrp="1"/>
          </p:cNvSpPr>
          <p:nvPr/>
        </p:nvSpPr>
        <p:spPr>
          <a:xfrm>
            <a:off x="841248" y="2029968"/>
            <a:ext cx="4617720" cy="36625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buNone/>
            </a:pPr>
            <a:r>
              <a:rPr sz="1900" b="1">
                <a:solidFill>
                  <a:srgbClr val="192D46"/>
                </a:solidFill>
                <a:latin typeface="페이퍼로지 5 Medium"/>
                <a:ea typeface="페이퍼로지 5 Medium"/>
                <a:cs typeface="페이퍼로지 5 Medium"/>
              </a:rPr>
              <a:t>Classic ABAP 중심의 개별 구현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1C2888-EDCF-47A6-8A5D-0A9543D989E6}"/>
              </a:ext>
            </a:extLst>
          </p:cNvPr>
          <p:cNvSpPr>
            <a:spLocks noGrp="1"/>
          </p:cNvSpPr>
          <p:nvPr/>
        </p:nvSpPr>
        <p:spPr>
          <a:xfrm>
            <a:off x="6565392" y="2029968"/>
            <a:ext cx="4617720" cy="36625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buNone/>
            </a:pPr>
            <a:r>
              <a:rPr sz="1900" b="1">
                <a:solidFill>
                  <a:srgbClr val="192D46"/>
                </a:solidFill>
                <a:latin typeface="페이퍼로지 5 Medium"/>
                <a:ea typeface="페이퍼로지 5 Medium"/>
                <a:cs typeface="페이퍼로지 5 Medium"/>
              </a:rPr>
              <a:t>RAP Business Object 중심의 표준화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2391AC-22E9-4A52-82E7-19A51F4DC313}"/>
              </a:ext>
            </a:extLst>
          </p:cNvPr>
          <p:cNvSpPr>
            <a:spLocks noGrp="1"/>
          </p:cNvSpPr>
          <p:nvPr/>
        </p:nvSpPr>
        <p:spPr>
          <a:xfrm>
            <a:off x="914400" y="2670048"/>
            <a:ext cx="4572000" cy="2241319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lnSpc>
                <a:spcPct val="200000"/>
              </a:lnSpc>
              <a:spcAft>
                <a:spcPts val="200"/>
              </a:spcAft>
              <a:buNone/>
              <a:defRPr sz="1300">
                <a:solidFill>
                  <a:srgbClr val="343A40"/>
                </a:solidFill>
                <a:latin typeface="Malgun Gothic"/>
                <a:ea typeface="Malgun Gothic"/>
                <a:cs typeface="Malgun Gothic"/>
              </a:defRPr>
            </a:pPr>
            <a:r>
              <a:rPr sz="1400">
                <a:latin typeface="페이퍼로지 5 Medium"/>
                <a:ea typeface="페이퍼로지 5 Medium"/>
                <a:cs typeface="페이퍼로지 5 Medium"/>
              </a:rPr>
              <a:t>화면·DB 처리·검증 로직이 프로그램 단위로 결합</a:t>
            </a:r>
          </a:p>
          <a:p>
            <a:pPr>
              <a:lnSpc>
                <a:spcPct val="200000"/>
              </a:lnSpc>
              <a:spcAft>
                <a:spcPts val="200"/>
              </a:spcAft>
              <a:buNone/>
              <a:defRPr sz="1300">
                <a:solidFill>
                  <a:srgbClr val="343A40"/>
                </a:solidFill>
                <a:latin typeface="Malgun Gothic"/>
                <a:ea typeface="Malgun Gothic"/>
                <a:cs typeface="Malgun Gothic"/>
              </a:defRPr>
            </a:pPr>
            <a:r>
              <a:rPr sz="1400">
                <a:latin typeface="페이퍼로지 5 Medium"/>
                <a:ea typeface="페이퍼로지 5 Medium"/>
                <a:cs typeface="페이퍼로지 5 Medium"/>
              </a:rPr>
              <a:t>같은 Search Help와 검증 로직을 프로그램마다 반복 구현</a:t>
            </a:r>
          </a:p>
          <a:p>
            <a:pPr>
              <a:lnSpc>
                <a:spcPct val="200000"/>
              </a:lnSpc>
              <a:spcAft>
                <a:spcPts val="200"/>
              </a:spcAft>
              <a:buNone/>
              <a:defRPr sz="1300">
                <a:solidFill>
                  <a:srgbClr val="343A40"/>
                </a:solidFill>
                <a:latin typeface="Malgun Gothic"/>
                <a:ea typeface="Malgun Gothic"/>
                <a:cs typeface="Malgun Gothic"/>
              </a:defRPr>
            </a:pPr>
            <a:r>
              <a:rPr sz="1400">
                <a:latin typeface="페이퍼로지 5 Medium"/>
                <a:ea typeface="페이퍼로지 5 Medium"/>
                <a:cs typeface="페이퍼로지 5 Medium"/>
              </a:rPr>
              <a:t>저장 후 오류 확인으로 미완성 데이터 관리가 어려움</a:t>
            </a:r>
          </a:p>
          <a:p>
            <a:pPr>
              <a:lnSpc>
                <a:spcPct val="200000"/>
              </a:lnSpc>
              <a:spcAft>
                <a:spcPts val="200"/>
              </a:spcAft>
              <a:buNone/>
              <a:defRPr sz="1300">
                <a:solidFill>
                  <a:srgbClr val="343A40"/>
                </a:solidFill>
                <a:latin typeface="Malgun Gothic"/>
                <a:ea typeface="Malgun Gothic"/>
                <a:cs typeface="Malgun Gothic"/>
              </a:defRPr>
            </a:pPr>
            <a:r>
              <a:rPr sz="1400">
                <a:latin typeface="페이퍼로지 5 Medium"/>
                <a:ea typeface="페이퍼로지 5 Medium"/>
                <a:cs typeface="페이퍼로지 5 Medium"/>
              </a:rPr>
              <a:t>Header–Item 관계와 후속 확장 로직을 직접 제어</a:t>
            </a:r>
          </a:p>
          <a:p>
            <a:pPr>
              <a:lnSpc>
                <a:spcPct val="200000"/>
              </a:lnSpc>
              <a:spcAft>
                <a:spcPts val="200"/>
              </a:spcAft>
              <a:buNone/>
              <a:defRPr sz="1300">
                <a:solidFill>
                  <a:srgbClr val="343A40"/>
                </a:solidFill>
                <a:latin typeface="Malgun Gothic"/>
                <a:ea typeface="Malgun Gothic"/>
                <a:cs typeface="Malgun Gothic"/>
              </a:defRPr>
            </a:pPr>
            <a:r>
              <a:rPr sz="1400">
                <a:latin typeface="페이퍼로지 5 Medium"/>
                <a:ea typeface="페이퍼로지 5 Medium"/>
                <a:cs typeface="페이퍼로지 5 Medium"/>
              </a:rPr>
              <a:t>UI 변경 시 화면 프로그램 수정 부담 증가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F95B93-FF92-4B6D-A2E6-74AF1F29C500}"/>
              </a:ext>
            </a:extLst>
          </p:cNvPr>
          <p:cNvSpPr>
            <a:spLocks noGrp="1"/>
          </p:cNvSpPr>
          <p:nvPr/>
        </p:nvSpPr>
        <p:spPr>
          <a:xfrm>
            <a:off x="6656832" y="2670048"/>
            <a:ext cx="4572000" cy="2241319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lnSpc>
                <a:spcPct val="200000"/>
              </a:lnSpc>
              <a:spcAft>
                <a:spcPts val="200"/>
              </a:spcAft>
              <a:buNone/>
              <a:defRPr sz="1300">
                <a:solidFill>
                  <a:srgbClr val="343A40"/>
                </a:solidFill>
                <a:latin typeface="Malgun Gothic"/>
                <a:ea typeface="Malgun Gothic"/>
                <a:cs typeface="Malgun Gothic"/>
              </a:defRPr>
            </a:pPr>
            <a:r>
              <a:rPr sz="1400">
                <a:latin typeface="페이퍼로지 5 Medium"/>
                <a:ea typeface="페이퍼로지 5 Medium"/>
                <a:cs typeface="페이퍼로지 5 Medium"/>
              </a:rPr>
              <a:t>CDS / Behavior / Projection / Service 계층 분리</a:t>
            </a:r>
          </a:p>
          <a:p>
            <a:pPr>
              <a:lnSpc>
                <a:spcPct val="200000"/>
              </a:lnSpc>
              <a:spcAft>
                <a:spcPts val="200"/>
              </a:spcAft>
              <a:buNone/>
              <a:defRPr sz="1300">
                <a:solidFill>
                  <a:srgbClr val="343A40"/>
                </a:solidFill>
                <a:latin typeface="Malgun Gothic"/>
                <a:ea typeface="Malgun Gothic"/>
                <a:cs typeface="Malgun Gothic"/>
              </a:defRPr>
            </a:pPr>
            <a:r>
              <a:rPr sz="1400">
                <a:latin typeface="페이퍼로지 5 Medium"/>
                <a:ea typeface="페이퍼로지 5 Medium"/>
                <a:cs typeface="페이퍼로지 5 Medium"/>
              </a:rPr>
              <a:t>공통 CDS Value Help와 Business Rule 재사용</a:t>
            </a:r>
          </a:p>
          <a:p>
            <a:pPr>
              <a:lnSpc>
                <a:spcPct val="200000"/>
              </a:lnSpc>
              <a:spcAft>
                <a:spcPts val="200"/>
              </a:spcAft>
              <a:buNone/>
              <a:defRPr sz="1300">
                <a:solidFill>
                  <a:srgbClr val="343A40"/>
                </a:solidFill>
                <a:latin typeface="Malgun Gothic"/>
                <a:ea typeface="Malgun Gothic"/>
                <a:cs typeface="Malgun Gothic"/>
              </a:defRPr>
            </a:pPr>
            <a:r>
              <a:rPr sz="1400">
                <a:latin typeface="페이퍼로지 5 Medium"/>
                <a:ea typeface="페이퍼로지 5 Medium"/>
                <a:cs typeface="페이퍼로지 5 Medium"/>
              </a:rPr>
              <a:t>Draft + Validation으로 저장 전 안정성 확보</a:t>
            </a:r>
          </a:p>
          <a:p>
            <a:pPr>
              <a:lnSpc>
                <a:spcPct val="200000"/>
              </a:lnSpc>
              <a:spcAft>
                <a:spcPts val="200"/>
              </a:spcAft>
              <a:buNone/>
              <a:defRPr sz="1300">
                <a:solidFill>
                  <a:srgbClr val="343A40"/>
                </a:solidFill>
                <a:latin typeface="Malgun Gothic"/>
                <a:ea typeface="Malgun Gothic"/>
                <a:cs typeface="Malgun Gothic"/>
              </a:defRPr>
            </a:pPr>
            <a:r>
              <a:rPr sz="1400">
                <a:latin typeface="페이퍼로지 5 Medium"/>
                <a:ea typeface="페이퍼로지 5 Medium"/>
                <a:cs typeface="페이퍼로지 5 Medium"/>
              </a:rPr>
              <a:t>Composition / Association으로 BO 관계 선언</a:t>
            </a:r>
          </a:p>
          <a:p>
            <a:pPr>
              <a:lnSpc>
                <a:spcPct val="200000"/>
              </a:lnSpc>
              <a:spcAft>
                <a:spcPts val="200"/>
              </a:spcAft>
              <a:buNone/>
              <a:defRPr sz="1300">
                <a:solidFill>
                  <a:srgbClr val="343A40"/>
                </a:solidFill>
                <a:latin typeface="Malgun Gothic"/>
                <a:ea typeface="Malgun Gothic"/>
                <a:cs typeface="Malgun Gothic"/>
              </a:defRPr>
            </a:pPr>
            <a:r>
              <a:rPr sz="1400">
                <a:latin typeface="페이퍼로지 5 Medium"/>
                <a:ea typeface="페이퍼로지 5 Medium"/>
                <a:cs typeface="페이퍼로지 5 Medium"/>
              </a:rPr>
              <a:t>Annotation 기반 Fiori Elements로 UI 유지보수 단순화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FC1F88A-37AE-4B19-A5B4-AD9A5625E2D2}"/>
              </a:ext>
            </a:extLst>
          </p:cNvPr>
          <p:cNvSpPr>
            <a:spLocks noGrp="1"/>
          </p:cNvSpPr>
          <p:nvPr/>
        </p:nvSpPr>
        <p:spPr>
          <a:xfrm>
            <a:off x="5468112" y="3337560"/>
            <a:ext cx="822960" cy="896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200000"/>
              </a:lnSpc>
              <a:buNone/>
            </a:pPr>
            <a:r>
              <a:rPr sz="3200" b="1">
                <a:solidFill>
                  <a:srgbClr val="15A9E0"/>
                </a:solidFill>
                <a:latin typeface="페이퍼로지 5 Medium"/>
                <a:ea typeface="페이퍼로지 5 Medium"/>
                <a:cs typeface="페이퍼로지 5 Medium"/>
              </a:rPr>
              <a:t>→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6351847-3F18-464D-A12F-7864CC7341AB}"/>
              </a:ext>
            </a:extLst>
          </p:cNvPr>
          <p:cNvSpPr>
            <a:spLocks noGrp="1"/>
          </p:cNvSpPr>
          <p:nvPr/>
        </p:nvSpPr>
        <p:spPr>
          <a:xfrm>
            <a:off x="987552" y="6153912"/>
            <a:ext cx="10241280" cy="27392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buNone/>
            </a:pPr>
            <a:r>
              <a:rPr sz="1300" b="1" dirty="0" err="1">
                <a:solidFill>
                  <a:srgbClr val="2466D2"/>
                </a:solidFill>
                <a:latin typeface="페이퍼로지 5 Medium"/>
                <a:ea typeface="페이퍼로지 5 Medium"/>
                <a:cs typeface="페이퍼로지 5 Medium"/>
              </a:rPr>
              <a:t>핵심</a:t>
            </a:r>
            <a:r>
              <a:rPr sz="1300" b="1" dirty="0">
                <a:solidFill>
                  <a:srgbClr val="2466D2"/>
                </a:solidFill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sz="1300" b="1" dirty="0" err="1">
                <a:solidFill>
                  <a:srgbClr val="2466D2"/>
                </a:solidFill>
                <a:latin typeface="페이퍼로지 5 Medium"/>
                <a:ea typeface="페이퍼로지 5 Medium"/>
                <a:cs typeface="페이퍼로지 5 Medium"/>
              </a:rPr>
              <a:t>개선</a:t>
            </a:r>
            <a:r>
              <a:rPr sz="1300" b="1" dirty="0">
                <a:solidFill>
                  <a:srgbClr val="2466D2"/>
                </a:solidFill>
                <a:latin typeface="페이퍼로지 5 Medium"/>
                <a:ea typeface="페이퍼로지 5 Medium"/>
                <a:cs typeface="페이퍼로지 5 Medium"/>
              </a:rPr>
              <a:t>  |  </a:t>
            </a:r>
            <a:r>
              <a:rPr sz="1300" b="1" dirty="0" err="1">
                <a:solidFill>
                  <a:srgbClr val="2466D2"/>
                </a:solidFill>
                <a:latin typeface="페이퍼로지 5 Medium"/>
                <a:ea typeface="페이퍼로지 5 Medium"/>
                <a:cs typeface="페이퍼로지 5 Medium"/>
              </a:rPr>
              <a:t>중복</a:t>
            </a:r>
            <a:r>
              <a:rPr sz="1300" b="1" dirty="0">
                <a:solidFill>
                  <a:srgbClr val="2466D2"/>
                </a:solidFill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sz="1300" b="1" dirty="0" err="1">
                <a:solidFill>
                  <a:srgbClr val="2466D2"/>
                </a:solidFill>
                <a:latin typeface="페이퍼로지 5 Medium"/>
                <a:ea typeface="페이퍼로지 5 Medium"/>
                <a:cs typeface="페이퍼로지 5 Medium"/>
              </a:rPr>
              <a:t>개발</a:t>
            </a:r>
            <a:r>
              <a:rPr sz="1300" b="1" dirty="0">
                <a:solidFill>
                  <a:srgbClr val="2466D2"/>
                </a:solidFill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sz="1300" b="1" dirty="0" err="1">
                <a:solidFill>
                  <a:srgbClr val="2466D2"/>
                </a:solidFill>
                <a:latin typeface="페이퍼로지 5 Medium"/>
                <a:ea typeface="페이퍼로지 5 Medium"/>
                <a:cs typeface="페이퍼로지 5 Medium"/>
              </a:rPr>
              <a:t>감소</a:t>
            </a:r>
            <a:r>
              <a:rPr sz="1300" b="1" dirty="0">
                <a:solidFill>
                  <a:srgbClr val="2466D2"/>
                </a:solidFill>
                <a:latin typeface="페이퍼로지 5 Medium"/>
                <a:ea typeface="페이퍼로지 5 Medium"/>
                <a:cs typeface="페이퍼로지 5 Medium"/>
              </a:rPr>
              <a:t> · </a:t>
            </a:r>
            <a:r>
              <a:rPr sz="1300" b="1" dirty="0" err="1">
                <a:solidFill>
                  <a:srgbClr val="2466D2"/>
                </a:solidFill>
                <a:latin typeface="페이퍼로지 5 Medium"/>
                <a:ea typeface="페이퍼로지 5 Medium"/>
                <a:cs typeface="페이퍼로지 5 Medium"/>
              </a:rPr>
              <a:t>데이터</a:t>
            </a:r>
            <a:r>
              <a:rPr sz="1300" b="1" dirty="0">
                <a:solidFill>
                  <a:srgbClr val="2466D2"/>
                </a:solidFill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sz="1300" b="1" dirty="0" err="1">
                <a:solidFill>
                  <a:srgbClr val="2466D2"/>
                </a:solidFill>
                <a:latin typeface="페이퍼로지 5 Medium"/>
                <a:ea typeface="페이퍼로지 5 Medium"/>
                <a:cs typeface="페이퍼로지 5 Medium"/>
              </a:rPr>
              <a:t>정합성</a:t>
            </a:r>
            <a:r>
              <a:rPr sz="1300" b="1" dirty="0">
                <a:solidFill>
                  <a:srgbClr val="2466D2"/>
                </a:solidFill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sz="1300" b="1" dirty="0" err="1">
                <a:solidFill>
                  <a:srgbClr val="2466D2"/>
                </a:solidFill>
                <a:latin typeface="페이퍼로지 5 Medium"/>
                <a:ea typeface="페이퍼로지 5 Medium"/>
                <a:cs typeface="페이퍼로지 5 Medium"/>
              </a:rPr>
              <a:t>강화</a:t>
            </a:r>
            <a:r>
              <a:rPr sz="1300" b="1" dirty="0">
                <a:solidFill>
                  <a:srgbClr val="2466D2"/>
                </a:solidFill>
                <a:latin typeface="페이퍼로지 5 Medium"/>
                <a:ea typeface="페이퍼로지 5 Medium"/>
                <a:cs typeface="페이퍼로지 5 Medium"/>
              </a:rPr>
              <a:t> · </a:t>
            </a:r>
            <a:r>
              <a:rPr sz="1300" b="1" dirty="0" err="1">
                <a:solidFill>
                  <a:srgbClr val="2466D2"/>
                </a:solidFill>
                <a:latin typeface="페이퍼로지 5 Medium"/>
                <a:ea typeface="페이퍼로지 5 Medium"/>
                <a:cs typeface="페이퍼로지 5 Medium"/>
              </a:rPr>
              <a:t>확장성</a:t>
            </a:r>
            <a:r>
              <a:rPr sz="1300" b="1" dirty="0">
                <a:solidFill>
                  <a:srgbClr val="2466D2"/>
                </a:solidFill>
                <a:latin typeface="페이퍼로지 5 Medium"/>
                <a:ea typeface="페이퍼로지 5 Medium"/>
                <a:cs typeface="페이퍼로지 5 Medium"/>
              </a:rPr>
              <a:t>/</a:t>
            </a:r>
            <a:r>
              <a:rPr sz="1300" b="1" dirty="0" err="1">
                <a:solidFill>
                  <a:srgbClr val="2466D2"/>
                </a:solidFill>
                <a:latin typeface="페이퍼로지 5 Medium"/>
                <a:ea typeface="페이퍼로지 5 Medium"/>
                <a:cs typeface="페이퍼로지 5 Medium"/>
              </a:rPr>
              <a:t>유지보수성</a:t>
            </a:r>
            <a:r>
              <a:rPr sz="1300" b="1" dirty="0">
                <a:solidFill>
                  <a:srgbClr val="2466D2"/>
                </a:solidFill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sz="1300" b="1" dirty="0" err="1">
                <a:solidFill>
                  <a:srgbClr val="2466D2"/>
                </a:solidFill>
                <a:latin typeface="페이퍼로지 5 Medium"/>
                <a:ea typeface="페이퍼로지 5 Medium"/>
                <a:cs typeface="페이퍼로지 5 Medium"/>
              </a:rPr>
              <a:t>향상</a:t>
            </a:r>
            <a:r>
              <a:rPr sz="1300" b="1" dirty="0">
                <a:solidFill>
                  <a:srgbClr val="2466D2"/>
                </a:solidFill>
                <a:latin typeface="페이퍼로지 5 Medium"/>
                <a:ea typeface="페이퍼로지 5 Medium"/>
                <a:cs typeface="페이퍼로지 5 Medium"/>
              </a:rPr>
              <a:t> · </a:t>
            </a:r>
            <a:r>
              <a:rPr sz="1300" b="1" dirty="0" err="1">
                <a:solidFill>
                  <a:srgbClr val="2466D2"/>
                </a:solidFill>
                <a:latin typeface="페이퍼로지 5 Medium"/>
                <a:ea typeface="페이퍼로지 5 Medium"/>
                <a:cs typeface="페이퍼로지 5 Medium"/>
              </a:rPr>
              <a:t>사용자</a:t>
            </a:r>
            <a:r>
              <a:rPr sz="1300" b="1" dirty="0">
                <a:solidFill>
                  <a:srgbClr val="2466D2"/>
                </a:solidFill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sz="1300" b="1" dirty="0" err="1">
                <a:solidFill>
                  <a:srgbClr val="2466D2"/>
                </a:solidFill>
                <a:latin typeface="페이퍼로지 5 Medium"/>
                <a:ea typeface="페이퍼로지 5 Medium"/>
                <a:cs typeface="페이퍼로지 5 Medium"/>
              </a:rPr>
              <a:t>입력</a:t>
            </a:r>
            <a:r>
              <a:rPr sz="1300" b="1" dirty="0">
                <a:solidFill>
                  <a:srgbClr val="2466D2"/>
                </a:solidFill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sz="1300" b="1" dirty="0" err="1">
                <a:solidFill>
                  <a:srgbClr val="2466D2"/>
                </a:solidFill>
                <a:latin typeface="페이퍼로지 5 Medium"/>
                <a:ea typeface="페이퍼로지 5 Medium"/>
                <a:cs typeface="페이퍼로지 5 Medium"/>
              </a:rPr>
              <a:t>부담</a:t>
            </a:r>
            <a:r>
              <a:rPr sz="1300" b="1" dirty="0">
                <a:solidFill>
                  <a:srgbClr val="2466D2"/>
                </a:solidFill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sz="1300" b="1" dirty="0" err="1">
                <a:solidFill>
                  <a:srgbClr val="2466D2"/>
                </a:solidFill>
                <a:latin typeface="페이퍼로지 5 Medium"/>
                <a:ea typeface="페이퍼로지 5 Medium"/>
                <a:cs typeface="페이퍼로지 5 Medium"/>
              </a:rPr>
              <a:t>감소</a:t>
            </a:r>
            <a:endParaRPr sz="1300" b="1" dirty="0">
              <a:solidFill>
                <a:srgbClr val="2466D2"/>
              </a:solidFill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2585398-97FE-4F78-AFFE-C11922107FE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EF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8A5E1B-8D32-45CA-995F-A89A63ADD29E}"/>
              </a:ext>
            </a:extLst>
          </p:cNvPr>
          <p:cNvSpPr>
            <a:spLocks noGrp="1"/>
          </p:cNvSpPr>
          <p:nvPr/>
        </p:nvSpPr>
        <p:spPr>
          <a:xfrm>
            <a:off x="0" y="804672"/>
            <a:ext cx="11292840" cy="32004"/>
          </a:xfrm>
          <a:prstGeom prst="rect">
            <a:avLst/>
          </a:prstGeom>
          <a:solidFill>
            <a:srgbClr val="CDD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413FD8D-B9E4-47B6-89A7-53B2B84F74B1}"/>
              </a:ext>
            </a:extLst>
          </p:cNvPr>
          <p:cNvSpPr>
            <a:spLocks noGrp="1"/>
          </p:cNvSpPr>
          <p:nvPr/>
        </p:nvSpPr>
        <p:spPr>
          <a:xfrm>
            <a:off x="0" y="786384"/>
            <a:ext cx="4297680" cy="64008"/>
          </a:xfrm>
          <a:prstGeom prst="rect">
            <a:avLst/>
          </a:prstGeom>
          <a:solidFill>
            <a:srgbClr val="15A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38077C3-1741-42D3-86B7-E16943A4B521}"/>
              </a:ext>
            </a:extLst>
          </p:cNvPr>
          <p:cNvSpPr>
            <a:spLocks noGrp="1"/>
          </p:cNvSpPr>
          <p:nvPr/>
        </p:nvSpPr>
        <p:spPr>
          <a:xfrm>
            <a:off x="361950" y="123825"/>
            <a:ext cx="11239500" cy="590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925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000000"/>
                </a:solidFill>
                <a:latin typeface="페이퍼로지 5 Medium"/>
                <a:ea typeface="페이퍼로지 5 Medium"/>
                <a:cs typeface="페이퍼로지 5 Medium"/>
              </a:rPr>
              <a:t>03. Classic ABAP에서 RAP로 전환</a:t>
            </a:r>
          </a:p>
        </p:txBody>
      </p:sp>
    </p:spTree>
    <p:extLst>
      <p:ext uri="{BB962C8B-B14F-4D97-AF65-F5344CB8AC3E}">
        <p14:creationId xmlns:p14="http://schemas.microsoft.com/office/powerpoint/2010/main" val="8294086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AFD0AD3-A734-4000-B07F-77023029FD92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10858500" cy="438150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875" b="1">
                <a:solidFill>
                  <a:srgbClr val="1C355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C3557"/>
                </a:solidFill>
                <a:latin typeface="페이퍼로지 5 Medium"/>
                <a:ea typeface="페이퍼로지 5 Medium"/>
                <a:cs typeface="페이퍼로지 5 Medium"/>
              </a:rPr>
              <a:t>Table부터 Service Binding까지 업무별 Business Object 계층을 분리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CF0B060-9687-4A3E-9220-2217698B1190}"/>
              </a:ext>
            </a:extLst>
          </p:cNvPr>
          <p:cNvSpPr>
            <a:spLocks noGrp="1"/>
          </p:cNvSpPr>
          <p:nvPr/>
        </p:nvSpPr>
        <p:spPr>
          <a:xfrm>
            <a:off x="594360" y="2011680"/>
            <a:ext cx="19659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000"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213247A-35B9-49EF-9750-D6DBDE622B00}"/>
              </a:ext>
            </a:extLst>
          </p:cNvPr>
          <p:cNvSpPr>
            <a:spLocks noGrp="1"/>
          </p:cNvSpPr>
          <p:nvPr/>
        </p:nvSpPr>
        <p:spPr>
          <a:xfrm>
            <a:off x="740664" y="2167128"/>
            <a:ext cx="1673352" cy="292608"/>
          </a:xfrm>
          <a:prstGeom prst="roundRect">
            <a:avLst/>
          </a:prstGeom>
          <a:solidFill>
            <a:srgbClr val="246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050" b="1">
                <a:solidFill>
                  <a:srgbClr val="FFFFFF"/>
                </a:solidFill>
                <a:latin typeface="페이퍼로지 5 Medium"/>
                <a:ea typeface="페이퍼로지 5 Medium"/>
                <a:cs typeface="페이퍼로지 5 Medium"/>
              </a:rPr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ED9469-7DDF-4D74-A1B4-7B2183A9EC0C}"/>
              </a:ext>
            </a:extLst>
          </p:cNvPr>
          <p:cNvSpPr>
            <a:spLocks noGrp="1"/>
          </p:cNvSpPr>
          <p:nvPr/>
        </p:nvSpPr>
        <p:spPr>
          <a:xfrm>
            <a:off x="749808" y="2532888"/>
            <a:ext cx="1664208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buNone/>
            </a:pPr>
            <a:r>
              <a:rPr sz="1400" b="1">
                <a:solidFill>
                  <a:srgbClr val="192D46"/>
                </a:solidFill>
                <a:latin typeface="페이퍼로지 5 Medium"/>
                <a:ea typeface="페이퍼로지 5 Medium"/>
                <a:cs typeface="페이퍼로지 5 Medium"/>
              </a:rPr>
              <a:t>DB Table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B06562-170A-4C1F-A098-1BE63DDCC841}"/>
              </a:ext>
            </a:extLst>
          </p:cNvPr>
          <p:cNvSpPr>
            <a:spLocks noGrp="1"/>
          </p:cNvSpPr>
          <p:nvPr/>
        </p:nvSpPr>
        <p:spPr>
          <a:xfrm>
            <a:off x="749808" y="2834640"/>
            <a:ext cx="1664208" cy="23544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buNone/>
            </a:pPr>
            <a:r>
              <a:rPr sz="1050" b="1">
                <a:solidFill>
                  <a:srgbClr val="2466D2"/>
                </a:solidFill>
                <a:latin typeface="페이퍼로지 5 Medium"/>
                <a:ea typeface="페이퍼로지 5 Medium"/>
                <a:cs typeface="페이퍼로지 5 Medium"/>
              </a:rPr>
              <a:t>ZTB28*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04EE78-A908-4AD8-8373-58FA9445313B}"/>
              </a:ext>
            </a:extLst>
          </p:cNvPr>
          <p:cNvSpPr>
            <a:spLocks noGrp="1"/>
          </p:cNvSpPr>
          <p:nvPr/>
        </p:nvSpPr>
        <p:spPr>
          <a:xfrm>
            <a:off x="722376" y="3090672"/>
            <a:ext cx="1719072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buNone/>
            </a:pPr>
            <a:r>
              <a:rPr sz="1000" b="0">
                <a:solidFill>
                  <a:srgbClr val="666E76"/>
                </a:solidFill>
                <a:latin typeface="페이퍼로지 5 Medium"/>
                <a:ea typeface="페이퍼로지 5 Medium"/>
                <a:cs typeface="페이퍼로지 5 Medium"/>
              </a:rPr>
              <a:t>업무 데이터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BEA8C4-F9DC-49D6-BDF2-A6FF98BF7501}"/>
              </a:ext>
            </a:extLst>
          </p:cNvPr>
          <p:cNvSpPr>
            <a:spLocks noGrp="1"/>
          </p:cNvSpPr>
          <p:nvPr/>
        </p:nvSpPr>
        <p:spPr>
          <a:xfrm>
            <a:off x="2560320" y="2432304"/>
            <a:ext cx="347472" cy="44319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buNone/>
            </a:pPr>
            <a:r>
              <a:rPr sz="2400" b="1">
                <a:solidFill>
                  <a:srgbClr val="15A9E0"/>
                </a:solidFill>
                <a:latin typeface="페이퍼로지 5 Medium"/>
                <a:ea typeface="페이퍼로지 5 Medium"/>
                <a:cs typeface="페이퍼로지 5 Medium"/>
              </a:rPr>
              <a:t>→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F14875D-5D2A-4CAD-A901-1158189BCD8F}"/>
              </a:ext>
            </a:extLst>
          </p:cNvPr>
          <p:cNvSpPr>
            <a:spLocks noGrp="1"/>
          </p:cNvSpPr>
          <p:nvPr/>
        </p:nvSpPr>
        <p:spPr>
          <a:xfrm>
            <a:off x="2898648" y="2011680"/>
            <a:ext cx="19659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000"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49ADAA5-E3B7-4282-A8A1-B5B0B6D1D056}"/>
              </a:ext>
            </a:extLst>
          </p:cNvPr>
          <p:cNvSpPr>
            <a:spLocks noGrp="1"/>
          </p:cNvSpPr>
          <p:nvPr/>
        </p:nvSpPr>
        <p:spPr>
          <a:xfrm>
            <a:off x="3044952" y="2167128"/>
            <a:ext cx="1673352" cy="292608"/>
          </a:xfrm>
          <a:prstGeom prst="roundRect">
            <a:avLst/>
          </a:prstGeom>
          <a:solidFill>
            <a:srgbClr val="246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050" b="1">
                <a:solidFill>
                  <a:srgbClr val="FFFFFF"/>
                </a:solidFill>
                <a:latin typeface="페이퍼로지 5 Medium"/>
                <a:ea typeface="페이퍼로지 5 Medium"/>
                <a:cs typeface="페이퍼로지 5 Medium"/>
              </a:rPr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F9BB466-6BA1-4BE1-8731-D958A153DE23}"/>
              </a:ext>
            </a:extLst>
          </p:cNvPr>
          <p:cNvSpPr>
            <a:spLocks noGrp="1"/>
          </p:cNvSpPr>
          <p:nvPr/>
        </p:nvSpPr>
        <p:spPr>
          <a:xfrm>
            <a:off x="3057525" y="2533650"/>
            <a:ext cx="1657350" cy="278892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350" b="1">
                <a:solidFill>
                  <a:srgbClr val="1C3557"/>
                </a:solidFill>
                <a:latin typeface="Malgun Gothic"/>
                <a:ea typeface="Malgun Gothic"/>
                <a:cs typeface="Malgun Gothic"/>
              </a:defRPr>
            </a:pPr>
            <a:r>
              <a:rPr sz="1400" b="1">
                <a:solidFill>
                  <a:srgbClr val="1C3557"/>
                </a:solidFill>
                <a:latin typeface="페이퍼로지 5 Medium"/>
                <a:ea typeface="페이퍼로지 5 Medium"/>
                <a:cs typeface="페이퍼로지 5 Medium"/>
              </a:rPr>
              <a:t>Root / Interface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AEFDEED-6226-405C-BD3E-CA673F0637AF}"/>
              </a:ext>
            </a:extLst>
          </p:cNvPr>
          <p:cNvSpPr>
            <a:spLocks noGrp="1"/>
          </p:cNvSpPr>
          <p:nvPr/>
        </p:nvSpPr>
        <p:spPr>
          <a:xfrm>
            <a:off x="3057525" y="2838450"/>
            <a:ext cx="1657350" cy="244602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125" b="1">
                <a:solidFill>
                  <a:srgbClr val="2768D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768D5"/>
                </a:solidFill>
                <a:latin typeface="페이퍼로지 5 Medium"/>
                <a:ea typeface="페이퍼로지 5 Medium"/>
                <a:cs typeface="페이퍼로지 5 Medium"/>
              </a:rPr>
              <a:t>CDS · ZR / ZI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A66D6D-F2C9-48EB-A636-E248A2118AE2}"/>
              </a:ext>
            </a:extLst>
          </p:cNvPr>
          <p:cNvSpPr>
            <a:spLocks noGrp="1"/>
          </p:cNvSpPr>
          <p:nvPr/>
        </p:nvSpPr>
        <p:spPr>
          <a:xfrm>
            <a:off x="3026664" y="3090672"/>
            <a:ext cx="1719072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buNone/>
            </a:pPr>
            <a:r>
              <a:rPr sz="1000" b="0">
                <a:solidFill>
                  <a:srgbClr val="666E76"/>
                </a:solidFill>
                <a:latin typeface="페이퍼로지 5 Medium"/>
                <a:ea typeface="페이퍼로지 5 Medium"/>
                <a:cs typeface="페이퍼로지 5 Medium"/>
              </a:rPr>
              <a:t>관계·의미 모델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63BD596-0359-48D5-8E35-FE47CA16AF0C}"/>
              </a:ext>
            </a:extLst>
          </p:cNvPr>
          <p:cNvSpPr>
            <a:spLocks noGrp="1"/>
          </p:cNvSpPr>
          <p:nvPr/>
        </p:nvSpPr>
        <p:spPr>
          <a:xfrm>
            <a:off x="4864608" y="2432304"/>
            <a:ext cx="347472" cy="44319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buNone/>
            </a:pPr>
            <a:r>
              <a:rPr sz="2400" b="1">
                <a:solidFill>
                  <a:srgbClr val="15A9E0"/>
                </a:solidFill>
                <a:latin typeface="페이퍼로지 5 Medium"/>
                <a:ea typeface="페이퍼로지 5 Medium"/>
                <a:cs typeface="페이퍼로지 5 Medium"/>
              </a:rPr>
              <a:t>→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33A38CF-EAAA-4F4E-B03E-6ECA70B628C7}"/>
              </a:ext>
            </a:extLst>
          </p:cNvPr>
          <p:cNvSpPr>
            <a:spLocks noGrp="1"/>
          </p:cNvSpPr>
          <p:nvPr/>
        </p:nvSpPr>
        <p:spPr>
          <a:xfrm>
            <a:off x="5202936" y="2011680"/>
            <a:ext cx="19659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000"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8CB256CB-B751-4384-B1BF-4827A9550ACE}"/>
              </a:ext>
            </a:extLst>
          </p:cNvPr>
          <p:cNvSpPr>
            <a:spLocks noGrp="1"/>
          </p:cNvSpPr>
          <p:nvPr/>
        </p:nvSpPr>
        <p:spPr>
          <a:xfrm>
            <a:off x="5349240" y="2167128"/>
            <a:ext cx="1673352" cy="292608"/>
          </a:xfrm>
          <a:prstGeom prst="roundRect">
            <a:avLst/>
          </a:prstGeom>
          <a:solidFill>
            <a:srgbClr val="246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050" b="1">
                <a:solidFill>
                  <a:srgbClr val="FFFFFF"/>
                </a:solidFill>
                <a:latin typeface="페이퍼로지 5 Medium"/>
                <a:ea typeface="페이퍼로지 5 Medium"/>
                <a:cs typeface="페이퍼로지 5 Medium"/>
              </a:rPr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42D2D43-8F8F-4E59-B844-8772CE64B84B}"/>
              </a:ext>
            </a:extLst>
          </p:cNvPr>
          <p:cNvSpPr>
            <a:spLocks noGrp="1"/>
          </p:cNvSpPr>
          <p:nvPr/>
        </p:nvSpPr>
        <p:spPr>
          <a:xfrm>
            <a:off x="5358384" y="2532888"/>
            <a:ext cx="1664208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buNone/>
            </a:pPr>
            <a:r>
              <a:rPr sz="1400" b="1">
                <a:solidFill>
                  <a:srgbClr val="192D46"/>
                </a:solidFill>
                <a:latin typeface="페이퍼로지 5 Medium"/>
                <a:ea typeface="페이퍼로지 5 Medium"/>
                <a:cs typeface="페이퍼로지 5 Medium"/>
              </a:rPr>
              <a:t>Behavior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4CF1CF9-E17A-4939-B735-8D71CF61F304}"/>
              </a:ext>
            </a:extLst>
          </p:cNvPr>
          <p:cNvSpPr>
            <a:spLocks noGrp="1"/>
          </p:cNvSpPr>
          <p:nvPr/>
        </p:nvSpPr>
        <p:spPr>
          <a:xfrm>
            <a:off x="5358384" y="2834640"/>
            <a:ext cx="1664208" cy="23544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buNone/>
            </a:pPr>
            <a:r>
              <a:rPr sz="1050" b="1">
                <a:solidFill>
                  <a:srgbClr val="2466D2"/>
                </a:solidFill>
                <a:latin typeface="페이퍼로지 5 Medium"/>
                <a:ea typeface="페이퍼로지 5 Medium"/>
                <a:cs typeface="페이퍼로지 5 Medium"/>
              </a:rPr>
              <a:t>BDEF / BIMP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E7B7EE6-B98D-4A6A-B100-DDF4113587F4}"/>
              </a:ext>
            </a:extLst>
          </p:cNvPr>
          <p:cNvSpPr>
            <a:spLocks noGrp="1"/>
          </p:cNvSpPr>
          <p:nvPr/>
        </p:nvSpPr>
        <p:spPr>
          <a:xfrm>
            <a:off x="5330952" y="3090672"/>
            <a:ext cx="1719072" cy="3816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buNone/>
            </a:pPr>
            <a:r>
              <a:rPr sz="1000" b="0">
                <a:solidFill>
                  <a:srgbClr val="666E76"/>
                </a:solidFill>
                <a:latin typeface="페이퍼로지 5 Medium"/>
                <a:ea typeface="페이퍼로지 5 Medium"/>
                <a:cs typeface="페이퍼로지 5 Medium"/>
              </a:rPr>
              <a:t>Validation · Determination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2C27D7B-3BE6-4E14-ABED-157B40B01284}"/>
              </a:ext>
            </a:extLst>
          </p:cNvPr>
          <p:cNvSpPr>
            <a:spLocks noGrp="1"/>
          </p:cNvSpPr>
          <p:nvPr/>
        </p:nvSpPr>
        <p:spPr>
          <a:xfrm>
            <a:off x="7168896" y="2432304"/>
            <a:ext cx="347472" cy="44319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buNone/>
            </a:pPr>
            <a:r>
              <a:rPr sz="2400" b="1">
                <a:solidFill>
                  <a:srgbClr val="15A9E0"/>
                </a:solidFill>
                <a:latin typeface="페이퍼로지 5 Medium"/>
                <a:ea typeface="페이퍼로지 5 Medium"/>
                <a:cs typeface="페이퍼로지 5 Medium"/>
              </a:rPr>
              <a:t>→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15439BD5-17BA-46AC-8B63-98C33C904E0A}"/>
              </a:ext>
            </a:extLst>
          </p:cNvPr>
          <p:cNvSpPr>
            <a:spLocks noGrp="1"/>
          </p:cNvSpPr>
          <p:nvPr/>
        </p:nvSpPr>
        <p:spPr>
          <a:xfrm>
            <a:off x="7507224" y="2011680"/>
            <a:ext cx="19659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000"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96CF7A71-B3E1-484A-9CE8-3A52DFC6FDCD}"/>
              </a:ext>
            </a:extLst>
          </p:cNvPr>
          <p:cNvSpPr>
            <a:spLocks noGrp="1"/>
          </p:cNvSpPr>
          <p:nvPr/>
        </p:nvSpPr>
        <p:spPr>
          <a:xfrm>
            <a:off x="7653528" y="2167128"/>
            <a:ext cx="1673352" cy="292608"/>
          </a:xfrm>
          <a:prstGeom prst="roundRect">
            <a:avLst/>
          </a:prstGeom>
          <a:solidFill>
            <a:srgbClr val="246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050" b="1">
                <a:solidFill>
                  <a:srgbClr val="FFFFFF"/>
                </a:solidFill>
                <a:latin typeface="페이퍼로지 5 Medium"/>
                <a:ea typeface="페이퍼로지 5 Medium"/>
                <a:cs typeface="페이퍼로지 5 Medium"/>
              </a:rPr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80C7BAE-18D1-448A-8BCC-D509618FD2EE}"/>
              </a:ext>
            </a:extLst>
          </p:cNvPr>
          <p:cNvSpPr>
            <a:spLocks noGrp="1"/>
          </p:cNvSpPr>
          <p:nvPr/>
        </p:nvSpPr>
        <p:spPr>
          <a:xfrm>
            <a:off x="7662672" y="2532888"/>
            <a:ext cx="1664208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buNone/>
            </a:pPr>
            <a:r>
              <a:rPr sz="1400" b="1">
                <a:solidFill>
                  <a:srgbClr val="192D46"/>
                </a:solidFill>
                <a:latin typeface="페이퍼로지 5 Medium"/>
                <a:ea typeface="페이퍼로지 5 Medium"/>
                <a:cs typeface="페이퍼로지 5 Medium"/>
              </a:rPr>
              <a:t>Projection CDS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83C97E0-FD82-4DC7-8FD0-25054B1E2E7D}"/>
              </a:ext>
            </a:extLst>
          </p:cNvPr>
          <p:cNvSpPr>
            <a:spLocks noGrp="1"/>
          </p:cNvSpPr>
          <p:nvPr/>
        </p:nvSpPr>
        <p:spPr>
          <a:xfrm>
            <a:off x="7662672" y="2834640"/>
            <a:ext cx="1664208" cy="23544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buNone/>
            </a:pPr>
            <a:r>
              <a:rPr sz="1050" b="1">
                <a:solidFill>
                  <a:srgbClr val="2466D2"/>
                </a:solidFill>
                <a:latin typeface="페이퍼로지 5 Medium"/>
                <a:ea typeface="페이퍼로지 5 Medium"/>
                <a:cs typeface="페이퍼로지 5 Medium"/>
              </a:rPr>
              <a:t>ZC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65ECFF1-6B3C-41CF-93CA-CF9D8E177490}"/>
              </a:ext>
            </a:extLst>
          </p:cNvPr>
          <p:cNvSpPr>
            <a:spLocks noGrp="1"/>
          </p:cNvSpPr>
          <p:nvPr/>
        </p:nvSpPr>
        <p:spPr>
          <a:xfrm>
            <a:off x="7635240" y="3090672"/>
            <a:ext cx="1719072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buNone/>
            </a:pPr>
            <a:r>
              <a:rPr sz="1000" b="0">
                <a:solidFill>
                  <a:srgbClr val="666E76"/>
                </a:solidFill>
                <a:latin typeface="페이퍼로지 5 Medium"/>
                <a:ea typeface="페이퍼로지 5 Medium"/>
                <a:cs typeface="페이퍼로지 5 Medium"/>
              </a:rPr>
              <a:t>서비스 노출 모델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B3958BB-35E0-43AD-8F42-86B6E6B21A2B}"/>
              </a:ext>
            </a:extLst>
          </p:cNvPr>
          <p:cNvSpPr>
            <a:spLocks noGrp="1"/>
          </p:cNvSpPr>
          <p:nvPr/>
        </p:nvSpPr>
        <p:spPr>
          <a:xfrm>
            <a:off x="9473184" y="2432304"/>
            <a:ext cx="347472" cy="44319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buNone/>
            </a:pPr>
            <a:r>
              <a:rPr sz="2400" b="1">
                <a:solidFill>
                  <a:srgbClr val="15A9E0"/>
                </a:solidFill>
                <a:latin typeface="페이퍼로지 5 Medium"/>
                <a:ea typeface="페이퍼로지 5 Medium"/>
                <a:cs typeface="페이퍼로지 5 Medium"/>
              </a:rPr>
              <a:t>→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DF32572E-E11E-4B71-AD3A-C5BA5BBF5C0A}"/>
              </a:ext>
            </a:extLst>
          </p:cNvPr>
          <p:cNvSpPr>
            <a:spLocks noGrp="1"/>
          </p:cNvSpPr>
          <p:nvPr/>
        </p:nvSpPr>
        <p:spPr>
          <a:xfrm>
            <a:off x="9811512" y="2011680"/>
            <a:ext cx="19659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000"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B1DD72D3-EA75-4D0B-9C25-0F1BC336B92D}"/>
              </a:ext>
            </a:extLst>
          </p:cNvPr>
          <p:cNvSpPr>
            <a:spLocks noGrp="1"/>
          </p:cNvSpPr>
          <p:nvPr/>
        </p:nvSpPr>
        <p:spPr>
          <a:xfrm>
            <a:off x="9957816" y="2167128"/>
            <a:ext cx="1673352" cy="292608"/>
          </a:xfrm>
          <a:prstGeom prst="roundRect">
            <a:avLst/>
          </a:prstGeom>
          <a:solidFill>
            <a:srgbClr val="246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050" b="1">
                <a:solidFill>
                  <a:srgbClr val="FFFFFF"/>
                </a:solidFill>
                <a:latin typeface="페이퍼로지 5 Medium"/>
                <a:ea typeface="페이퍼로지 5 Medium"/>
                <a:cs typeface="페이퍼로지 5 Medium"/>
              </a:rPr>
              <a:t>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2F0718B-18FF-4933-9EDD-CA9AD0125141}"/>
              </a:ext>
            </a:extLst>
          </p:cNvPr>
          <p:cNvSpPr>
            <a:spLocks noGrp="1"/>
          </p:cNvSpPr>
          <p:nvPr/>
        </p:nvSpPr>
        <p:spPr>
          <a:xfrm>
            <a:off x="9966960" y="2532888"/>
            <a:ext cx="1664208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buNone/>
            </a:pPr>
            <a:r>
              <a:rPr sz="1400" b="1">
                <a:solidFill>
                  <a:srgbClr val="192D46"/>
                </a:solidFill>
                <a:latin typeface="페이퍼로지 5 Medium"/>
                <a:ea typeface="페이퍼로지 5 Medium"/>
                <a:cs typeface="페이퍼로지 5 Medium"/>
              </a:rPr>
              <a:t>Service Binding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418B031-8013-4FAF-98B6-AE850B0EA765}"/>
              </a:ext>
            </a:extLst>
          </p:cNvPr>
          <p:cNvSpPr>
            <a:spLocks noGrp="1"/>
          </p:cNvSpPr>
          <p:nvPr/>
        </p:nvSpPr>
        <p:spPr>
          <a:xfrm>
            <a:off x="9966960" y="2834640"/>
            <a:ext cx="1664208" cy="23544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buNone/>
            </a:pPr>
            <a:r>
              <a:rPr sz="1050" b="1">
                <a:solidFill>
                  <a:srgbClr val="2466D2"/>
                </a:solidFill>
                <a:latin typeface="페이퍼로지 5 Medium"/>
                <a:ea typeface="페이퍼로지 5 Medium"/>
                <a:cs typeface="페이퍼로지 5 Medium"/>
              </a:rPr>
              <a:t>OData V4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D03D181-3CFC-4CEE-BB71-DA022D2D3E46}"/>
              </a:ext>
            </a:extLst>
          </p:cNvPr>
          <p:cNvSpPr>
            <a:spLocks noGrp="1"/>
          </p:cNvSpPr>
          <p:nvPr/>
        </p:nvSpPr>
        <p:spPr>
          <a:xfrm>
            <a:off x="9939528" y="3090672"/>
            <a:ext cx="1719072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buNone/>
            </a:pPr>
            <a:r>
              <a:rPr sz="1000" b="0">
                <a:solidFill>
                  <a:srgbClr val="666E76"/>
                </a:solidFill>
                <a:latin typeface="페이퍼로지 5 Medium"/>
                <a:ea typeface="페이퍼로지 5 Medium"/>
                <a:cs typeface="페이퍼로지 5 Medium"/>
              </a:rPr>
              <a:t>Fiori Elements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9FAE616A-6C6B-4956-8D0C-A28F781EE406}"/>
              </a:ext>
            </a:extLst>
          </p:cNvPr>
          <p:cNvSpPr>
            <a:spLocks noGrp="1"/>
          </p:cNvSpPr>
          <p:nvPr/>
        </p:nvSpPr>
        <p:spPr>
          <a:xfrm>
            <a:off x="658368" y="4416552"/>
            <a:ext cx="10972800" cy="1755648"/>
          </a:xfrm>
          <a:prstGeom prst="roundRect">
            <a:avLst/>
          </a:prstGeom>
          <a:solidFill>
            <a:srgbClr val="F3F8FC"/>
          </a:solidFill>
          <a:ln w="12700"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000"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B70A21A-04B4-4A5B-8239-A87E197119E7}"/>
              </a:ext>
            </a:extLst>
          </p:cNvPr>
          <p:cNvSpPr>
            <a:spLocks noGrp="1"/>
          </p:cNvSpPr>
          <p:nvPr/>
        </p:nvSpPr>
        <p:spPr>
          <a:xfrm>
            <a:off x="868680" y="4902047"/>
            <a:ext cx="1874519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buNone/>
            </a:pPr>
            <a:r>
              <a:rPr sz="1600" b="1" dirty="0" err="1">
                <a:solidFill>
                  <a:srgbClr val="2466D2"/>
                </a:solidFill>
                <a:latin typeface="페이퍼로지 5 Medium"/>
                <a:ea typeface="페이퍼로지 5 Medium"/>
                <a:cs typeface="페이퍼로지 5 Medium"/>
              </a:rPr>
              <a:t>대표</a:t>
            </a:r>
            <a:r>
              <a:rPr sz="1600" b="1" dirty="0">
                <a:solidFill>
                  <a:srgbClr val="2466D2"/>
                </a:solidFill>
                <a:latin typeface="페이퍼로지 5 Medium"/>
                <a:ea typeface="페이퍼로지 5 Medium"/>
                <a:cs typeface="페이퍼로지 5 Medium"/>
              </a:rPr>
              <a:t> BO </a:t>
            </a:r>
            <a:r>
              <a:rPr sz="1600" b="1" dirty="0" err="1">
                <a:solidFill>
                  <a:srgbClr val="2466D2"/>
                </a:solidFill>
                <a:latin typeface="페이퍼로지 5 Medium"/>
                <a:ea typeface="페이퍼로지 5 Medium"/>
                <a:cs typeface="페이퍼로지 5 Medium"/>
              </a:rPr>
              <a:t>구조</a:t>
            </a:r>
            <a:endParaRPr sz="1600" b="1" dirty="0">
              <a:solidFill>
                <a:srgbClr val="2466D2"/>
              </a:solidFill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B34E833-E890-4631-97F7-0FC74F293946}"/>
              </a:ext>
            </a:extLst>
          </p:cNvPr>
          <p:cNvSpPr>
            <a:spLocks noGrp="1"/>
          </p:cNvSpPr>
          <p:nvPr/>
        </p:nvSpPr>
        <p:spPr>
          <a:xfrm>
            <a:off x="3413760" y="4825755"/>
            <a:ext cx="2423160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buNone/>
            </a:pPr>
            <a:r>
              <a:rPr sz="1400" b="1">
                <a:solidFill>
                  <a:srgbClr val="192D46"/>
                </a:solidFill>
                <a:latin typeface="페이퍼로지 5 Medium"/>
                <a:ea typeface="페이퍼로지 5 Medium"/>
                <a:cs typeface="페이퍼로지 5 Medium"/>
              </a:rPr>
              <a:t>자재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D710D14-4337-4089-A8C4-D4A9C0AD85C8}"/>
              </a:ext>
            </a:extLst>
          </p:cNvPr>
          <p:cNvSpPr>
            <a:spLocks noGrp="1"/>
          </p:cNvSpPr>
          <p:nvPr/>
        </p:nvSpPr>
        <p:spPr>
          <a:xfrm>
            <a:off x="3413760" y="5209803"/>
            <a:ext cx="2423160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buNone/>
            </a:pPr>
            <a:r>
              <a:rPr sz="1400" b="1">
                <a:solidFill>
                  <a:srgbClr val="343A40"/>
                </a:solidFill>
                <a:latin typeface="페이퍼로지 5 Medium"/>
                <a:ea typeface="페이퍼로지 5 Medium"/>
                <a:cs typeface="페이퍼로지 5 Medium"/>
              </a:rPr>
              <a:t>MARA ↔ MARA_T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8451CBA-B8E4-408E-A465-BF41F9CB3C12}"/>
              </a:ext>
            </a:extLst>
          </p:cNvPr>
          <p:cNvSpPr>
            <a:spLocks noGrp="1"/>
          </p:cNvSpPr>
          <p:nvPr/>
        </p:nvSpPr>
        <p:spPr>
          <a:xfrm>
            <a:off x="3413760" y="5593851"/>
            <a:ext cx="2423160" cy="23544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buNone/>
            </a:pPr>
            <a:r>
              <a:rPr sz="1050" b="0">
                <a:solidFill>
                  <a:srgbClr val="666E76"/>
                </a:solidFill>
                <a:latin typeface="페이퍼로지 5 Medium"/>
                <a:ea typeface="페이퍼로지 5 Medium"/>
                <a:cs typeface="페이퍼로지 5 Medium"/>
              </a:rPr>
              <a:t>Composition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AFFB103-4CC7-429A-B9BC-6791A474FCCD}"/>
              </a:ext>
            </a:extLst>
          </p:cNvPr>
          <p:cNvSpPr>
            <a:spLocks noGrp="1"/>
          </p:cNvSpPr>
          <p:nvPr/>
        </p:nvSpPr>
        <p:spPr>
          <a:xfrm>
            <a:off x="6156960" y="4825755"/>
            <a:ext cx="2423160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buNone/>
            </a:pPr>
            <a:r>
              <a:rPr sz="1400" b="1">
                <a:solidFill>
                  <a:srgbClr val="192D46"/>
                </a:solidFill>
                <a:latin typeface="페이퍼로지 5 Medium"/>
                <a:ea typeface="페이퍼로지 5 Medium"/>
                <a:cs typeface="페이퍼로지 5 Medium"/>
              </a:rPr>
              <a:t>구매정보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841E7AF-418B-4BB5-99BC-906A1FB51303}"/>
              </a:ext>
            </a:extLst>
          </p:cNvPr>
          <p:cNvSpPr>
            <a:spLocks noGrp="1"/>
          </p:cNvSpPr>
          <p:nvPr/>
        </p:nvSpPr>
        <p:spPr>
          <a:xfrm>
            <a:off x="6156960" y="5209803"/>
            <a:ext cx="2423160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buNone/>
            </a:pPr>
            <a:r>
              <a:rPr sz="1400" b="1">
                <a:solidFill>
                  <a:srgbClr val="343A40"/>
                </a:solidFill>
                <a:latin typeface="페이퍼로지 5 Medium"/>
                <a:ea typeface="페이퍼로지 5 Medium"/>
                <a:cs typeface="페이퍼로지 5 Medium"/>
              </a:rPr>
              <a:t>EINA → EINE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B75A919-BF22-4F32-8A42-E8D922244508}"/>
              </a:ext>
            </a:extLst>
          </p:cNvPr>
          <p:cNvSpPr>
            <a:spLocks noGrp="1"/>
          </p:cNvSpPr>
          <p:nvPr/>
        </p:nvSpPr>
        <p:spPr>
          <a:xfrm>
            <a:off x="6156960" y="5593851"/>
            <a:ext cx="2423160" cy="23544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buNone/>
            </a:pPr>
            <a:r>
              <a:rPr sz="1050" b="0">
                <a:solidFill>
                  <a:srgbClr val="666E76"/>
                </a:solidFill>
                <a:latin typeface="페이퍼로지 5 Medium"/>
                <a:ea typeface="페이퍼로지 5 Medium"/>
                <a:cs typeface="페이퍼로지 5 Medium"/>
              </a:rPr>
              <a:t>Header–Item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6C3B974-8100-48C4-892A-0D62979F697C}"/>
              </a:ext>
            </a:extLst>
          </p:cNvPr>
          <p:cNvSpPr>
            <a:spLocks noGrp="1"/>
          </p:cNvSpPr>
          <p:nvPr/>
        </p:nvSpPr>
        <p:spPr>
          <a:xfrm>
            <a:off x="8900160" y="4825755"/>
            <a:ext cx="2423160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buNone/>
            </a:pPr>
            <a:r>
              <a:rPr sz="1400" b="1">
                <a:solidFill>
                  <a:srgbClr val="192D46"/>
                </a:solidFill>
                <a:latin typeface="페이퍼로지 5 Medium"/>
                <a:ea typeface="페이퍼로지 5 Medium"/>
                <a:cs typeface="페이퍼로지 5 Medium"/>
              </a:rPr>
              <a:t>구매오더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7026E27-6955-4521-9CEA-8D43169BAFBB}"/>
              </a:ext>
            </a:extLst>
          </p:cNvPr>
          <p:cNvSpPr>
            <a:spLocks noGrp="1"/>
          </p:cNvSpPr>
          <p:nvPr/>
        </p:nvSpPr>
        <p:spPr>
          <a:xfrm>
            <a:off x="8900160" y="5209803"/>
            <a:ext cx="2423160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buNone/>
            </a:pPr>
            <a:r>
              <a:rPr sz="1400" b="1">
                <a:solidFill>
                  <a:srgbClr val="343A40"/>
                </a:solidFill>
                <a:latin typeface="페이퍼로지 5 Medium"/>
                <a:ea typeface="페이퍼로지 5 Medium"/>
                <a:cs typeface="페이퍼로지 5 Medium"/>
              </a:rPr>
              <a:t>EKKO → EKPO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A4953CF-F355-44E1-9D22-BFB41E34B657}"/>
              </a:ext>
            </a:extLst>
          </p:cNvPr>
          <p:cNvSpPr>
            <a:spLocks noGrp="1"/>
          </p:cNvSpPr>
          <p:nvPr/>
        </p:nvSpPr>
        <p:spPr>
          <a:xfrm>
            <a:off x="8900160" y="5593851"/>
            <a:ext cx="2423160" cy="23544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buNone/>
            </a:pPr>
            <a:r>
              <a:rPr sz="1050" b="0">
                <a:solidFill>
                  <a:srgbClr val="666E76"/>
                </a:solidFill>
                <a:latin typeface="페이퍼로지 5 Medium"/>
                <a:ea typeface="페이퍼로지 5 Medium"/>
                <a:cs typeface="페이퍼로지 5 Medium"/>
              </a:rPr>
              <a:t>Composition / Parent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2F5FC14-202D-4F8A-B708-24CC260EB2F7}"/>
              </a:ext>
            </a:extLst>
          </p:cNvPr>
          <p:cNvSpPr>
            <a:spLocks noGrp="1"/>
          </p:cNvSpPr>
          <p:nvPr/>
        </p:nvSpPr>
        <p:spPr>
          <a:xfrm>
            <a:off x="937259" y="5513832"/>
            <a:ext cx="1737360" cy="23544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buNone/>
            </a:pPr>
            <a:r>
              <a:rPr sz="1050" b="1" dirty="0" err="1">
                <a:solidFill>
                  <a:srgbClr val="1C9160"/>
                </a:solidFill>
                <a:latin typeface="페이퍼로지 5 Medium"/>
                <a:ea typeface="페이퍼로지 5 Medium"/>
                <a:cs typeface="페이퍼로지 5 Medium"/>
              </a:rPr>
              <a:t>재사용·확장</a:t>
            </a:r>
            <a:r>
              <a:rPr sz="1050" b="1" dirty="0">
                <a:solidFill>
                  <a:srgbClr val="1C9160"/>
                </a:solidFill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sz="1050" b="1" dirty="0" err="1">
                <a:solidFill>
                  <a:srgbClr val="1C9160"/>
                </a:solidFill>
                <a:latin typeface="페이퍼로지 5 Medium"/>
                <a:ea typeface="페이퍼로지 5 Medium"/>
                <a:cs typeface="페이퍼로지 5 Medium"/>
              </a:rPr>
              <a:t>가능</a:t>
            </a:r>
            <a:endParaRPr sz="1050" b="1" dirty="0">
              <a:solidFill>
                <a:srgbClr val="1C9160"/>
              </a:solidFill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ABE2FE7-0897-4F85-AD83-147F3932D88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EF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0D42E4A-89C1-4929-908C-8CA2F85E8FBA}"/>
              </a:ext>
            </a:extLst>
          </p:cNvPr>
          <p:cNvSpPr>
            <a:spLocks noGrp="1"/>
          </p:cNvSpPr>
          <p:nvPr/>
        </p:nvSpPr>
        <p:spPr>
          <a:xfrm>
            <a:off x="0" y="804672"/>
            <a:ext cx="11292840" cy="32004"/>
          </a:xfrm>
          <a:prstGeom prst="rect">
            <a:avLst/>
          </a:prstGeom>
          <a:solidFill>
            <a:srgbClr val="CDD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2BAC674-6867-4898-A03A-87EEBCF0F62B}"/>
              </a:ext>
            </a:extLst>
          </p:cNvPr>
          <p:cNvSpPr>
            <a:spLocks noGrp="1"/>
          </p:cNvSpPr>
          <p:nvPr/>
        </p:nvSpPr>
        <p:spPr>
          <a:xfrm>
            <a:off x="0" y="786384"/>
            <a:ext cx="4297680" cy="64008"/>
          </a:xfrm>
          <a:prstGeom prst="rect">
            <a:avLst/>
          </a:prstGeom>
          <a:solidFill>
            <a:srgbClr val="15A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A3A1AAB-AD30-4D49-9FC7-F138D3C23726}"/>
              </a:ext>
            </a:extLst>
          </p:cNvPr>
          <p:cNvSpPr>
            <a:spLocks noGrp="1"/>
          </p:cNvSpPr>
          <p:nvPr/>
        </p:nvSpPr>
        <p:spPr>
          <a:xfrm>
            <a:off x="361950" y="123825"/>
            <a:ext cx="11239500" cy="590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925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000000"/>
                </a:solidFill>
                <a:latin typeface="페이퍼로지 5 Medium"/>
                <a:ea typeface="페이퍼로지 5 Medium"/>
                <a:cs typeface="페이퍼로지 5 Medium"/>
              </a:rPr>
              <a:t>04. RAP 설계 구조</a:t>
            </a:r>
          </a:p>
        </p:txBody>
      </p:sp>
    </p:spTree>
    <p:extLst>
      <p:ext uri="{BB962C8B-B14F-4D97-AF65-F5344CB8AC3E}">
        <p14:creationId xmlns:p14="http://schemas.microsoft.com/office/powerpoint/2010/main" val="983655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6CBEA14-2B11-4C38-8320-0DB2CC440A06}"/>
              </a:ext>
            </a:extLst>
          </p:cNvPr>
          <p:cNvSpPr>
            <a:spLocks noGrp="1"/>
          </p:cNvSpPr>
          <p:nvPr/>
        </p:nvSpPr>
        <p:spPr>
          <a:xfrm>
            <a:off x="566928" y="1325880"/>
            <a:ext cx="5486400" cy="4817192"/>
          </a:xfrm>
          <a:prstGeom prst="roundRect">
            <a:avLst/>
          </a:prstGeom>
          <a:solidFill>
            <a:srgbClr val="F3F8FC"/>
          </a:solidFill>
          <a:ln w="12700"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페이퍼로지 5 Medium" pitchFamily="2" charset="-127"/>
              <a:ea typeface="페이퍼로지 5 Medium" pitchFamily="2" charset="-127"/>
              <a:cs typeface="페이퍼로지 5 Medium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78B128-3173-4153-9C5E-52E281E5975A}"/>
              </a:ext>
            </a:extLst>
          </p:cNvPr>
          <p:cNvSpPr>
            <a:spLocks noGrp="1"/>
          </p:cNvSpPr>
          <p:nvPr/>
        </p:nvSpPr>
        <p:spPr>
          <a:xfrm>
            <a:off x="822960" y="1581912"/>
            <a:ext cx="4983480" cy="350865"/>
          </a:xfrm>
          <a:prstGeom prst="rect">
            <a:avLst/>
          </a:prstGeom>
          <a:noFill/>
          <a:ln w="0"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>
              <a:buNone/>
            </a:pPr>
            <a:endParaRPr>
              <a:latin typeface="페이퍼로지 5 Medium" pitchFamily="2" charset="-127"/>
              <a:ea typeface="페이퍼로지 5 Medium" pitchFamily="2" charset="-127"/>
              <a:cs typeface="페이퍼로지 5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0D79C95-5CF7-49E2-94C0-34588D6A0D65}"/>
              </a:ext>
            </a:extLst>
          </p:cNvPr>
          <p:cNvSpPr>
            <a:spLocks noGrp="1"/>
          </p:cNvSpPr>
          <p:nvPr/>
        </p:nvSpPr>
        <p:spPr>
          <a:xfrm>
            <a:off x="1051560" y="2194560"/>
            <a:ext cx="4480560" cy="1170432"/>
          </a:xfrm>
          <a:prstGeom prst="roundRect">
            <a:avLst/>
          </a:prstGeom>
          <a:noFill/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페이퍼로지 5 Medium" pitchFamily="2" charset="-127"/>
              <a:ea typeface="페이퍼로지 5 Medium" pitchFamily="2" charset="-127"/>
              <a:cs typeface="페이퍼로지 5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C3B09D1-06E7-4A4D-8810-C32E04A32A63}"/>
              </a:ext>
            </a:extLst>
          </p:cNvPr>
          <p:cNvSpPr>
            <a:spLocks noGrp="1"/>
          </p:cNvSpPr>
          <p:nvPr/>
        </p:nvSpPr>
        <p:spPr>
          <a:xfrm>
            <a:off x="1225296" y="2359152"/>
            <a:ext cx="1097280" cy="292608"/>
          </a:xfrm>
          <a:prstGeom prst="roundRect">
            <a:avLst/>
          </a:prstGeom>
          <a:noFill/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페이퍼로지 5 Medium" pitchFamily="2" charset="-127"/>
              <a:ea typeface="페이퍼로지 5 Medium" pitchFamily="2" charset="-127"/>
              <a:cs typeface="페이퍼로지 5 Medium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15152D-1D41-4BB6-821F-7D1985BEA54B}"/>
              </a:ext>
            </a:extLst>
          </p:cNvPr>
          <p:cNvSpPr>
            <a:spLocks noGrp="1"/>
          </p:cNvSpPr>
          <p:nvPr/>
        </p:nvSpPr>
        <p:spPr>
          <a:xfrm>
            <a:off x="2487168" y="2322576"/>
            <a:ext cx="2651760" cy="350865"/>
          </a:xfrm>
          <a:prstGeom prst="rect">
            <a:avLst/>
          </a:prstGeom>
          <a:noFill/>
          <a:ln w="0"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>
              <a:buNone/>
            </a:pPr>
            <a:endParaRPr>
              <a:latin typeface="페이퍼로지 5 Medium" pitchFamily="2" charset="-127"/>
              <a:ea typeface="페이퍼로지 5 Medium" pitchFamily="2" charset="-127"/>
              <a:cs typeface="페이퍼로지 5 Medium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E0CECD-C3BA-47E7-9B7B-42FA38D042CA}"/>
              </a:ext>
            </a:extLst>
          </p:cNvPr>
          <p:cNvSpPr>
            <a:spLocks noGrp="1"/>
          </p:cNvSpPr>
          <p:nvPr/>
        </p:nvSpPr>
        <p:spPr>
          <a:xfrm>
            <a:off x="2487168" y="2660904"/>
            <a:ext cx="2651760" cy="350865"/>
          </a:xfrm>
          <a:prstGeom prst="rect">
            <a:avLst/>
          </a:prstGeom>
          <a:noFill/>
          <a:ln w="0"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>
              <a:buNone/>
            </a:pPr>
            <a:endParaRPr>
              <a:latin typeface="페이퍼로지 5 Medium" pitchFamily="2" charset="-127"/>
              <a:ea typeface="페이퍼로지 5 Medium" pitchFamily="2" charset="-127"/>
              <a:cs typeface="페이퍼로지 5 Medium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6C7354-D9BE-4853-80C6-ED6FDC25B8F7}"/>
              </a:ext>
            </a:extLst>
          </p:cNvPr>
          <p:cNvSpPr>
            <a:spLocks noGrp="1"/>
          </p:cNvSpPr>
          <p:nvPr/>
        </p:nvSpPr>
        <p:spPr>
          <a:xfrm>
            <a:off x="2788920" y="3401568"/>
            <a:ext cx="1005840" cy="350865"/>
          </a:xfrm>
          <a:prstGeom prst="rect">
            <a:avLst/>
          </a:prstGeom>
          <a:noFill/>
          <a:ln w="0"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ctr">
              <a:buNone/>
            </a:pPr>
            <a:endParaRPr>
              <a:latin typeface="페이퍼로지 5 Medium" pitchFamily="2" charset="-127"/>
              <a:ea typeface="페이퍼로지 5 Medium" pitchFamily="2" charset="-127"/>
              <a:cs typeface="페이퍼로지 5 Medium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B6688F-A24E-44E0-946B-107A02C0EA4C}"/>
              </a:ext>
            </a:extLst>
          </p:cNvPr>
          <p:cNvSpPr>
            <a:spLocks noGrp="1"/>
          </p:cNvSpPr>
          <p:nvPr/>
        </p:nvSpPr>
        <p:spPr>
          <a:xfrm>
            <a:off x="3108960" y="3675887"/>
            <a:ext cx="384048" cy="350865"/>
          </a:xfrm>
          <a:prstGeom prst="rect">
            <a:avLst/>
          </a:prstGeom>
          <a:noFill/>
          <a:ln w="0"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ctr">
              <a:buNone/>
            </a:pPr>
            <a:endParaRPr>
              <a:latin typeface="페이퍼로지 5 Medium" pitchFamily="2" charset="-127"/>
              <a:ea typeface="페이퍼로지 5 Medium" pitchFamily="2" charset="-127"/>
              <a:cs typeface="페이퍼로지 5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4D0927A-F97D-44BA-831A-A786016AAA9B}"/>
              </a:ext>
            </a:extLst>
          </p:cNvPr>
          <p:cNvSpPr>
            <a:spLocks noGrp="1"/>
          </p:cNvSpPr>
          <p:nvPr/>
        </p:nvSpPr>
        <p:spPr>
          <a:xfrm>
            <a:off x="1051560" y="4005072"/>
            <a:ext cx="4480560" cy="1170432"/>
          </a:xfrm>
          <a:prstGeom prst="roundRect">
            <a:avLst/>
          </a:prstGeom>
          <a:noFill/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페이퍼로지 5 Medium" pitchFamily="2" charset="-127"/>
              <a:ea typeface="페이퍼로지 5 Medium" pitchFamily="2" charset="-127"/>
              <a:cs typeface="페이퍼로지 5 Medium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CC113DBE-DCC6-43B4-98C2-107D9017C877}"/>
              </a:ext>
            </a:extLst>
          </p:cNvPr>
          <p:cNvSpPr>
            <a:spLocks noGrp="1"/>
          </p:cNvSpPr>
          <p:nvPr/>
        </p:nvSpPr>
        <p:spPr>
          <a:xfrm>
            <a:off x="1225296" y="4169663"/>
            <a:ext cx="1097280" cy="292608"/>
          </a:xfrm>
          <a:prstGeom prst="roundRect">
            <a:avLst/>
          </a:prstGeom>
          <a:noFill/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페이퍼로지 5 Medium" pitchFamily="2" charset="-127"/>
              <a:ea typeface="페이퍼로지 5 Medium" pitchFamily="2" charset="-127"/>
              <a:cs typeface="페이퍼로지 5 Medium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42A9864-C6CF-44B9-8D97-CE86A104BBC7}"/>
              </a:ext>
            </a:extLst>
          </p:cNvPr>
          <p:cNvSpPr>
            <a:spLocks noGrp="1"/>
          </p:cNvSpPr>
          <p:nvPr/>
        </p:nvSpPr>
        <p:spPr>
          <a:xfrm>
            <a:off x="2487168" y="4133087"/>
            <a:ext cx="2651760" cy="350865"/>
          </a:xfrm>
          <a:prstGeom prst="rect">
            <a:avLst/>
          </a:prstGeom>
          <a:noFill/>
          <a:ln w="0"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>
              <a:buNone/>
            </a:pPr>
            <a:endParaRPr>
              <a:latin typeface="페이퍼로지 5 Medium" pitchFamily="2" charset="-127"/>
              <a:ea typeface="페이퍼로지 5 Medium" pitchFamily="2" charset="-127"/>
              <a:cs typeface="페이퍼로지 5 Medium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50887DD-67ED-4511-8E00-3265D78B0167}"/>
              </a:ext>
            </a:extLst>
          </p:cNvPr>
          <p:cNvSpPr>
            <a:spLocks noGrp="1"/>
          </p:cNvSpPr>
          <p:nvPr/>
        </p:nvSpPr>
        <p:spPr>
          <a:xfrm>
            <a:off x="2487168" y="4471416"/>
            <a:ext cx="2651760" cy="350865"/>
          </a:xfrm>
          <a:prstGeom prst="rect">
            <a:avLst/>
          </a:prstGeom>
          <a:noFill/>
          <a:ln w="0"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>
              <a:buNone/>
            </a:pPr>
            <a:endParaRPr>
              <a:latin typeface="페이퍼로지 5 Medium" pitchFamily="2" charset="-127"/>
              <a:ea typeface="페이퍼로지 5 Medium" pitchFamily="2" charset="-127"/>
              <a:cs typeface="페이퍼로지 5 Medium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2C41F25F-8F53-437A-921C-A6565E33E215}"/>
              </a:ext>
            </a:extLst>
          </p:cNvPr>
          <p:cNvSpPr>
            <a:spLocks noGrp="1"/>
          </p:cNvSpPr>
          <p:nvPr/>
        </p:nvSpPr>
        <p:spPr>
          <a:xfrm>
            <a:off x="6327648" y="1325880"/>
            <a:ext cx="5257800" cy="4817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페이퍼로지 5 Medium" pitchFamily="2" charset="-127"/>
              <a:ea typeface="페이퍼로지 5 Medium" pitchFamily="2" charset="-127"/>
              <a:cs typeface="페이퍼로지 5 Medium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6E810A-69D4-4D7E-83E6-08BA76498081}"/>
              </a:ext>
            </a:extLst>
          </p:cNvPr>
          <p:cNvSpPr>
            <a:spLocks noGrp="1"/>
          </p:cNvSpPr>
          <p:nvPr/>
        </p:nvSpPr>
        <p:spPr>
          <a:xfrm>
            <a:off x="6583680" y="1581912"/>
            <a:ext cx="4617720" cy="350865"/>
          </a:xfrm>
          <a:prstGeom prst="rect">
            <a:avLst/>
          </a:prstGeom>
          <a:noFill/>
          <a:ln w="0"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>
              <a:buNone/>
            </a:pPr>
            <a:endParaRPr>
              <a:latin typeface="페이퍼로지 5 Medium" pitchFamily="2" charset="-127"/>
              <a:ea typeface="페이퍼로지 5 Medium" pitchFamily="2" charset="-127"/>
              <a:cs typeface="페이퍼로지 5 Medium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B9E3434C-93AE-4FB4-9C77-F0B6F729A9C6}"/>
              </a:ext>
            </a:extLst>
          </p:cNvPr>
          <p:cNvSpPr>
            <a:spLocks noGrp="1"/>
          </p:cNvSpPr>
          <p:nvPr/>
        </p:nvSpPr>
        <p:spPr>
          <a:xfrm>
            <a:off x="6601968" y="2176272"/>
            <a:ext cx="1143000" cy="292608"/>
          </a:xfrm>
          <a:prstGeom prst="roundRect">
            <a:avLst/>
          </a:prstGeom>
          <a:noFill/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페이퍼로지 5 Medium" pitchFamily="2" charset="-127"/>
              <a:ea typeface="페이퍼로지 5 Medium" pitchFamily="2" charset="-127"/>
              <a:cs typeface="페이퍼로지 5 Medium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7A3CB85-BD20-4834-B7B2-1CC1FFB158F1}"/>
              </a:ext>
            </a:extLst>
          </p:cNvPr>
          <p:cNvSpPr>
            <a:spLocks noGrp="1"/>
          </p:cNvSpPr>
          <p:nvPr/>
        </p:nvSpPr>
        <p:spPr>
          <a:xfrm>
            <a:off x="7927848" y="2139696"/>
            <a:ext cx="3182112" cy="350865"/>
          </a:xfrm>
          <a:prstGeom prst="rect">
            <a:avLst/>
          </a:prstGeom>
          <a:noFill/>
          <a:ln w="0"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>
              <a:buNone/>
            </a:pPr>
            <a:endParaRPr>
              <a:latin typeface="페이퍼로지 5 Medium" pitchFamily="2" charset="-127"/>
              <a:ea typeface="페이퍼로지 5 Medium" pitchFamily="2" charset="-127"/>
              <a:cs typeface="페이퍼로지 5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CBBDC0F8-C188-4DEC-BBCF-3BD0D30702DE}"/>
              </a:ext>
            </a:extLst>
          </p:cNvPr>
          <p:cNvSpPr>
            <a:spLocks noGrp="1"/>
          </p:cNvSpPr>
          <p:nvPr/>
        </p:nvSpPr>
        <p:spPr>
          <a:xfrm>
            <a:off x="6601968" y="3054096"/>
            <a:ext cx="1143000" cy="292608"/>
          </a:xfrm>
          <a:prstGeom prst="roundRect">
            <a:avLst/>
          </a:prstGeom>
          <a:noFill/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페이퍼로지 5 Medium" pitchFamily="2" charset="-127"/>
              <a:ea typeface="페이퍼로지 5 Medium" pitchFamily="2" charset="-127"/>
              <a:cs typeface="페이퍼로지 5 Medium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8593B02-945C-4F84-BDC2-E2BAA4F6F460}"/>
              </a:ext>
            </a:extLst>
          </p:cNvPr>
          <p:cNvSpPr>
            <a:spLocks noGrp="1"/>
          </p:cNvSpPr>
          <p:nvPr/>
        </p:nvSpPr>
        <p:spPr>
          <a:xfrm>
            <a:off x="7927848" y="3017520"/>
            <a:ext cx="3182112" cy="350865"/>
          </a:xfrm>
          <a:prstGeom prst="rect">
            <a:avLst/>
          </a:prstGeom>
          <a:noFill/>
          <a:ln w="0"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>
              <a:buNone/>
            </a:pPr>
            <a:endParaRPr>
              <a:latin typeface="페이퍼로지 5 Medium" pitchFamily="2" charset="-127"/>
              <a:ea typeface="페이퍼로지 5 Medium" pitchFamily="2" charset="-127"/>
              <a:cs typeface="페이퍼로지 5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C5B66AD2-03C9-4FE9-9C2C-D10E9D707341}"/>
              </a:ext>
            </a:extLst>
          </p:cNvPr>
          <p:cNvSpPr>
            <a:spLocks noGrp="1"/>
          </p:cNvSpPr>
          <p:nvPr/>
        </p:nvSpPr>
        <p:spPr>
          <a:xfrm>
            <a:off x="6601968" y="3931920"/>
            <a:ext cx="1143000" cy="292608"/>
          </a:xfrm>
          <a:prstGeom prst="roundRect">
            <a:avLst/>
          </a:prstGeom>
          <a:noFill/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페이퍼로지 5 Medium" pitchFamily="2" charset="-127"/>
              <a:ea typeface="페이퍼로지 5 Medium" pitchFamily="2" charset="-127"/>
              <a:cs typeface="페이퍼로지 5 Medium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40EA22A-BF4B-4946-9918-A2CA577552E1}"/>
              </a:ext>
            </a:extLst>
          </p:cNvPr>
          <p:cNvSpPr>
            <a:spLocks noGrp="1"/>
          </p:cNvSpPr>
          <p:nvPr/>
        </p:nvSpPr>
        <p:spPr>
          <a:xfrm>
            <a:off x="7927848" y="3895344"/>
            <a:ext cx="3182112" cy="350865"/>
          </a:xfrm>
          <a:prstGeom prst="rect">
            <a:avLst/>
          </a:prstGeom>
          <a:noFill/>
          <a:ln w="0"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>
              <a:buNone/>
            </a:pPr>
            <a:endParaRPr>
              <a:latin typeface="페이퍼로지 5 Medium" pitchFamily="2" charset="-127"/>
              <a:ea typeface="페이퍼로지 5 Medium" pitchFamily="2" charset="-127"/>
              <a:cs typeface="페이퍼로지 5 Medium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E966C731-C896-4024-841C-57475E870F48}"/>
              </a:ext>
            </a:extLst>
          </p:cNvPr>
          <p:cNvSpPr>
            <a:spLocks noGrp="1"/>
          </p:cNvSpPr>
          <p:nvPr/>
        </p:nvSpPr>
        <p:spPr>
          <a:xfrm>
            <a:off x="6565392" y="4846320"/>
            <a:ext cx="4663440" cy="713232"/>
          </a:xfrm>
          <a:prstGeom prst="roundRect">
            <a:avLst/>
          </a:prstGeom>
          <a:noFill/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페이퍼로지 5 Medium" pitchFamily="2" charset="-127"/>
              <a:ea typeface="페이퍼로지 5 Medium" pitchFamily="2" charset="-127"/>
              <a:cs typeface="페이퍼로지 5 Medium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8DC07EE-B57F-48A9-928F-060704356106}"/>
              </a:ext>
            </a:extLst>
          </p:cNvPr>
          <p:cNvSpPr>
            <a:spLocks noGrp="1"/>
          </p:cNvSpPr>
          <p:nvPr/>
        </p:nvSpPr>
        <p:spPr>
          <a:xfrm>
            <a:off x="6784848" y="5010912"/>
            <a:ext cx="4224528" cy="350865"/>
          </a:xfrm>
          <a:prstGeom prst="rect">
            <a:avLst/>
          </a:prstGeom>
          <a:noFill/>
          <a:ln w="0"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>
              <a:buNone/>
            </a:pPr>
            <a:endParaRPr>
              <a:latin typeface="페이퍼로지 5 Medium" pitchFamily="2" charset="-127"/>
              <a:ea typeface="페이퍼로지 5 Medium" pitchFamily="2" charset="-127"/>
              <a:cs typeface="페이퍼로지 5 Medium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004A043-1180-4020-B2E1-26E4D454F93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EF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페이퍼로지 5 Medium" pitchFamily="2" charset="-127"/>
              <a:ea typeface="페이퍼로지 5 Medium" pitchFamily="2" charset="-127"/>
              <a:cs typeface="페이퍼로지 5 Medium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5A72399-0340-47B5-AAF6-02D3BF075403}"/>
              </a:ext>
            </a:extLst>
          </p:cNvPr>
          <p:cNvSpPr>
            <a:spLocks noGrp="1"/>
          </p:cNvSpPr>
          <p:nvPr/>
        </p:nvSpPr>
        <p:spPr>
          <a:xfrm>
            <a:off x="0" y="804672"/>
            <a:ext cx="11292840" cy="32004"/>
          </a:xfrm>
          <a:prstGeom prst="rect">
            <a:avLst/>
          </a:prstGeom>
          <a:solidFill>
            <a:srgbClr val="CDD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페이퍼로지 5 Medium" pitchFamily="2" charset="-127"/>
              <a:ea typeface="페이퍼로지 5 Medium" pitchFamily="2" charset="-127"/>
              <a:cs typeface="페이퍼로지 5 Medium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50AB3FB-A8EC-45B8-A9C1-41346D179D24}"/>
              </a:ext>
            </a:extLst>
          </p:cNvPr>
          <p:cNvSpPr>
            <a:spLocks noGrp="1"/>
          </p:cNvSpPr>
          <p:nvPr/>
        </p:nvSpPr>
        <p:spPr>
          <a:xfrm>
            <a:off x="0" y="786384"/>
            <a:ext cx="4297680" cy="64008"/>
          </a:xfrm>
          <a:prstGeom prst="rect">
            <a:avLst/>
          </a:prstGeom>
          <a:solidFill>
            <a:srgbClr val="15A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페이퍼로지 5 Medium" pitchFamily="2" charset="-127"/>
              <a:ea typeface="페이퍼로지 5 Medium" pitchFamily="2" charset="-127"/>
              <a:cs typeface="페이퍼로지 5 Medium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6926345-5065-448B-8D1D-C7ED6CEFCDF2}"/>
              </a:ext>
            </a:extLst>
          </p:cNvPr>
          <p:cNvSpPr>
            <a:spLocks noGrp="1"/>
          </p:cNvSpPr>
          <p:nvPr/>
        </p:nvSpPr>
        <p:spPr>
          <a:xfrm>
            <a:off x="361950" y="123825"/>
            <a:ext cx="11239500" cy="590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925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  <a:cs typeface="페이퍼로지 5 Medium"/>
              </a:rPr>
              <a:t>05. 핵심 구현 사례 : Validation</a:t>
            </a:r>
          </a:p>
        </p:txBody>
      </p:sp>
      <p:sp>
        <p:nvSpPr>
          <p:cNvPr id="30" name="fs02-title">
            <a:extLst>
              <a:ext uri="{FF2B5EF4-FFF2-40B4-BE49-F238E27FC236}">
                <a16:creationId xmlns:a16="http://schemas.microsoft.com/office/drawing/2014/main" id="{6D6AF399-6CD0-44A7-BCB4-4C969198AABB}"/>
              </a:ext>
            </a:extLst>
          </p:cNvPr>
          <p:cNvSpPr>
            <a:spLocks noGrp="1"/>
          </p:cNvSpPr>
          <p:nvPr/>
        </p:nvSpPr>
        <p:spPr>
          <a:xfrm>
            <a:off x="800100" y="1524000"/>
            <a:ext cx="4857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875" b="1">
                <a:solidFill>
                  <a:srgbClr val="1C355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dirty="0">
                <a:solidFill>
                  <a:srgbClr val="1C3557"/>
                </a:solidFill>
                <a:latin typeface="페이퍼로지 5 Medium" pitchFamily="2" charset="-127"/>
                <a:ea typeface="페이퍼로지 5 Medium" pitchFamily="2" charset="-127"/>
                <a:cs typeface="페이퍼로지 5 Medium"/>
              </a:rPr>
              <a:t>FS02 FI </a:t>
            </a:r>
            <a:r>
              <a:rPr sz="1875" b="1" dirty="0" err="1">
                <a:solidFill>
                  <a:srgbClr val="1C3557"/>
                </a:solidFill>
                <a:latin typeface="페이퍼로지 5 Medium" pitchFamily="2" charset="-127"/>
                <a:ea typeface="페이퍼로지 5 Medium" pitchFamily="2" charset="-127"/>
                <a:cs typeface="페이퍼로지 5 Medium"/>
              </a:rPr>
              <a:t>계정</a:t>
            </a:r>
            <a:r>
              <a:rPr sz="1875" b="1" dirty="0">
                <a:solidFill>
                  <a:srgbClr val="1C3557"/>
                </a:solidFill>
                <a:latin typeface="페이퍼로지 5 Medium" pitchFamily="2" charset="-127"/>
                <a:ea typeface="페이퍼로지 5 Medium" pitchFamily="2" charset="-127"/>
                <a:cs typeface="페이퍼로지 5 Medium"/>
              </a:rPr>
              <a:t> </a:t>
            </a:r>
            <a:r>
              <a:rPr sz="1875" b="1" dirty="0" err="1">
                <a:solidFill>
                  <a:srgbClr val="1C3557"/>
                </a:solidFill>
                <a:latin typeface="페이퍼로지 5 Medium" pitchFamily="2" charset="-127"/>
                <a:ea typeface="페이퍼로지 5 Medium" pitchFamily="2" charset="-127"/>
                <a:cs typeface="페이퍼로지 5 Medium"/>
              </a:rPr>
              <a:t>중복</a:t>
            </a:r>
            <a:r>
              <a:rPr sz="1875" b="1" dirty="0">
                <a:solidFill>
                  <a:srgbClr val="1C3557"/>
                </a:solidFill>
                <a:latin typeface="페이퍼로지 5 Medium" pitchFamily="2" charset="-127"/>
                <a:ea typeface="페이퍼로지 5 Medium" pitchFamily="2" charset="-127"/>
                <a:cs typeface="페이퍼로지 5 Medium"/>
              </a:rPr>
              <a:t> </a:t>
            </a:r>
            <a:r>
              <a:rPr sz="1875" b="1" dirty="0" err="1">
                <a:solidFill>
                  <a:srgbClr val="1C3557"/>
                </a:solidFill>
                <a:latin typeface="페이퍼로지 5 Medium" pitchFamily="2" charset="-127"/>
                <a:ea typeface="페이퍼로지 5 Medium" pitchFamily="2" charset="-127"/>
                <a:cs typeface="페이퍼로지 5 Medium"/>
              </a:rPr>
              <a:t>검증</a:t>
            </a:r>
            <a:endParaRPr sz="1875" b="1" dirty="0">
              <a:solidFill>
                <a:srgbClr val="1C3557"/>
              </a:solidFill>
              <a:latin typeface="페이퍼로지 5 Medium" pitchFamily="2" charset="-127"/>
              <a:ea typeface="페이퍼로지 5 Medium" pitchFamily="2" charset="-127"/>
              <a:cs typeface="페이퍼로지 5 Medium"/>
            </a:endParaRPr>
          </a:p>
        </p:txBody>
      </p:sp>
      <p:pic>
        <p:nvPicPr>
          <p:cNvPr id="65" name="그림 6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76350" y="1952625"/>
            <a:ext cx="3829050" cy="2876550"/>
          </a:xfrm>
          <a:prstGeom prst="rect">
            <a:avLst/>
          </a:prstGeom>
        </p:spPr>
      </p:pic>
      <p:sp>
        <p:nvSpPr>
          <p:cNvPr id="32" name="fs02-result">
            <a:extLst>
              <a:ext uri="{FF2B5EF4-FFF2-40B4-BE49-F238E27FC236}">
                <a16:creationId xmlns:a16="http://schemas.microsoft.com/office/drawing/2014/main" id="{2DBF0058-A880-4080-AB4A-6FBA7FE1A139}"/>
              </a:ext>
            </a:extLst>
          </p:cNvPr>
          <p:cNvSpPr>
            <a:spLocks noGrp="1"/>
          </p:cNvSpPr>
          <p:nvPr/>
        </p:nvSpPr>
        <p:spPr>
          <a:xfrm>
            <a:off x="574546" y="5250165"/>
            <a:ext cx="5486399" cy="895350"/>
          </a:xfrm>
          <a:prstGeom prst="roundRect">
            <a:avLst>
              <a:gd name="adj" fmla="val 19231"/>
            </a:avLst>
          </a:prstGeom>
          <a:solidFill>
            <a:srgbClr val="FFF6F6"/>
          </a:solidFill>
          <a:ln w="11430">
            <a:solidFill>
              <a:srgbClr val="D64545">
                <a:alpha val="33333"/>
              </a:srgbClr>
            </a:solidFill>
            <a:prstDash val="solid"/>
          </a:ln>
        </p:spPr>
        <p:txBody>
          <a:bodyPr wrap="square" lIns="95250" tIns="47625" rIns="95250" bIns="47625" anchor="ctr">
            <a:normAutofit/>
          </a:bodyPr>
          <a:lstStyle/>
          <a:p>
            <a:pPr algn="ctr">
              <a:buNone/>
              <a:defRPr sz="1238" b="1">
                <a:solidFill>
                  <a:srgbClr val="D64545"/>
                </a:solidFill>
                <a:latin typeface="Malgun Gothic"/>
                <a:ea typeface="Malgun Gothic"/>
                <a:cs typeface="Malgun Gothic"/>
              </a:defRPr>
            </a:pPr>
            <a:r>
              <a:rPr sz="1238" b="1" dirty="0" err="1">
                <a:solidFill>
                  <a:srgbClr val="D64545"/>
                </a:solidFill>
                <a:latin typeface="페이퍼로지 5 Medium" pitchFamily="2" charset="-127"/>
                <a:ea typeface="페이퍼로지 5 Medium" pitchFamily="2" charset="-127"/>
                <a:cs typeface="Malgun Gothic"/>
              </a:rPr>
              <a:t>문제</a:t>
            </a:r>
            <a:r>
              <a:rPr sz="1238" b="1" dirty="0">
                <a:solidFill>
                  <a:srgbClr val="D64545"/>
                </a:solidFill>
                <a:latin typeface="페이퍼로지 5 Medium" pitchFamily="2" charset="-127"/>
                <a:ea typeface="페이퍼로지 5 Medium" pitchFamily="2" charset="-127"/>
                <a:cs typeface="Malgun Gothic"/>
              </a:rPr>
              <a:t>  </a:t>
            </a:r>
            <a:r>
              <a:rPr sz="1238" b="1" dirty="0" err="1">
                <a:solidFill>
                  <a:srgbClr val="D64545"/>
                </a:solidFill>
                <a:latin typeface="페이퍼로지 5 Medium" pitchFamily="2" charset="-127"/>
                <a:ea typeface="페이퍼로지 5 Medium" pitchFamily="2" charset="-127"/>
                <a:cs typeface="Malgun Gothic"/>
              </a:rPr>
              <a:t>앞자리</a:t>
            </a:r>
            <a:r>
              <a:rPr sz="1238" b="1" dirty="0">
                <a:solidFill>
                  <a:srgbClr val="D64545"/>
                </a:solidFill>
                <a:latin typeface="페이퍼로지 5 Medium" pitchFamily="2" charset="-127"/>
                <a:ea typeface="페이퍼로지 5 Medium" pitchFamily="2" charset="-127"/>
                <a:cs typeface="Malgun Gothic"/>
              </a:rPr>
              <a:t> 0을 </a:t>
            </a:r>
            <a:r>
              <a:rPr sz="1238" b="1" dirty="0" err="1">
                <a:solidFill>
                  <a:srgbClr val="D64545"/>
                </a:solidFill>
                <a:latin typeface="페이퍼로지 5 Medium" pitchFamily="2" charset="-127"/>
                <a:ea typeface="페이퍼로지 5 Medium" pitchFamily="2" charset="-127"/>
                <a:cs typeface="Malgun Gothic"/>
              </a:rPr>
              <a:t>포함한</a:t>
            </a:r>
            <a:r>
              <a:rPr sz="1238" b="1" dirty="0">
                <a:solidFill>
                  <a:srgbClr val="D64545"/>
                </a:solidFill>
                <a:latin typeface="페이퍼로지 5 Medium" pitchFamily="2" charset="-127"/>
                <a:ea typeface="페이퍼로지 5 Medium" pitchFamily="2" charset="-127"/>
                <a:cs typeface="Malgun Gothic"/>
              </a:rPr>
              <a:t> </a:t>
            </a:r>
            <a:r>
              <a:rPr sz="1238" b="1" dirty="0" err="1">
                <a:solidFill>
                  <a:srgbClr val="D64545"/>
                </a:solidFill>
                <a:latin typeface="페이퍼로지 5 Medium" pitchFamily="2" charset="-127"/>
                <a:ea typeface="페이퍼로지 5 Medium" pitchFamily="2" charset="-127"/>
                <a:cs typeface="Malgun Gothic"/>
              </a:rPr>
              <a:t>입력값과</a:t>
            </a:r>
            <a:r>
              <a:rPr sz="1238" b="1" dirty="0">
                <a:solidFill>
                  <a:srgbClr val="D64545"/>
                </a:solidFill>
                <a:latin typeface="페이퍼로지 5 Medium" pitchFamily="2" charset="-127"/>
                <a:ea typeface="페이퍼로지 5 Medium" pitchFamily="2" charset="-127"/>
                <a:cs typeface="Malgun Gothic"/>
              </a:rPr>
              <a:t> DB </a:t>
            </a:r>
            <a:r>
              <a:rPr sz="1238" b="1" dirty="0" err="1">
                <a:solidFill>
                  <a:srgbClr val="D64545"/>
                </a:solidFill>
                <a:latin typeface="페이퍼로지 5 Medium" pitchFamily="2" charset="-127"/>
                <a:ea typeface="페이퍼로지 5 Medium" pitchFamily="2" charset="-127"/>
                <a:cs typeface="Malgun Gothic"/>
              </a:rPr>
              <a:t>저장</a:t>
            </a:r>
            <a:r>
              <a:rPr sz="1238" b="1" dirty="0">
                <a:solidFill>
                  <a:srgbClr val="D64545"/>
                </a:solidFill>
                <a:latin typeface="페이퍼로지 5 Medium" pitchFamily="2" charset="-127"/>
                <a:ea typeface="페이퍼로지 5 Medium" pitchFamily="2" charset="-127"/>
                <a:cs typeface="Malgun Gothic"/>
              </a:rPr>
              <a:t> </a:t>
            </a:r>
            <a:r>
              <a:rPr sz="1238" b="1" dirty="0" err="1">
                <a:solidFill>
                  <a:srgbClr val="D64545"/>
                </a:solidFill>
                <a:latin typeface="페이퍼로지 5 Medium" pitchFamily="2" charset="-127"/>
                <a:ea typeface="페이퍼로지 5 Medium" pitchFamily="2" charset="-127"/>
                <a:cs typeface="Malgun Gothic"/>
              </a:rPr>
              <a:t>형식이</a:t>
            </a:r>
            <a:r>
              <a:rPr sz="1238" b="1" dirty="0">
                <a:solidFill>
                  <a:srgbClr val="D64545"/>
                </a:solidFill>
                <a:latin typeface="페이퍼로지 5 Medium" pitchFamily="2" charset="-127"/>
                <a:ea typeface="페이퍼로지 5 Medium" pitchFamily="2" charset="-127"/>
                <a:cs typeface="Malgun Gothic"/>
              </a:rPr>
              <a:t> </a:t>
            </a:r>
            <a:r>
              <a:rPr sz="1238" b="1" dirty="0" err="1">
                <a:solidFill>
                  <a:srgbClr val="D64545"/>
                </a:solidFill>
                <a:latin typeface="페이퍼로지 5 Medium" pitchFamily="2" charset="-127"/>
                <a:ea typeface="페이퍼로지 5 Medium" pitchFamily="2" charset="-127"/>
                <a:cs typeface="Malgun Gothic"/>
              </a:rPr>
              <a:t>다름</a:t>
            </a:r>
            <a:endParaRPr sz="1238" b="1" dirty="0">
              <a:solidFill>
                <a:srgbClr val="D64545"/>
              </a:solidFill>
              <a:latin typeface="페이퍼로지 5 Medium" pitchFamily="2" charset="-127"/>
              <a:ea typeface="페이퍼로지 5 Medium" pitchFamily="2" charset="-127"/>
              <a:cs typeface="Malgun Gothic"/>
            </a:endParaRPr>
          </a:p>
          <a:p>
            <a:pPr algn="ctr">
              <a:buNone/>
              <a:defRPr sz="1238" b="1">
                <a:solidFill>
                  <a:srgbClr val="D64545"/>
                </a:solidFill>
                <a:latin typeface="Malgun Gothic"/>
                <a:ea typeface="Malgun Gothic"/>
                <a:cs typeface="Malgun Gothic"/>
              </a:defRPr>
            </a:pPr>
            <a:r>
              <a:rPr sz="1238" b="1" dirty="0" err="1">
                <a:solidFill>
                  <a:srgbClr val="D64545"/>
                </a:solidFill>
                <a:latin typeface="페이퍼로지 5 Medium" pitchFamily="2" charset="-127"/>
                <a:ea typeface="페이퍼로지 5 Medium" pitchFamily="2" charset="-127"/>
                <a:cs typeface="Malgun Gothic"/>
              </a:rPr>
              <a:t>구현</a:t>
            </a:r>
            <a:r>
              <a:rPr sz="1238" b="1" dirty="0">
                <a:solidFill>
                  <a:srgbClr val="D64545"/>
                </a:solidFill>
                <a:latin typeface="페이퍼로지 5 Medium" pitchFamily="2" charset="-127"/>
                <a:ea typeface="페이퍼로지 5 Medium" pitchFamily="2" charset="-127"/>
                <a:cs typeface="Malgun Gothic"/>
              </a:rPr>
              <a:t>  ALPHA </a:t>
            </a:r>
            <a:r>
              <a:rPr sz="1238" b="1" dirty="0" err="1">
                <a:solidFill>
                  <a:srgbClr val="D64545"/>
                </a:solidFill>
                <a:latin typeface="페이퍼로지 5 Medium" pitchFamily="2" charset="-127"/>
                <a:ea typeface="페이퍼로지 5 Medium" pitchFamily="2" charset="-127"/>
                <a:cs typeface="Malgun Gothic"/>
              </a:rPr>
              <a:t>변환</a:t>
            </a:r>
            <a:r>
              <a:rPr sz="1238" b="1" dirty="0">
                <a:solidFill>
                  <a:srgbClr val="D64545"/>
                </a:solidFill>
                <a:latin typeface="페이퍼로지 5 Medium" pitchFamily="2" charset="-127"/>
                <a:ea typeface="페이퍼로지 5 Medium" pitchFamily="2" charset="-127"/>
                <a:cs typeface="Malgun Gothic"/>
              </a:rPr>
              <a:t> 후 </a:t>
            </a:r>
            <a:r>
              <a:rPr sz="1238" b="1" dirty="0" err="1">
                <a:solidFill>
                  <a:srgbClr val="D64545"/>
                </a:solidFill>
                <a:latin typeface="페이퍼로지 5 Medium" pitchFamily="2" charset="-127"/>
                <a:ea typeface="페이퍼로지 5 Medium" pitchFamily="2" charset="-127"/>
                <a:cs typeface="Malgun Gothic"/>
              </a:rPr>
              <a:t>중복</a:t>
            </a:r>
            <a:r>
              <a:rPr sz="1238" b="1" dirty="0">
                <a:solidFill>
                  <a:srgbClr val="D64545"/>
                </a:solidFill>
                <a:latin typeface="페이퍼로지 5 Medium" pitchFamily="2" charset="-127"/>
                <a:ea typeface="페이퍼로지 5 Medium" pitchFamily="2" charset="-127"/>
                <a:cs typeface="Malgun Gothic"/>
              </a:rPr>
              <a:t> </a:t>
            </a:r>
            <a:r>
              <a:rPr sz="1238" b="1" dirty="0" err="1">
                <a:solidFill>
                  <a:srgbClr val="D64545"/>
                </a:solidFill>
                <a:latin typeface="페이퍼로지 5 Medium" pitchFamily="2" charset="-127"/>
                <a:ea typeface="페이퍼로지 5 Medium" pitchFamily="2" charset="-127"/>
                <a:cs typeface="Malgun Gothic"/>
              </a:rPr>
              <a:t>계정</a:t>
            </a:r>
            <a:r>
              <a:rPr sz="1238" b="1" dirty="0">
                <a:solidFill>
                  <a:srgbClr val="D64545"/>
                </a:solidFill>
                <a:latin typeface="페이퍼로지 5 Medium" pitchFamily="2" charset="-127"/>
                <a:ea typeface="페이퍼로지 5 Medium" pitchFamily="2" charset="-127"/>
                <a:cs typeface="Malgun Gothic"/>
              </a:rPr>
              <a:t> </a:t>
            </a:r>
            <a:r>
              <a:rPr sz="1238" b="1" dirty="0" err="1">
                <a:solidFill>
                  <a:srgbClr val="D64545"/>
                </a:solidFill>
                <a:latin typeface="페이퍼로지 5 Medium" pitchFamily="2" charset="-127"/>
                <a:ea typeface="페이퍼로지 5 Medium" pitchFamily="2" charset="-127"/>
                <a:cs typeface="Malgun Gothic"/>
              </a:rPr>
              <a:t>조회</a:t>
            </a:r>
            <a:endParaRPr sz="1238" b="1" dirty="0">
              <a:solidFill>
                <a:srgbClr val="D64545"/>
              </a:solidFill>
              <a:latin typeface="페이퍼로지 5 Medium" pitchFamily="2" charset="-127"/>
              <a:ea typeface="페이퍼로지 5 Medium" pitchFamily="2" charset="-127"/>
              <a:cs typeface="Malgun Gothic"/>
            </a:endParaRPr>
          </a:p>
          <a:p>
            <a:pPr algn="ctr">
              <a:buNone/>
              <a:defRPr sz="1238" b="1">
                <a:solidFill>
                  <a:srgbClr val="D64545"/>
                </a:solidFill>
                <a:latin typeface="Malgun Gothic"/>
                <a:ea typeface="Malgun Gothic"/>
                <a:cs typeface="Malgun Gothic"/>
              </a:defRPr>
            </a:pPr>
            <a:r>
              <a:rPr sz="1238" b="1" dirty="0" err="1">
                <a:solidFill>
                  <a:srgbClr val="D64545"/>
                </a:solidFill>
                <a:latin typeface="페이퍼로지 5 Medium" pitchFamily="2" charset="-127"/>
                <a:ea typeface="페이퍼로지 5 Medium" pitchFamily="2" charset="-127"/>
                <a:cs typeface="Malgun Gothic"/>
              </a:rPr>
              <a:t>결과</a:t>
            </a:r>
            <a:r>
              <a:rPr sz="1238" b="1" dirty="0">
                <a:solidFill>
                  <a:srgbClr val="D64545"/>
                </a:solidFill>
                <a:latin typeface="페이퍼로지 5 Medium" pitchFamily="2" charset="-127"/>
                <a:ea typeface="페이퍼로지 5 Medium" pitchFamily="2" charset="-127"/>
                <a:cs typeface="Malgun Gothic"/>
              </a:rPr>
              <a:t>  </a:t>
            </a:r>
            <a:r>
              <a:rPr sz="1238" b="1" dirty="0" err="1">
                <a:solidFill>
                  <a:srgbClr val="D64545"/>
                </a:solidFill>
                <a:latin typeface="페이퍼로지 5 Medium" pitchFamily="2" charset="-127"/>
                <a:ea typeface="페이퍼로지 5 Medium" pitchFamily="2" charset="-127"/>
                <a:cs typeface="Malgun Gothic"/>
              </a:rPr>
              <a:t>오류</a:t>
            </a:r>
            <a:r>
              <a:rPr sz="1238" b="1" dirty="0">
                <a:solidFill>
                  <a:srgbClr val="D64545"/>
                </a:solidFill>
                <a:latin typeface="페이퍼로지 5 Medium" pitchFamily="2" charset="-127"/>
                <a:ea typeface="페이퍼로지 5 Medium" pitchFamily="2" charset="-127"/>
                <a:cs typeface="Malgun Gothic"/>
              </a:rPr>
              <a:t> </a:t>
            </a:r>
            <a:r>
              <a:rPr sz="1238" b="1" dirty="0" err="1">
                <a:solidFill>
                  <a:srgbClr val="D64545"/>
                </a:solidFill>
                <a:latin typeface="페이퍼로지 5 Medium" pitchFamily="2" charset="-127"/>
                <a:ea typeface="페이퍼로지 5 Medium" pitchFamily="2" charset="-127"/>
                <a:cs typeface="Malgun Gothic"/>
              </a:rPr>
              <a:t>메시지</a:t>
            </a:r>
            <a:r>
              <a:rPr sz="1238" b="1" dirty="0">
                <a:solidFill>
                  <a:srgbClr val="D64545"/>
                </a:solidFill>
                <a:latin typeface="페이퍼로지 5 Medium" pitchFamily="2" charset="-127"/>
                <a:ea typeface="페이퍼로지 5 Medium" pitchFamily="2" charset="-127"/>
                <a:cs typeface="Malgun Gothic"/>
              </a:rPr>
              <a:t> </a:t>
            </a:r>
            <a:r>
              <a:rPr sz="1238" b="1" dirty="0" err="1">
                <a:solidFill>
                  <a:srgbClr val="D64545"/>
                </a:solidFill>
                <a:latin typeface="페이퍼로지 5 Medium" pitchFamily="2" charset="-127"/>
                <a:ea typeface="페이퍼로지 5 Medium" pitchFamily="2" charset="-127"/>
                <a:cs typeface="Malgun Gothic"/>
              </a:rPr>
              <a:t>표시</a:t>
            </a:r>
            <a:r>
              <a:rPr sz="1238" b="1" dirty="0">
                <a:solidFill>
                  <a:srgbClr val="D64545"/>
                </a:solidFill>
                <a:latin typeface="페이퍼로지 5 Medium" pitchFamily="2" charset="-127"/>
                <a:ea typeface="페이퍼로지 5 Medium" pitchFamily="2" charset="-127"/>
                <a:cs typeface="Malgun Gothic"/>
              </a:rPr>
              <a:t> 후 </a:t>
            </a:r>
            <a:r>
              <a:rPr sz="1238" b="1" dirty="0" err="1">
                <a:solidFill>
                  <a:srgbClr val="D64545"/>
                </a:solidFill>
                <a:latin typeface="페이퍼로지 5 Medium" pitchFamily="2" charset="-127"/>
                <a:ea typeface="페이퍼로지 5 Medium" pitchFamily="2" charset="-127"/>
                <a:cs typeface="Malgun Gothic"/>
              </a:rPr>
              <a:t>저장</a:t>
            </a:r>
            <a:r>
              <a:rPr sz="1238" b="1" dirty="0">
                <a:solidFill>
                  <a:srgbClr val="D64545"/>
                </a:solidFill>
                <a:latin typeface="페이퍼로지 5 Medium" pitchFamily="2" charset="-127"/>
                <a:ea typeface="페이퍼로지 5 Medium" pitchFamily="2" charset="-127"/>
                <a:cs typeface="Malgun Gothic"/>
              </a:rPr>
              <a:t> </a:t>
            </a:r>
            <a:r>
              <a:rPr sz="1238" b="1" dirty="0" err="1">
                <a:solidFill>
                  <a:srgbClr val="D64545"/>
                </a:solidFill>
                <a:latin typeface="페이퍼로지 5 Medium" pitchFamily="2" charset="-127"/>
                <a:ea typeface="페이퍼로지 5 Medium" pitchFamily="2" charset="-127"/>
                <a:cs typeface="Malgun Gothic"/>
              </a:rPr>
              <a:t>차단</a:t>
            </a:r>
            <a:endParaRPr sz="1238" b="1" dirty="0">
              <a:solidFill>
                <a:srgbClr val="D64545"/>
              </a:solidFill>
              <a:latin typeface="페이퍼로지 5 Medium" pitchFamily="2" charset="-127"/>
              <a:ea typeface="페이퍼로지 5 Medium" pitchFamily="2" charset="-127"/>
              <a:cs typeface="Malgun Gothic"/>
            </a:endParaRPr>
          </a:p>
        </p:txBody>
      </p:sp>
      <p:sp>
        <p:nvSpPr>
          <p:cNvPr id="33" name="fs04-title">
            <a:extLst>
              <a:ext uri="{FF2B5EF4-FFF2-40B4-BE49-F238E27FC236}">
                <a16:creationId xmlns:a16="http://schemas.microsoft.com/office/drawing/2014/main" id="{C9AB870A-2570-4218-8937-90A5D88A1062}"/>
              </a:ext>
            </a:extLst>
          </p:cNvPr>
          <p:cNvSpPr>
            <a:spLocks noGrp="1"/>
          </p:cNvSpPr>
          <p:nvPr/>
        </p:nvSpPr>
        <p:spPr>
          <a:xfrm>
            <a:off x="6572250" y="1524000"/>
            <a:ext cx="4762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875" b="1">
                <a:solidFill>
                  <a:srgbClr val="1C355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C3557"/>
                </a:solidFill>
                <a:latin typeface="페이퍼로지 5 Medium" pitchFamily="2" charset="-127"/>
                <a:ea typeface="페이퍼로지 5 Medium" pitchFamily="2" charset="-127"/>
                <a:cs typeface="페이퍼로지 5 Medium"/>
              </a:rPr>
              <a:t>FS04 계정결정 업무 규칙</a:t>
            </a:r>
          </a:p>
        </p:txBody>
      </p:sp>
      <p:pic>
        <p:nvPicPr>
          <p:cNvPr id="68" name="그림 6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038975" y="1952625"/>
            <a:ext cx="3829050" cy="2876550"/>
          </a:xfrm>
          <a:prstGeom prst="rect">
            <a:avLst/>
          </a:prstGeom>
        </p:spPr>
      </p:pic>
      <p:sp>
        <p:nvSpPr>
          <p:cNvPr id="35" name="fs04-result">
            <a:extLst>
              <a:ext uri="{FF2B5EF4-FFF2-40B4-BE49-F238E27FC236}">
                <a16:creationId xmlns:a16="http://schemas.microsoft.com/office/drawing/2014/main" id="{B82FD7C2-083A-4DEB-A420-72590F8392E1}"/>
              </a:ext>
            </a:extLst>
          </p:cNvPr>
          <p:cNvSpPr>
            <a:spLocks noGrp="1"/>
          </p:cNvSpPr>
          <p:nvPr/>
        </p:nvSpPr>
        <p:spPr>
          <a:xfrm>
            <a:off x="6327648" y="5247722"/>
            <a:ext cx="5257800" cy="895350"/>
          </a:xfrm>
          <a:prstGeom prst="roundRect">
            <a:avLst>
              <a:gd name="adj" fmla="val 19231"/>
            </a:avLst>
          </a:prstGeom>
          <a:solidFill>
            <a:srgbClr val="FFF6F6"/>
          </a:solidFill>
          <a:ln w="11430">
            <a:solidFill>
              <a:srgbClr val="D64545">
                <a:alpha val="33333"/>
              </a:srgbClr>
            </a:solidFill>
            <a:prstDash val="solid"/>
          </a:ln>
        </p:spPr>
        <p:txBody>
          <a:bodyPr wrap="square" lIns="95250" tIns="47625" rIns="95250" bIns="47625" anchor="ctr">
            <a:normAutofit/>
          </a:bodyPr>
          <a:lstStyle/>
          <a:p>
            <a:pPr algn="ctr">
              <a:buNone/>
              <a:defRPr sz="1163" b="1">
                <a:solidFill>
                  <a:srgbClr val="D64545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 b="1">
                <a:solidFill>
                  <a:srgbClr val="D64545"/>
                </a:solidFill>
                <a:latin typeface="페이퍼로지 5 Medium" pitchFamily="2" charset="-127"/>
                <a:ea typeface="페이퍼로지 5 Medium" pitchFamily="2" charset="-127"/>
                <a:cs typeface="Malgun Gothic"/>
              </a:rPr>
              <a:t>문제  필드 길이 검사가 아닌 실제 업무 조합 검증 필요</a:t>
            </a:r>
          </a:p>
          <a:p>
            <a:pPr algn="ctr">
              <a:buNone/>
              <a:defRPr sz="1163" b="1">
                <a:solidFill>
                  <a:srgbClr val="D64545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 b="1">
                <a:solidFill>
                  <a:srgbClr val="D64545"/>
                </a:solidFill>
                <a:latin typeface="페이퍼로지 5 Medium" pitchFamily="2" charset="-127"/>
                <a:ea typeface="페이퍼로지 5 Medium" pitchFamily="2" charset="-127"/>
                <a:cs typeface="Malgun Gothic"/>
              </a:rPr>
              <a:t>구현  BWART 101 · KTOSL WRX · BKLAS 3000 입력</a:t>
            </a:r>
          </a:p>
          <a:p>
            <a:pPr algn="ctr">
              <a:buNone/>
              <a:defRPr sz="1163" b="1">
                <a:solidFill>
                  <a:srgbClr val="D64545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 b="1">
                <a:solidFill>
                  <a:srgbClr val="D64545"/>
                </a:solidFill>
                <a:latin typeface="페이퍼로지 5 Medium" pitchFamily="2" charset="-127"/>
                <a:ea typeface="페이퍼로지 5 Medium" pitchFamily="2" charset="-127"/>
                <a:cs typeface="Malgun Gothic"/>
              </a:rPr>
              <a:t>결과  평가클래스 지정 불가 메시지로 저장 차단</a:t>
            </a:r>
          </a:p>
        </p:txBody>
      </p:sp>
    </p:spTree>
    <p:extLst>
      <p:ext uri="{BB962C8B-B14F-4D97-AF65-F5344CB8AC3E}">
        <p14:creationId xmlns:p14="http://schemas.microsoft.com/office/powerpoint/2010/main" val="8664217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423269A-A7D2-473E-B554-C213A5F83761}"/>
              </a:ext>
            </a:extLst>
          </p:cNvPr>
          <p:cNvSpPr>
            <a:spLocks noGrp="1"/>
          </p:cNvSpPr>
          <p:nvPr/>
        </p:nvSpPr>
        <p:spPr>
          <a:xfrm>
            <a:off x="530352" y="1081903"/>
            <a:ext cx="5486400" cy="53675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페이퍼로지 5 Medium" pitchFamily="2" charset="-127"/>
              <a:ea typeface="페이퍼로지 5 Medium" pitchFamily="2" charset="-127"/>
              <a:cs typeface="페이퍼로지 5 Medium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322FF5-6F1B-4EDE-B7E2-02D989EB4181}"/>
              </a:ext>
            </a:extLst>
          </p:cNvPr>
          <p:cNvSpPr>
            <a:spLocks noGrp="1"/>
          </p:cNvSpPr>
          <p:nvPr/>
        </p:nvSpPr>
        <p:spPr>
          <a:xfrm>
            <a:off x="768096" y="1694551"/>
            <a:ext cx="5029200" cy="3354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buNone/>
            </a:pPr>
            <a:r>
              <a:rPr sz="1700" b="1">
                <a:solidFill>
                  <a:srgbClr val="192D46"/>
                </a:solidFill>
                <a:latin typeface="페이퍼로지 5 Medium" pitchFamily="2" charset="-127"/>
                <a:ea typeface="페이퍼로지 5 Medium" pitchFamily="2" charset="-127"/>
                <a:cs typeface="페이퍼로지 5 Medium"/>
              </a:rPr>
              <a:t>공통 Value Help / Combo Box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BA64E1-56EE-40DC-B288-584167D0BA48}"/>
              </a:ext>
            </a:extLst>
          </p:cNvPr>
          <p:cNvSpPr>
            <a:spLocks noGrp="1"/>
          </p:cNvSpPr>
          <p:nvPr/>
        </p:nvSpPr>
        <p:spPr>
          <a:xfrm>
            <a:off x="768096" y="2060311"/>
            <a:ext cx="4983480" cy="273253"/>
          </a:xfrm>
          <a:prstGeom prst="rect">
            <a:avLst/>
          </a:prstGeom>
          <a:noFill/>
        </p:spPr>
        <p:txBody>
          <a:bodyPr wrap="square" lIns="0" tIns="9525" rIns="0" bIns="9525" anchor="ctr">
            <a:normAutofit/>
          </a:bodyPr>
          <a:lstStyle/>
          <a:p>
            <a:pPr algn="ctr">
              <a:buNone/>
              <a:defRPr sz="1313" b="0">
                <a:solidFill>
                  <a:srgbClr val="1C3557"/>
                </a:solidFill>
                <a:latin typeface="Malgun Gothic"/>
                <a:ea typeface="Malgun Gothic"/>
                <a:cs typeface="Malgun Gothic"/>
              </a:defRPr>
            </a:pPr>
            <a:r>
              <a:rPr sz="1313" b="0" dirty="0" err="1">
                <a:solidFill>
                  <a:srgbClr val="1C3557"/>
                </a:solidFill>
                <a:latin typeface="페이퍼로지 5 Medium" pitchFamily="2" charset="-127"/>
                <a:ea typeface="페이퍼로지 5 Medium" pitchFamily="2" charset="-127"/>
                <a:cs typeface="Malgun Gothic"/>
              </a:rPr>
              <a:t>문제</a:t>
            </a:r>
            <a:r>
              <a:rPr sz="1313" b="0" dirty="0">
                <a:solidFill>
                  <a:srgbClr val="1C3557"/>
                </a:solidFill>
                <a:latin typeface="페이퍼로지 5 Medium" pitchFamily="2" charset="-127"/>
                <a:ea typeface="페이퍼로지 5 Medium" pitchFamily="2" charset="-127"/>
                <a:cs typeface="Malgun Gothic"/>
              </a:rPr>
              <a:t>  </a:t>
            </a:r>
            <a:r>
              <a:rPr sz="1313" b="0" dirty="0" err="1">
                <a:solidFill>
                  <a:srgbClr val="1C3557"/>
                </a:solidFill>
                <a:latin typeface="페이퍼로지 5 Medium" pitchFamily="2" charset="-127"/>
                <a:ea typeface="페이퍼로지 5 Medium" pitchFamily="2" charset="-127"/>
                <a:cs typeface="Malgun Gothic"/>
              </a:rPr>
              <a:t>코드</a:t>
            </a:r>
            <a:r>
              <a:rPr sz="1313" b="0" dirty="0">
                <a:solidFill>
                  <a:srgbClr val="1C3557"/>
                </a:solidFill>
                <a:latin typeface="페이퍼로지 5 Medium" pitchFamily="2" charset="-127"/>
                <a:ea typeface="페이퍼로지 5 Medium" pitchFamily="2" charset="-127"/>
                <a:cs typeface="Malgun Gothic"/>
              </a:rPr>
              <a:t> </a:t>
            </a:r>
            <a:r>
              <a:rPr sz="1313" b="0" dirty="0" err="1">
                <a:solidFill>
                  <a:srgbClr val="1C3557"/>
                </a:solidFill>
                <a:latin typeface="페이퍼로지 5 Medium" pitchFamily="2" charset="-127"/>
                <a:ea typeface="페이퍼로지 5 Medium" pitchFamily="2" charset="-127"/>
                <a:cs typeface="Malgun Gothic"/>
              </a:rPr>
              <a:t>직접</a:t>
            </a:r>
            <a:r>
              <a:rPr sz="1313" b="0" dirty="0">
                <a:solidFill>
                  <a:srgbClr val="1C3557"/>
                </a:solidFill>
                <a:latin typeface="페이퍼로지 5 Medium" pitchFamily="2" charset="-127"/>
                <a:ea typeface="페이퍼로지 5 Medium" pitchFamily="2" charset="-127"/>
                <a:cs typeface="Malgun Gothic"/>
              </a:rPr>
              <a:t> </a:t>
            </a:r>
            <a:r>
              <a:rPr sz="1313" b="0" dirty="0" err="1">
                <a:solidFill>
                  <a:srgbClr val="1C3557"/>
                </a:solidFill>
                <a:latin typeface="페이퍼로지 5 Medium" pitchFamily="2" charset="-127"/>
                <a:ea typeface="페이퍼로지 5 Medium" pitchFamily="2" charset="-127"/>
                <a:cs typeface="Malgun Gothic"/>
              </a:rPr>
              <a:t>입력</a:t>
            </a:r>
            <a:r>
              <a:rPr sz="1313" b="0" dirty="0">
                <a:solidFill>
                  <a:srgbClr val="1C3557"/>
                </a:solidFill>
                <a:latin typeface="페이퍼로지 5 Medium" pitchFamily="2" charset="-127"/>
                <a:ea typeface="페이퍼로지 5 Medium" pitchFamily="2" charset="-127"/>
                <a:cs typeface="Malgun Gothic"/>
              </a:rPr>
              <a:t> 시 </a:t>
            </a:r>
            <a:r>
              <a:rPr sz="1313" b="0" dirty="0" err="1">
                <a:solidFill>
                  <a:srgbClr val="1C3557"/>
                </a:solidFill>
                <a:latin typeface="페이퍼로지 5 Medium" pitchFamily="2" charset="-127"/>
                <a:ea typeface="페이퍼로지 5 Medium" pitchFamily="2" charset="-127"/>
                <a:cs typeface="Malgun Gothic"/>
              </a:rPr>
              <a:t>형식</a:t>
            </a:r>
            <a:r>
              <a:rPr sz="1313" b="0" dirty="0">
                <a:solidFill>
                  <a:srgbClr val="1C3557"/>
                </a:solidFill>
                <a:latin typeface="페이퍼로지 5 Medium" pitchFamily="2" charset="-127"/>
                <a:ea typeface="페이퍼로지 5 Medium" pitchFamily="2" charset="-127"/>
                <a:cs typeface="Malgun Gothic"/>
              </a:rPr>
              <a:t> </a:t>
            </a:r>
            <a:r>
              <a:rPr sz="1313" b="0" dirty="0" err="1">
                <a:solidFill>
                  <a:srgbClr val="1C3557"/>
                </a:solidFill>
                <a:latin typeface="페이퍼로지 5 Medium" pitchFamily="2" charset="-127"/>
                <a:ea typeface="페이퍼로지 5 Medium" pitchFamily="2" charset="-127"/>
                <a:cs typeface="Malgun Gothic"/>
              </a:rPr>
              <a:t>오류와</a:t>
            </a:r>
            <a:r>
              <a:rPr sz="1313" b="0" dirty="0">
                <a:solidFill>
                  <a:srgbClr val="1C3557"/>
                </a:solidFill>
                <a:latin typeface="페이퍼로지 5 Medium" pitchFamily="2" charset="-127"/>
                <a:ea typeface="페이퍼로지 5 Medium" pitchFamily="2" charset="-127"/>
                <a:cs typeface="Malgun Gothic"/>
              </a:rPr>
              <a:t> </a:t>
            </a:r>
            <a:r>
              <a:rPr sz="1313" b="0" dirty="0" err="1">
                <a:solidFill>
                  <a:srgbClr val="1C3557"/>
                </a:solidFill>
                <a:latin typeface="페이퍼로지 5 Medium" pitchFamily="2" charset="-127"/>
                <a:ea typeface="페이퍼로지 5 Medium" pitchFamily="2" charset="-127"/>
                <a:cs typeface="Malgun Gothic"/>
              </a:rPr>
              <a:t>오입력</a:t>
            </a:r>
            <a:r>
              <a:rPr sz="1313" b="0" dirty="0">
                <a:solidFill>
                  <a:srgbClr val="1C3557"/>
                </a:solidFill>
                <a:latin typeface="페이퍼로지 5 Medium" pitchFamily="2" charset="-127"/>
                <a:ea typeface="페이퍼로지 5 Medium" pitchFamily="2" charset="-127"/>
                <a:cs typeface="Malgun Gothic"/>
              </a:rPr>
              <a:t> </a:t>
            </a:r>
            <a:r>
              <a:rPr sz="1313" b="0" dirty="0" err="1">
                <a:solidFill>
                  <a:srgbClr val="1C3557"/>
                </a:solidFill>
                <a:latin typeface="페이퍼로지 5 Medium" pitchFamily="2" charset="-127"/>
                <a:ea typeface="페이퍼로지 5 Medium" pitchFamily="2" charset="-127"/>
                <a:cs typeface="Malgun Gothic"/>
              </a:rPr>
              <a:t>가능</a:t>
            </a:r>
            <a:endParaRPr sz="1313" b="0" dirty="0">
              <a:solidFill>
                <a:srgbClr val="1C3557"/>
              </a:solidFill>
              <a:latin typeface="페이퍼로지 5 Medium" pitchFamily="2" charset="-127"/>
              <a:ea typeface="페이퍼로지 5 Medium" pitchFamily="2" charset="-127"/>
              <a:cs typeface="Malgun Gothic"/>
            </a:endParaRPr>
          </a:p>
        </p:txBody>
      </p:sp>
      <p:pic>
        <p:nvPicPr>
          <p:cNvPr id="23" name="Picture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611630" y="2491222"/>
            <a:ext cx="3234690" cy="26955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BDE5F30-B044-45DC-8ECE-BC61736A9759}"/>
              </a:ext>
            </a:extLst>
          </p:cNvPr>
          <p:cNvSpPr>
            <a:spLocks noGrp="1"/>
          </p:cNvSpPr>
          <p:nvPr/>
        </p:nvSpPr>
        <p:spPr>
          <a:xfrm>
            <a:off x="777240" y="5705621"/>
            <a:ext cx="5010912" cy="256032"/>
          </a:xfrm>
          <a:prstGeom prst="rect">
            <a:avLst/>
          </a:prstGeom>
          <a:noFill/>
        </p:spPr>
        <p:txBody>
          <a:bodyPr wrap="square" lIns="0" tIns="9525" rIns="0" bIns="9525" anchor="ctr">
            <a:normAutofit/>
          </a:bodyPr>
          <a:lstStyle/>
          <a:p>
            <a:pPr algn="ctr">
              <a:buNone/>
              <a:defRPr sz="1200" b="1">
                <a:solidFill>
                  <a:srgbClr val="2768D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 dirty="0" err="1">
                <a:solidFill>
                  <a:srgbClr val="2768D5"/>
                </a:solidFill>
                <a:latin typeface="페이퍼로지 5 Medium" pitchFamily="2" charset="-127"/>
                <a:ea typeface="페이퍼로지 5 Medium" pitchFamily="2" charset="-127"/>
                <a:cs typeface="Malgun Gothic"/>
              </a:rPr>
              <a:t>구현·결과</a:t>
            </a:r>
            <a:r>
              <a:rPr sz="1200" b="1" dirty="0">
                <a:solidFill>
                  <a:srgbClr val="2768D5"/>
                </a:solidFill>
                <a:latin typeface="페이퍼로지 5 Medium" pitchFamily="2" charset="-127"/>
                <a:ea typeface="페이퍼로지 5 Medium" pitchFamily="2" charset="-127"/>
                <a:cs typeface="Malgun Gothic"/>
              </a:rPr>
              <a:t>  </a:t>
            </a:r>
            <a:r>
              <a:rPr sz="1200" b="1" dirty="0" err="1">
                <a:solidFill>
                  <a:srgbClr val="2768D5"/>
                </a:solidFill>
                <a:latin typeface="페이퍼로지 5 Medium" pitchFamily="2" charset="-127"/>
                <a:ea typeface="페이퍼로지 5 Medium" pitchFamily="2" charset="-127"/>
                <a:cs typeface="Malgun Gothic"/>
              </a:rPr>
              <a:t>공통</a:t>
            </a:r>
            <a:r>
              <a:rPr sz="1200" b="1" dirty="0">
                <a:solidFill>
                  <a:srgbClr val="2768D5"/>
                </a:solidFill>
                <a:latin typeface="페이퍼로지 5 Medium" pitchFamily="2" charset="-127"/>
                <a:ea typeface="페이퍼로지 5 Medium" pitchFamily="2" charset="-127"/>
                <a:cs typeface="Malgun Gothic"/>
              </a:rPr>
              <a:t> CDS Value Help </a:t>
            </a:r>
            <a:r>
              <a:rPr sz="1200" b="1" dirty="0" err="1">
                <a:solidFill>
                  <a:srgbClr val="2768D5"/>
                </a:solidFill>
                <a:latin typeface="페이퍼로지 5 Medium" pitchFamily="2" charset="-127"/>
                <a:ea typeface="페이퍼로지 5 Medium" pitchFamily="2" charset="-127"/>
                <a:cs typeface="Malgun Gothic"/>
              </a:rPr>
              <a:t>재사용으로</a:t>
            </a:r>
            <a:r>
              <a:rPr sz="1200" b="1" dirty="0">
                <a:solidFill>
                  <a:srgbClr val="2768D5"/>
                </a:solidFill>
                <a:latin typeface="페이퍼로지 5 Medium" pitchFamily="2" charset="-127"/>
                <a:ea typeface="페이퍼로지 5 Medium" pitchFamily="2" charset="-127"/>
                <a:cs typeface="Malgun Gothic"/>
              </a:rPr>
              <a:t> </a:t>
            </a:r>
            <a:r>
              <a:rPr sz="1200" b="1" dirty="0" err="1">
                <a:solidFill>
                  <a:srgbClr val="2768D5"/>
                </a:solidFill>
                <a:latin typeface="페이퍼로지 5 Medium" pitchFamily="2" charset="-127"/>
                <a:ea typeface="페이퍼로지 5 Medium" pitchFamily="2" charset="-127"/>
                <a:cs typeface="Malgun Gothic"/>
              </a:rPr>
              <a:t>입력</a:t>
            </a:r>
            <a:r>
              <a:rPr sz="1200" b="1" dirty="0">
                <a:solidFill>
                  <a:srgbClr val="2768D5"/>
                </a:solidFill>
                <a:latin typeface="페이퍼로지 5 Medium" pitchFamily="2" charset="-127"/>
                <a:ea typeface="페이퍼로지 5 Medium" pitchFamily="2" charset="-127"/>
                <a:cs typeface="Malgun Gothic"/>
              </a:rPr>
              <a:t> </a:t>
            </a:r>
            <a:r>
              <a:rPr sz="1200" b="1" dirty="0" err="1">
                <a:solidFill>
                  <a:srgbClr val="2768D5"/>
                </a:solidFill>
                <a:latin typeface="페이퍼로지 5 Medium" pitchFamily="2" charset="-127"/>
                <a:ea typeface="페이퍼로지 5 Medium" pitchFamily="2" charset="-127"/>
                <a:cs typeface="Malgun Gothic"/>
              </a:rPr>
              <a:t>기준</a:t>
            </a:r>
            <a:r>
              <a:rPr sz="1200" b="1" dirty="0">
                <a:solidFill>
                  <a:srgbClr val="2768D5"/>
                </a:solidFill>
                <a:latin typeface="페이퍼로지 5 Medium" pitchFamily="2" charset="-127"/>
                <a:ea typeface="페이퍼로지 5 Medium" pitchFamily="2" charset="-127"/>
                <a:cs typeface="Malgun Gothic"/>
              </a:rPr>
              <a:t> </a:t>
            </a:r>
            <a:r>
              <a:rPr sz="1200" b="1" dirty="0" err="1">
                <a:solidFill>
                  <a:srgbClr val="2768D5"/>
                </a:solidFill>
                <a:latin typeface="페이퍼로지 5 Medium" pitchFamily="2" charset="-127"/>
                <a:ea typeface="페이퍼로지 5 Medium" pitchFamily="2" charset="-127"/>
                <a:cs typeface="Malgun Gothic"/>
              </a:rPr>
              <a:t>통일</a:t>
            </a:r>
            <a:endParaRPr sz="1200" b="1" dirty="0">
              <a:solidFill>
                <a:srgbClr val="2768D5"/>
              </a:solidFill>
              <a:latin typeface="페이퍼로지 5 Medium" pitchFamily="2" charset="-127"/>
              <a:ea typeface="페이퍼로지 5 Medium" pitchFamily="2" charset="-127"/>
              <a:cs typeface="Malgun Gothic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991AD2D-4FD4-4DF6-8C98-00B8A6CDA22A}"/>
              </a:ext>
            </a:extLst>
          </p:cNvPr>
          <p:cNvSpPr>
            <a:spLocks noGrp="1"/>
          </p:cNvSpPr>
          <p:nvPr/>
        </p:nvSpPr>
        <p:spPr>
          <a:xfrm>
            <a:off x="6236208" y="1081903"/>
            <a:ext cx="5349240" cy="5367528"/>
          </a:xfrm>
          <a:prstGeom prst="roundRect">
            <a:avLst/>
          </a:prstGeom>
          <a:solidFill>
            <a:srgbClr val="F3F8FC"/>
          </a:solidFill>
          <a:ln w="12700"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E91706-FC01-412D-9EB2-9CFA1A2E0EB3}"/>
              </a:ext>
            </a:extLst>
          </p:cNvPr>
          <p:cNvSpPr>
            <a:spLocks noGrp="1"/>
          </p:cNvSpPr>
          <p:nvPr/>
        </p:nvSpPr>
        <p:spPr>
          <a:xfrm>
            <a:off x="6473952" y="1694551"/>
            <a:ext cx="4846320" cy="3354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buNone/>
            </a:pPr>
            <a:r>
              <a:rPr sz="1700" b="1" dirty="0">
                <a:solidFill>
                  <a:srgbClr val="192D46"/>
                </a:solidFill>
                <a:latin typeface="페이퍼로지 5 Medium" pitchFamily="2" charset="-127"/>
                <a:ea typeface="페이퍼로지 5 Medium" pitchFamily="2" charset="-127"/>
                <a:cs typeface="페이퍼로지 5 Medium"/>
              </a:rPr>
              <a:t>Draft </a:t>
            </a:r>
            <a:r>
              <a:rPr sz="1700" b="1" dirty="0" err="1">
                <a:solidFill>
                  <a:srgbClr val="192D46"/>
                </a:solidFill>
                <a:latin typeface="페이퍼로지 5 Medium" pitchFamily="2" charset="-127"/>
                <a:ea typeface="페이퍼로지 5 Medium" pitchFamily="2" charset="-127"/>
                <a:cs typeface="페이퍼로지 5 Medium"/>
              </a:rPr>
              <a:t>상태</a:t>
            </a:r>
            <a:r>
              <a:rPr sz="1700" b="1" dirty="0">
                <a:solidFill>
                  <a:srgbClr val="192D46"/>
                </a:solidFill>
                <a:latin typeface="페이퍼로지 5 Medium" pitchFamily="2" charset="-127"/>
                <a:ea typeface="페이퍼로지 5 Medium" pitchFamily="2" charset="-127"/>
                <a:cs typeface="페이퍼로지 5 Medium"/>
              </a:rPr>
              <a:t> </a:t>
            </a:r>
            <a:r>
              <a:rPr sz="1700" b="1" dirty="0" err="1">
                <a:solidFill>
                  <a:srgbClr val="192D46"/>
                </a:solidFill>
                <a:latin typeface="페이퍼로지 5 Medium" pitchFamily="2" charset="-127"/>
                <a:ea typeface="페이퍼로지 5 Medium" pitchFamily="2" charset="-127"/>
                <a:cs typeface="페이퍼로지 5 Medium"/>
              </a:rPr>
              <a:t>관리</a:t>
            </a:r>
            <a:endParaRPr sz="1700" b="1" dirty="0">
              <a:solidFill>
                <a:srgbClr val="192D46"/>
              </a:solidFill>
              <a:latin typeface="페이퍼로지 5 Medium" pitchFamily="2" charset="-127"/>
              <a:ea typeface="페이퍼로지 5 Medium" pitchFamily="2" charset="-127"/>
              <a:cs typeface="페이퍼로지 5 Medium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139635-1DC8-45DD-BA80-F94ED0017643}"/>
              </a:ext>
            </a:extLst>
          </p:cNvPr>
          <p:cNvSpPr>
            <a:spLocks noGrp="1"/>
          </p:cNvSpPr>
          <p:nvPr/>
        </p:nvSpPr>
        <p:spPr>
          <a:xfrm>
            <a:off x="6473952" y="2060311"/>
            <a:ext cx="4846320" cy="273253"/>
          </a:xfrm>
          <a:prstGeom prst="rect">
            <a:avLst/>
          </a:prstGeom>
          <a:noFill/>
        </p:spPr>
        <p:txBody>
          <a:bodyPr wrap="square" lIns="0" tIns="9525" rIns="0" bIns="9525" anchor="ctr">
            <a:normAutofit/>
          </a:bodyPr>
          <a:lstStyle/>
          <a:p>
            <a:pPr algn="ctr">
              <a:buNone/>
              <a:defRPr sz="1313" b="0">
                <a:solidFill>
                  <a:srgbClr val="1C3557"/>
                </a:solidFill>
                <a:latin typeface="Malgun Gothic"/>
                <a:ea typeface="Malgun Gothic"/>
                <a:cs typeface="Malgun Gothic"/>
              </a:defRPr>
            </a:pPr>
            <a:r>
              <a:rPr sz="1313" b="0">
                <a:solidFill>
                  <a:srgbClr val="1C3557"/>
                </a:solidFill>
                <a:latin typeface="페이퍼로지 5 Medium" pitchFamily="2" charset="-127"/>
                <a:ea typeface="페이퍼로지 5 Medium" pitchFamily="2" charset="-127"/>
                <a:cs typeface="Malgun Gothic"/>
              </a:rPr>
              <a:t>문제  작성 중 데이터와 저장된 데이터의 상태 구분 필요</a:t>
            </a:r>
          </a:p>
        </p:txBody>
      </p:sp>
      <p:pic>
        <p:nvPicPr>
          <p:cNvPr id="28" name="Picture 1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245668" y="2491222"/>
            <a:ext cx="3234690" cy="269557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F908B98-47B2-43B7-9438-19F962260CE0}"/>
              </a:ext>
            </a:extLst>
          </p:cNvPr>
          <p:cNvSpPr>
            <a:spLocks noGrp="1"/>
          </p:cNvSpPr>
          <p:nvPr/>
        </p:nvSpPr>
        <p:spPr>
          <a:xfrm>
            <a:off x="6586728" y="5705621"/>
            <a:ext cx="4828032" cy="256032"/>
          </a:xfrm>
          <a:prstGeom prst="rect">
            <a:avLst/>
          </a:prstGeom>
          <a:noFill/>
        </p:spPr>
        <p:txBody>
          <a:bodyPr wrap="square" lIns="0" tIns="9525" rIns="0" bIns="9525" anchor="ctr">
            <a:normAutofit/>
          </a:bodyPr>
          <a:lstStyle/>
          <a:p>
            <a:pPr algn="ctr">
              <a:buNone/>
              <a:defRPr sz="1200" b="1">
                <a:solidFill>
                  <a:srgbClr val="2768D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 dirty="0" err="1">
                <a:solidFill>
                  <a:srgbClr val="2768D5"/>
                </a:solidFill>
                <a:latin typeface="페이퍼로지 5 Medium" pitchFamily="2" charset="-127"/>
                <a:ea typeface="페이퍼로지 5 Medium" pitchFamily="2" charset="-127"/>
                <a:cs typeface="Malgun Gothic"/>
              </a:rPr>
              <a:t>구현·결과</a:t>
            </a:r>
            <a:r>
              <a:rPr sz="1200" b="1" dirty="0">
                <a:solidFill>
                  <a:srgbClr val="2768D5"/>
                </a:solidFill>
                <a:latin typeface="페이퍼로지 5 Medium" pitchFamily="2" charset="-127"/>
                <a:ea typeface="페이퍼로지 5 Medium" pitchFamily="2" charset="-127"/>
                <a:cs typeface="Malgun Gothic"/>
              </a:rPr>
              <a:t>  </a:t>
            </a:r>
            <a:r>
              <a:rPr sz="1200" b="1" dirty="0" err="1">
                <a:solidFill>
                  <a:srgbClr val="2768D5"/>
                </a:solidFill>
                <a:latin typeface="페이퍼로지 5 Medium" pitchFamily="2" charset="-127"/>
                <a:ea typeface="페이퍼로지 5 Medium" pitchFamily="2" charset="-127"/>
                <a:cs typeface="Malgun Gothic"/>
              </a:rPr>
              <a:t>semanticKey</a:t>
            </a:r>
            <a:r>
              <a:rPr sz="1200" b="1" dirty="0">
                <a:solidFill>
                  <a:srgbClr val="2768D5"/>
                </a:solidFill>
                <a:latin typeface="페이퍼로지 5 Medium" pitchFamily="2" charset="-127"/>
                <a:ea typeface="페이퍼로지 5 Medium" pitchFamily="2" charset="-127"/>
                <a:cs typeface="Malgun Gothic"/>
              </a:rPr>
              <a:t> </a:t>
            </a:r>
            <a:r>
              <a:rPr sz="1200" b="1" dirty="0" err="1">
                <a:solidFill>
                  <a:srgbClr val="2768D5"/>
                </a:solidFill>
                <a:latin typeface="페이퍼로지 5 Medium" pitchFamily="2" charset="-127"/>
                <a:ea typeface="페이퍼로지 5 Medium" pitchFamily="2" charset="-127"/>
                <a:cs typeface="Malgun Gothic"/>
              </a:rPr>
              <a:t>보완</a:t>
            </a:r>
            <a:r>
              <a:rPr sz="1200" b="1" dirty="0">
                <a:solidFill>
                  <a:srgbClr val="2768D5"/>
                </a:solidFill>
                <a:latin typeface="페이퍼로지 5 Medium" pitchFamily="2" charset="-127"/>
                <a:ea typeface="페이퍼로지 5 Medium" pitchFamily="2" charset="-127"/>
                <a:cs typeface="Malgun Gothic"/>
              </a:rPr>
              <a:t> 후 </a:t>
            </a:r>
            <a:r>
              <a:rPr sz="1200" b="1" dirty="0" err="1">
                <a:solidFill>
                  <a:srgbClr val="2768D5"/>
                </a:solidFill>
                <a:latin typeface="페이퍼로지 5 Medium" pitchFamily="2" charset="-127"/>
                <a:ea typeface="페이퍼로지 5 Medium" pitchFamily="2" charset="-127"/>
                <a:cs typeface="Malgun Gothic"/>
              </a:rPr>
              <a:t>목록에서</a:t>
            </a:r>
            <a:r>
              <a:rPr sz="1200" b="1" dirty="0">
                <a:solidFill>
                  <a:srgbClr val="2768D5"/>
                </a:solidFill>
                <a:latin typeface="페이퍼로지 5 Medium" pitchFamily="2" charset="-127"/>
                <a:ea typeface="페이퍼로지 5 Medium" pitchFamily="2" charset="-127"/>
                <a:cs typeface="Malgun Gothic"/>
              </a:rPr>
              <a:t> Draft </a:t>
            </a:r>
            <a:r>
              <a:rPr sz="1200" b="1" dirty="0" err="1">
                <a:solidFill>
                  <a:srgbClr val="2768D5"/>
                </a:solidFill>
                <a:latin typeface="페이퍼로지 5 Medium" pitchFamily="2" charset="-127"/>
                <a:ea typeface="페이퍼로지 5 Medium" pitchFamily="2" charset="-127"/>
                <a:cs typeface="Malgun Gothic"/>
              </a:rPr>
              <a:t>상태</a:t>
            </a:r>
            <a:r>
              <a:rPr sz="1200" b="1" dirty="0">
                <a:solidFill>
                  <a:srgbClr val="2768D5"/>
                </a:solidFill>
                <a:latin typeface="페이퍼로지 5 Medium" pitchFamily="2" charset="-127"/>
                <a:ea typeface="페이퍼로지 5 Medium" pitchFamily="2" charset="-127"/>
                <a:cs typeface="Malgun Gothic"/>
              </a:rPr>
              <a:t> </a:t>
            </a:r>
            <a:r>
              <a:rPr sz="1200" b="1" dirty="0" err="1">
                <a:solidFill>
                  <a:srgbClr val="2768D5"/>
                </a:solidFill>
                <a:latin typeface="페이퍼로지 5 Medium" pitchFamily="2" charset="-127"/>
                <a:ea typeface="페이퍼로지 5 Medium" pitchFamily="2" charset="-127"/>
                <a:cs typeface="Malgun Gothic"/>
              </a:rPr>
              <a:t>표시</a:t>
            </a:r>
            <a:endParaRPr sz="1200" b="1" dirty="0">
              <a:solidFill>
                <a:srgbClr val="2768D5"/>
              </a:solidFill>
              <a:latin typeface="페이퍼로지 5 Medium" pitchFamily="2" charset="-127"/>
              <a:ea typeface="페이퍼로지 5 Medium" pitchFamily="2" charset="-127"/>
              <a:cs typeface="Malgun Gothic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FFB9F44-358C-43E6-9360-A4E31D47937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EF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CDB8F9F-D381-4536-845D-3AB23F974E84}"/>
              </a:ext>
            </a:extLst>
          </p:cNvPr>
          <p:cNvSpPr>
            <a:spLocks noGrp="1"/>
          </p:cNvSpPr>
          <p:nvPr/>
        </p:nvSpPr>
        <p:spPr>
          <a:xfrm>
            <a:off x="0" y="804672"/>
            <a:ext cx="11292840" cy="32004"/>
          </a:xfrm>
          <a:prstGeom prst="rect">
            <a:avLst/>
          </a:prstGeom>
          <a:solidFill>
            <a:srgbClr val="CDD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페이퍼로지 5 Medium" pitchFamily="2" charset="-127"/>
              <a:ea typeface="페이퍼로지 5 Medium" pitchFamily="2" charset="-127"/>
              <a:cs typeface="페이퍼로지 5 Medium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2E2B5A1-589C-496A-AA8F-8FD01BA4DA90}"/>
              </a:ext>
            </a:extLst>
          </p:cNvPr>
          <p:cNvSpPr>
            <a:spLocks noGrp="1"/>
          </p:cNvSpPr>
          <p:nvPr/>
        </p:nvSpPr>
        <p:spPr>
          <a:xfrm>
            <a:off x="0" y="786384"/>
            <a:ext cx="4297680" cy="64008"/>
          </a:xfrm>
          <a:prstGeom prst="rect">
            <a:avLst/>
          </a:prstGeom>
          <a:solidFill>
            <a:srgbClr val="15A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페이퍼로지 5 Medium" pitchFamily="2" charset="-127"/>
              <a:ea typeface="페이퍼로지 5 Medium" pitchFamily="2" charset="-127"/>
              <a:cs typeface="페이퍼로지 5 Medium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811A81A-F72D-430C-A94A-396074ED9B49}"/>
              </a:ext>
            </a:extLst>
          </p:cNvPr>
          <p:cNvSpPr>
            <a:spLocks noGrp="1"/>
          </p:cNvSpPr>
          <p:nvPr/>
        </p:nvSpPr>
        <p:spPr>
          <a:xfrm>
            <a:off x="361950" y="123825"/>
            <a:ext cx="11239500" cy="590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925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000000"/>
                </a:solidFill>
                <a:latin typeface="페이퍼로지 5 Medium"/>
                <a:ea typeface="페이퍼로지 5 Medium"/>
                <a:cs typeface="페이퍼로지 5 Medium"/>
              </a:rPr>
              <a:t>06. 공통 입력 도움과 Draft</a:t>
            </a:r>
          </a:p>
        </p:txBody>
      </p:sp>
    </p:spTree>
    <p:extLst>
      <p:ext uri="{BB962C8B-B14F-4D97-AF65-F5344CB8AC3E}">
        <p14:creationId xmlns:p14="http://schemas.microsoft.com/office/powerpoint/2010/main" val="8243494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5777F0E-02B9-406C-A99C-8A40CA0DE17F}"/>
              </a:ext>
            </a:extLst>
          </p:cNvPr>
          <p:cNvSpPr>
            <a:spLocks noGrp="1"/>
          </p:cNvSpPr>
          <p:nvPr/>
        </p:nvSpPr>
        <p:spPr>
          <a:xfrm>
            <a:off x="530352" y="1298448"/>
            <a:ext cx="5486400" cy="4599432"/>
          </a:xfrm>
          <a:prstGeom prst="roundRect">
            <a:avLst/>
          </a:prstGeom>
          <a:noFill/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페이퍼로지 5 Medium" pitchFamily="2" charset="-127"/>
              <a:ea typeface="페이퍼로지 5 Medium" pitchFamily="2" charset="-127"/>
              <a:cs typeface="페이퍼로지 5 Medium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A036AAE-C1E7-4A7A-AA83-AD9F768785D5}"/>
              </a:ext>
            </a:extLst>
          </p:cNvPr>
          <p:cNvSpPr>
            <a:spLocks noGrp="1"/>
          </p:cNvSpPr>
          <p:nvPr/>
        </p:nvSpPr>
        <p:spPr>
          <a:xfrm>
            <a:off x="786384" y="1554480"/>
            <a:ext cx="1371600" cy="292608"/>
          </a:xfrm>
          <a:prstGeom prst="roundRect">
            <a:avLst/>
          </a:prstGeom>
          <a:noFill/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페이퍼로지 5 Medium" pitchFamily="2" charset="-127"/>
              <a:ea typeface="페이퍼로지 5 Medium" pitchFamily="2" charset="-127"/>
              <a:cs typeface="페이퍼로지 5 Medium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E50ABA-1393-41C2-9152-2A84FAC860D1}"/>
              </a:ext>
            </a:extLst>
          </p:cNvPr>
          <p:cNvSpPr>
            <a:spLocks noGrp="1"/>
          </p:cNvSpPr>
          <p:nvPr/>
        </p:nvSpPr>
        <p:spPr>
          <a:xfrm>
            <a:off x="804672" y="1956816"/>
            <a:ext cx="4892040" cy="347472"/>
          </a:xfrm>
          <a:prstGeom prst="rect">
            <a:avLst/>
          </a:prstGeom>
          <a:noFill/>
          <a:ln w="0"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>
              <a:buNone/>
            </a:pPr>
            <a:endParaRPr>
              <a:latin typeface="페이퍼로지 5 Medium" pitchFamily="2" charset="-127"/>
              <a:ea typeface="페이퍼로지 5 Medium" pitchFamily="2" charset="-127"/>
              <a:cs typeface="페이퍼로지 5 Medium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029932-0FAB-4B67-A7F6-6AF0EC45F059}"/>
              </a:ext>
            </a:extLst>
          </p:cNvPr>
          <p:cNvSpPr>
            <a:spLocks noGrp="1"/>
          </p:cNvSpPr>
          <p:nvPr/>
        </p:nvSpPr>
        <p:spPr>
          <a:xfrm>
            <a:off x="822960" y="2487168"/>
            <a:ext cx="4800600" cy="239104"/>
          </a:xfrm>
          <a:prstGeom prst="rect">
            <a:avLst/>
          </a:prstGeom>
          <a:noFill/>
          <a:ln w="0">
            <a:noFill/>
          </a:ln>
        </p:spPr>
        <p:txBody>
          <a:bodyPr wrap="square" lIns="54864" tIns="27432" rIns="54864" bIns="27432">
            <a:sp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  <a:buNone/>
              <a:defRPr sz="1200">
                <a:solidFill>
                  <a:srgbClr val="343A40"/>
                </a:solidFill>
                <a:latin typeface="Malgun Gothic"/>
                <a:ea typeface="Malgun Gothic"/>
                <a:cs typeface="Malgun Gothic"/>
              </a:defRPr>
            </a:pPr>
            <a:endParaRPr>
              <a:latin typeface="페이퍼로지 5 Medium" pitchFamily="2" charset="-127"/>
              <a:ea typeface="페이퍼로지 5 Medium" pitchFamily="2" charset="-127"/>
              <a:cs typeface="페이퍼로지 5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676A3F3-6EA4-4879-9516-E9393BC817D5}"/>
              </a:ext>
            </a:extLst>
          </p:cNvPr>
          <p:cNvSpPr>
            <a:spLocks noGrp="1"/>
          </p:cNvSpPr>
          <p:nvPr/>
        </p:nvSpPr>
        <p:spPr>
          <a:xfrm>
            <a:off x="804672" y="4901184"/>
            <a:ext cx="4828032" cy="676656"/>
          </a:xfrm>
          <a:prstGeom prst="roundRect">
            <a:avLst/>
          </a:prstGeom>
          <a:noFill/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페이퍼로지 5 Medium" pitchFamily="2" charset="-127"/>
              <a:ea typeface="페이퍼로지 5 Medium" pitchFamily="2" charset="-127"/>
              <a:cs typeface="페이퍼로지 5 Medium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F8936E-13ED-4C6B-8553-3257868A4153}"/>
              </a:ext>
            </a:extLst>
          </p:cNvPr>
          <p:cNvSpPr>
            <a:spLocks noGrp="1"/>
          </p:cNvSpPr>
          <p:nvPr/>
        </p:nvSpPr>
        <p:spPr>
          <a:xfrm>
            <a:off x="950976" y="5056632"/>
            <a:ext cx="4526280" cy="350865"/>
          </a:xfrm>
          <a:prstGeom prst="rect">
            <a:avLst/>
          </a:prstGeom>
          <a:noFill/>
          <a:ln w="0"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>
              <a:buNone/>
            </a:pPr>
            <a:endParaRPr>
              <a:latin typeface="페이퍼로지 5 Medium" pitchFamily="2" charset="-127"/>
              <a:ea typeface="페이퍼로지 5 Medium" pitchFamily="2" charset="-127"/>
              <a:cs typeface="페이퍼로지 5 Medium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06A4931-0968-481D-B59D-DD9123867197}"/>
              </a:ext>
            </a:extLst>
          </p:cNvPr>
          <p:cNvSpPr>
            <a:spLocks noGrp="1"/>
          </p:cNvSpPr>
          <p:nvPr/>
        </p:nvSpPr>
        <p:spPr>
          <a:xfrm>
            <a:off x="6236208" y="1298448"/>
            <a:ext cx="5349240" cy="4599432"/>
          </a:xfrm>
          <a:prstGeom prst="roundRect">
            <a:avLst/>
          </a:prstGeom>
          <a:noFill/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페이퍼로지 5 Medium" pitchFamily="2" charset="-127"/>
              <a:ea typeface="페이퍼로지 5 Medium" pitchFamily="2" charset="-127"/>
              <a:cs typeface="페이퍼로지 5 Medium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824D040-1CC3-4237-8B7C-0C0D87BAC58A}"/>
              </a:ext>
            </a:extLst>
          </p:cNvPr>
          <p:cNvSpPr>
            <a:spLocks noGrp="1"/>
          </p:cNvSpPr>
          <p:nvPr/>
        </p:nvSpPr>
        <p:spPr>
          <a:xfrm>
            <a:off x="6492240" y="1554480"/>
            <a:ext cx="1554480" cy="292608"/>
          </a:xfrm>
          <a:prstGeom prst="roundRect">
            <a:avLst/>
          </a:prstGeom>
          <a:noFill/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페이퍼로지 5 Medium" pitchFamily="2" charset="-127"/>
              <a:ea typeface="페이퍼로지 5 Medium" pitchFamily="2" charset="-127"/>
              <a:cs typeface="페이퍼로지 5 Medium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332109-A33B-4EE4-92FA-578A8ECAA389}"/>
              </a:ext>
            </a:extLst>
          </p:cNvPr>
          <p:cNvSpPr>
            <a:spLocks noGrp="1"/>
          </p:cNvSpPr>
          <p:nvPr/>
        </p:nvSpPr>
        <p:spPr>
          <a:xfrm>
            <a:off x="6510528" y="1956816"/>
            <a:ext cx="4617720" cy="347472"/>
          </a:xfrm>
          <a:prstGeom prst="rect">
            <a:avLst/>
          </a:prstGeom>
          <a:noFill/>
          <a:ln w="0"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>
              <a:buNone/>
            </a:pPr>
            <a:endParaRPr>
              <a:latin typeface="페이퍼로지 5 Medium" pitchFamily="2" charset="-127"/>
              <a:ea typeface="페이퍼로지 5 Medium" pitchFamily="2" charset="-127"/>
              <a:cs typeface="페이퍼로지 5 Medium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7A58D0-C33E-4E35-8A57-321E0AA32D19}"/>
              </a:ext>
            </a:extLst>
          </p:cNvPr>
          <p:cNvSpPr>
            <a:spLocks noGrp="1"/>
          </p:cNvSpPr>
          <p:nvPr/>
        </p:nvSpPr>
        <p:spPr>
          <a:xfrm>
            <a:off x="6537960" y="2487168"/>
            <a:ext cx="4526280" cy="239104"/>
          </a:xfrm>
          <a:prstGeom prst="rect">
            <a:avLst/>
          </a:prstGeom>
          <a:noFill/>
          <a:ln w="0">
            <a:noFill/>
          </a:ln>
        </p:spPr>
        <p:txBody>
          <a:bodyPr wrap="square" lIns="54864" tIns="27432" rIns="54864" bIns="27432">
            <a:sp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  <a:buNone/>
              <a:defRPr sz="1200">
                <a:solidFill>
                  <a:srgbClr val="343A40"/>
                </a:solidFill>
                <a:latin typeface="Malgun Gothic"/>
                <a:ea typeface="Malgun Gothic"/>
                <a:cs typeface="Malgun Gothic"/>
              </a:defRPr>
            </a:pPr>
            <a:endParaRPr>
              <a:latin typeface="페이퍼로지 5 Medium" pitchFamily="2" charset="-127"/>
              <a:ea typeface="페이퍼로지 5 Medium" pitchFamily="2" charset="-127"/>
              <a:cs typeface="페이퍼로지 5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9F4836C-204C-4202-9AAC-E7555E77ADDF}"/>
              </a:ext>
            </a:extLst>
          </p:cNvPr>
          <p:cNvSpPr>
            <a:spLocks noGrp="1"/>
          </p:cNvSpPr>
          <p:nvPr/>
        </p:nvSpPr>
        <p:spPr>
          <a:xfrm>
            <a:off x="6510528" y="4901184"/>
            <a:ext cx="4617720" cy="676656"/>
          </a:xfrm>
          <a:prstGeom prst="roundRect">
            <a:avLst/>
          </a:prstGeom>
          <a:noFill/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페이퍼로지 5 Medium" pitchFamily="2" charset="-127"/>
              <a:ea typeface="페이퍼로지 5 Medium" pitchFamily="2" charset="-127"/>
              <a:cs typeface="페이퍼로지 5 Medium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37C0395-FE12-4E45-96FB-6C380FA8E354}"/>
              </a:ext>
            </a:extLst>
          </p:cNvPr>
          <p:cNvSpPr>
            <a:spLocks noGrp="1"/>
          </p:cNvSpPr>
          <p:nvPr/>
        </p:nvSpPr>
        <p:spPr>
          <a:xfrm>
            <a:off x="6665976" y="5056632"/>
            <a:ext cx="4315968" cy="350865"/>
          </a:xfrm>
          <a:prstGeom prst="rect">
            <a:avLst/>
          </a:prstGeom>
          <a:noFill/>
          <a:ln w="0"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>
              <a:buNone/>
            </a:pPr>
            <a:endParaRPr>
              <a:latin typeface="페이퍼로지 5 Medium" pitchFamily="2" charset="-127"/>
              <a:ea typeface="페이퍼로지 5 Medium" pitchFamily="2" charset="-127"/>
              <a:cs typeface="페이퍼로지 5 Medium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214C3-886F-4AE7-8FD1-1FF4B00BEB6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EF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페이퍼로지 5 Medium" pitchFamily="2" charset="-127"/>
              <a:ea typeface="페이퍼로지 5 Medium" pitchFamily="2" charset="-127"/>
              <a:cs typeface="페이퍼로지 5 Medium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2D9EBED-15C4-4D35-A4A4-F279EEBD2400}"/>
              </a:ext>
            </a:extLst>
          </p:cNvPr>
          <p:cNvSpPr>
            <a:spLocks noGrp="1"/>
          </p:cNvSpPr>
          <p:nvPr/>
        </p:nvSpPr>
        <p:spPr>
          <a:xfrm>
            <a:off x="0" y="804672"/>
            <a:ext cx="11292840" cy="32004"/>
          </a:xfrm>
          <a:prstGeom prst="rect">
            <a:avLst/>
          </a:prstGeom>
          <a:solidFill>
            <a:srgbClr val="CDD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페이퍼로지 5 Medium" pitchFamily="2" charset="-127"/>
              <a:ea typeface="페이퍼로지 5 Medium" pitchFamily="2" charset="-127"/>
              <a:cs typeface="페이퍼로지 5 Medium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41140DE-640B-4D4C-9D9A-F0ECE4E54CD7}"/>
              </a:ext>
            </a:extLst>
          </p:cNvPr>
          <p:cNvSpPr>
            <a:spLocks noGrp="1"/>
          </p:cNvSpPr>
          <p:nvPr/>
        </p:nvSpPr>
        <p:spPr>
          <a:xfrm>
            <a:off x="0" y="786384"/>
            <a:ext cx="4297680" cy="64008"/>
          </a:xfrm>
          <a:prstGeom prst="rect">
            <a:avLst/>
          </a:prstGeom>
          <a:solidFill>
            <a:srgbClr val="15A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페이퍼로지 5 Medium" pitchFamily="2" charset="-127"/>
              <a:ea typeface="페이퍼로지 5 Medium" pitchFamily="2" charset="-127"/>
              <a:cs typeface="페이퍼로지 5 Medium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D9DF6DB-A6BB-46CE-AE2A-281C153DA2D5}"/>
              </a:ext>
            </a:extLst>
          </p:cNvPr>
          <p:cNvSpPr>
            <a:spLocks noGrp="1"/>
          </p:cNvSpPr>
          <p:nvPr/>
        </p:nvSpPr>
        <p:spPr>
          <a:xfrm>
            <a:off x="361950" y="123825"/>
            <a:ext cx="11239500" cy="590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925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  <a:cs typeface="페이퍼로지 5 Medium"/>
              </a:rPr>
              <a:t>07. 핵심 구현 사례 : Determination</a:t>
            </a:r>
          </a:p>
        </p:txBody>
      </p:sp>
      <p:sp>
        <p:nvSpPr>
          <p:cNvPr id="20" name="fs05-summary-panel">
            <a:extLst>
              <a:ext uri="{FF2B5EF4-FFF2-40B4-BE49-F238E27FC236}">
                <a16:creationId xmlns:a16="http://schemas.microsoft.com/office/drawing/2014/main" id="{CF301AC3-5244-4D09-B9D1-9FA04F0E1CF5}"/>
              </a:ext>
            </a:extLst>
          </p:cNvPr>
          <p:cNvSpPr>
            <a:spLocks noGrp="1"/>
          </p:cNvSpPr>
          <p:nvPr/>
        </p:nvSpPr>
        <p:spPr>
          <a:xfrm>
            <a:off x="533400" y="1295400"/>
            <a:ext cx="4476750" cy="4600575"/>
          </a:xfrm>
          <a:prstGeom prst="roundRect">
            <a:avLst>
              <a:gd name="adj" fmla="val 5957"/>
            </a:avLst>
          </a:prstGeom>
          <a:solidFill>
            <a:srgbClr val="F3F8FC"/>
          </a:solidFill>
          <a:ln w="11430">
            <a:solidFill>
              <a:srgbClr val="D7E7F5"/>
            </a:solidFill>
            <a:prstDash val="solid"/>
          </a:ln>
        </p:spPr>
      </p:sp>
      <p:sp>
        <p:nvSpPr>
          <p:cNvPr id="21" name="fs05-title">
            <a:extLst>
              <a:ext uri="{FF2B5EF4-FFF2-40B4-BE49-F238E27FC236}">
                <a16:creationId xmlns:a16="http://schemas.microsoft.com/office/drawing/2014/main" id="{19D887E9-9C96-4670-B310-A42E6F89F26A}"/>
              </a:ext>
            </a:extLst>
          </p:cNvPr>
          <p:cNvSpPr>
            <a:spLocks noGrp="1"/>
          </p:cNvSpPr>
          <p:nvPr/>
        </p:nvSpPr>
        <p:spPr>
          <a:xfrm>
            <a:off x="800100" y="1590675"/>
            <a:ext cx="39052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950" b="1">
                <a:solidFill>
                  <a:srgbClr val="1C3557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C3557"/>
                </a:solidFill>
                <a:latin typeface="페이퍼로지 5 Medium" pitchFamily="2" charset="-127"/>
                <a:ea typeface="페이퍼로지 5 Medium" pitchFamily="2" charset="-127"/>
                <a:cs typeface="페이퍼로지 5 Medium"/>
              </a:rPr>
              <a:t>FS05 구매정보레코드 자동 채움</a:t>
            </a:r>
          </a:p>
        </p:txBody>
      </p:sp>
      <p:sp>
        <p:nvSpPr>
          <p:cNvPr id="22" name="fs05-input-label">
            <a:extLst>
              <a:ext uri="{FF2B5EF4-FFF2-40B4-BE49-F238E27FC236}">
                <a16:creationId xmlns:a16="http://schemas.microsoft.com/office/drawing/2014/main" id="{7A15FBCE-5FE2-44FB-93AB-9BE4876EE696}"/>
              </a:ext>
            </a:extLst>
          </p:cNvPr>
          <p:cNvSpPr>
            <a:spLocks noGrp="1"/>
          </p:cNvSpPr>
          <p:nvPr/>
        </p:nvSpPr>
        <p:spPr>
          <a:xfrm>
            <a:off x="809625" y="2238375"/>
            <a:ext cx="1524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9525" rIns="0" bIns="9525" anchor="ctr">
            <a:normAutofit/>
          </a:bodyPr>
          <a:lstStyle/>
          <a:p>
            <a:pPr algn="l">
              <a:buNone/>
              <a:defRPr sz="1350" b="1">
                <a:solidFill>
                  <a:srgbClr val="D6454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D64545"/>
                </a:solidFill>
                <a:latin typeface="페이퍼로지 5 Medium" pitchFamily="2" charset="-127"/>
                <a:ea typeface="페이퍼로지 5 Medium" pitchFamily="2" charset="-127"/>
                <a:cs typeface="Malgun Gothic"/>
              </a:rPr>
              <a:t>문제</a:t>
            </a:r>
          </a:p>
        </p:txBody>
      </p:sp>
      <p:sp>
        <p:nvSpPr>
          <p:cNvPr id="23" name="fs05-input">
            <a:extLst>
              <a:ext uri="{FF2B5EF4-FFF2-40B4-BE49-F238E27FC236}">
                <a16:creationId xmlns:a16="http://schemas.microsoft.com/office/drawing/2014/main" id="{B96D0C84-22A0-4B7E-A254-792EF265F105}"/>
              </a:ext>
            </a:extLst>
          </p:cNvPr>
          <p:cNvSpPr>
            <a:spLocks noGrp="1"/>
          </p:cNvSpPr>
          <p:nvPr/>
        </p:nvSpPr>
        <p:spPr>
          <a:xfrm>
            <a:off x="809625" y="2552700"/>
            <a:ext cx="37623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9525" rIns="0" bIns="9525" anchor="ctr">
            <a:normAutofit/>
          </a:bodyPr>
          <a:lstStyle/>
          <a:p>
            <a:pPr algn="l">
              <a:buNone/>
              <a:defRPr sz="1500" b="0">
                <a:solidFill>
                  <a:srgbClr val="1C355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C3557"/>
                </a:solidFill>
                <a:latin typeface="페이퍼로지 5 Medium" pitchFamily="2" charset="-127"/>
                <a:ea typeface="페이퍼로지 5 Medium" pitchFamily="2" charset="-127"/>
                <a:cs typeface="Malgun Gothic"/>
              </a:rPr>
              <a:t>마스터 정보 반복 입력으로 오입력 가능</a:t>
            </a:r>
          </a:p>
        </p:txBody>
      </p:sp>
      <p:sp>
        <p:nvSpPr>
          <p:cNvPr id="24" name="fs05-output-label">
            <a:extLst>
              <a:ext uri="{FF2B5EF4-FFF2-40B4-BE49-F238E27FC236}">
                <a16:creationId xmlns:a16="http://schemas.microsoft.com/office/drawing/2014/main" id="{BE4BC175-CC9D-4B45-8BD9-BB7EC4E5B858}"/>
              </a:ext>
            </a:extLst>
          </p:cNvPr>
          <p:cNvSpPr>
            <a:spLocks noGrp="1"/>
          </p:cNvSpPr>
          <p:nvPr/>
        </p:nvSpPr>
        <p:spPr>
          <a:xfrm>
            <a:off x="809625" y="3171825"/>
            <a:ext cx="1524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9525" rIns="0" bIns="9525" anchor="ctr">
            <a:normAutofit/>
          </a:bodyPr>
          <a:lstStyle/>
          <a:p>
            <a:pPr algn="l">
              <a:buNone/>
              <a:defRPr sz="1350" b="1">
                <a:solidFill>
                  <a:srgbClr val="2768D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768D5"/>
                </a:solidFill>
                <a:latin typeface="페이퍼로지 5 Medium" pitchFamily="2" charset="-127"/>
                <a:ea typeface="페이퍼로지 5 Medium" pitchFamily="2" charset="-127"/>
                <a:cs typeface="Malgun Gothic"/>
              </a:rPr>
              <a:t>구현</a:t>
            </a:r>
          </a:p>
        </p:txBody>
      </p:sp>
      <p:sp>
        <p:nvSpPr>
          <p:cNvPr id="25" name="fs05-output">
            <a:extLst>
              <a:ext uri="{FF2B5EF4-FFF2-40B4-BE49-F238E27FC236}">
                <a16:creationId xmlns:a16="http://schemas.microsoft.com/office/drawing/2014/main" id="{B961EFDE-BAB0-403E-A37D-C127CD1B7F99}"/>
              </a:ext>
            </a:extLst>
          </p:cNvPr>
          <p:cNvSpPr>
            <a:spLocks noGrp="1"/>
          </p:cNvSpPr>
          <p:nvPr/>
        </p:nvSpPr>
        <p:spPr>
          <a:xfrm>
            <a:off x="809625" y="3476625"/>
            <a:ext cx="38100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9525" rIns="0" bIns="9525" anchor="t">
            <a:normAutofit/>
          </a:bodyPr>
          <a:lstStyle/>
          <a:p>
            <a:pPr algn="l">
              <a:buNone/>
              <a:defRPr sz="1500" b="0">
                <a:solidFill>
                  <a:srgbClr val="1C355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C3557"/>
                </a:solidFill>
                <a:latin typeface="페이퍼로지 5 Medium" pitchFamily="2" charset="-127"/>
                <a:ea typeface="페이퍼로지 5 Medium" pitchFamily="2" charset="-127"/>
                <a:cs typeface="Malgun Gothic"/>
              </a:rPr>
              <a:t>공급업체 · 자재 · 플랜트 선택 시</a:t>
            </a:r>
          </a:p>
          <a:p>
            <a:pPr algn="l">
              <a:buNone/>
              <a:defRPr sz="1500" b="0">
                <a:solidFill>
                  <a:srgbClr val="1C355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C3557"/>
                </a:solidFill>
                <a:latin typeface="페이퍼로지 5 Medium" pitchFamily="2" charset="-127"/>
                <a:ea typeface="페이퍼로지 5 Medium" pitchFamily="2" charset="-127"/>
                <a:cs typeface="Malgun Gothic"/>
              </a:rPr>
              <a:t>Determination 실행</a:t>
            </a:r>
          </a:p>
        </p:txBody>
      </p:sp>
      <p:sp>
        <p:nvSpPr>
          <p:cNvPr id="26" name="fs05-result">
            <a:extLst>
              <a:ext uri="{FF2B5EF4-FFF2-40B4-BE49-F238E27FC236}">
                <a16:creationId xmlns:a16="http://schemas.microsoft.com/office/drawing/2014/main" id="{297B7ED3-8B96-48FD-A460-E1DCD2E11D4D}"/>
              </a:ext>
            </a:extLst>
          </p:cNvPr>
          <p:cNvSpPr>
            <a:spLocks noGrp="1"/>
          </p:cNvSpPr>
          <p:nvPr/>
        </p:nvSpPr>
        <p:spPr>
          <a:xfrm>
            <a:off x="781050" y="4810125"/>
            <a:ext cx="3952875" cy="723900"/>
          </a:xfrm>
          <a:prstGeom prst="roundRect">
            <a:avLst>
              <a:gd name="adj" fmla="val 13158"/>
            </a:avLst>
          </a:prstGeom>
          <a:solidFill>
            <a:srgbClr val="F2FBF6"/>
          </a:solidFill>
          <a:ln w="11430">
            <a:solidFill>
              <a:srgbClr val="1B9765">
                <a:alpha val="33333"/>
              </a:srgbClr>
            </a:solidFill>
            <a:prstDash val="solid"/>
          </a:ln>
        </p:spPr>
        <p:txBody>
          <a:bodyPr wrap="square" lIns="95250" tIns="47625" rIns="95250" bIns="47625" anchor="ctr">
            <a:normAutofit/>
          </a:bodyPr>
          <a:lstStyle/>
          <a:p>
            <a:pPr algn="l">
              <a:buNone/>
              <a:defRPr sz="1275" b="1">
                <a:solidFill>
                  <a:srgbClr val="1B976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B9765"/>
                </a:solidFill>
                <a:latin typeface="페이퍼로지 5 Medium" pitchFamily="2" charset="-127"/>
                <a:ea typeface="페이퍼로지 5 Medium" pitchFamily="2" charset="-127"/>
                <a:cs typeface="Malgun Gothic"/>
              </a:rPr>
              <a:t>결과  명칭 · 단위 · 가격을 자동 반영해 반복 입력 감소</a:t>
            </a:r>
          </a:p>
        </p:txBody>
      </p:sp>
      <p:pic>
        <p:nvPicPr>
          <p:cNvPr id="51" name="그림 5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429250" y="1352550"/>
            <a:ext cx="57150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6192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2FC8310-BDF0-4D36-902C-49D4C87318D8}"/>
              </a:ext>
            </a:extLst>
          </p:cNvPr>
          <p:cNvSpPr>
            <a:spLocks noGrp="1"/>
          </p:cNvSpPr>
          <p:nvPr/>
        </p:nvSpPr>
        <p:spPr>
          <a:xfrm>
            <a:off x="566928" y="1444752"/>
            <a:ext cx="2057400" cy="502920"/>
          </a:xfrm>
          <a:prstGeom prst="rect">
            <a:avLst/>
          </a:prstGeom>
          <a:solidFill>
            <a:srgbClr val="192D46"/>
          </a:solidFill>
          <a:ln w="12700">
            <a:solidFill>
              <a:srgbClr val="19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000"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DCE1DB-3CEE-4F2A-9A7E-5D24018CAF4D}"/>
              </a:ext>
            </a:extLst>
          </p:cNvPr>
          <p:cNvSpPr>
            <a:spLocks noGrp="1"/>
          </p:cNvSpPr>
          <p:nvPr/>
        </p:nvSpPr>
        <p:spPr>
          <a:xfrm>
            <a:off x="594360" y="1517904"/>
            <a:ext cx="2002536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buNone/>
            </a:pPr>
            <a:r>
              <a:rPr sz="1400" b="1">
                <a:solidFill>
                  <a:srgbClr val="FFFFFF"/>
                </a:solidFill>
                <a:latin typeface="페이퍼로지 5 Medium"/>
                <a:ea typeface="페이퍼로지 5 Medium"/>
                <a:cs typeface="페이퍼로지 5 Medium"/>
              </a:rPr>
              <a:t>구분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E0372A-A541-4093-83C2-B2D4CF49F4DA}"/>
              </a:ext>
            </a:extLst>
          </p:cNvPr>
          <p:cNvSpPr>
            <a:spLocks noGrp="1"/>
          </p:cNvSpPr>
          <p:nvPr/>
        </p:nvSpPr>
        <p:spPr>
          <a:xfrm>
            <a:off x="2624328" y="1444752"/>
            <a:ext cx="4343400" cy="502920"/>
          </a:xfrm>
          <a:prstGeom prst="rect">
            <a:avLst/>
          </a:prstGeom>
          <a:solidFill>
            <a:srgbClr val="192D46"/>
          </a:solidFill>
          <a:ln w="12700">
            <a:solidFill>
              <a:srgbClr val="19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000"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804EB8-EA0F-4C4E-9DF8-1A8A5F33F8F3}"/>
              </a:ext>
            </a:extLst>
          </p:cNvPr>
          <p:cNvSpPr>
            <a:spLocks noGrp="1"/>
          </p:cNvSpPr>
          <p:nvPr/>
        </p:nvSpPr>
        <p:spPr>
          <a:xfrm>
            <a:off x="2651760" y="1517904"/>
            <a:ext cx="4288536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buNone/>
            </a:pPr>
            <a:r>
              <a:rPr sz="1400" b="1">
                <a:solidFill>
                  <a:srgbClr val="FFFFFF"/>
                </a:solidFill>
                <a:latin typeface="페이퍼로지 5 Medium"/>
                <a:ea typeface="페이퍼로지 5 Medium"/>
                <a:cs typeface="페이퍼로지 5 Medium"/>
              </a:rPr>
              <a:t>Classic ABAP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555BA37-E57A-49F7-8CAE-FF014161C1B0}"/>
              </a:ext>
            </a:extLst>
          </p:cNvPr>
          <p:cNvSpPr>
            <a:spLocks noGrp="1"/>
          </p:cNvSpPr>
          <p:nvPr/>
        </p:nvSpPr>
        <p:spPr>
          <a:xfrm>
            <a:off x="6967728" y="1444752"/>
            <a:ext cx="4526280" cy="502920"/>
          </a:xfrm>
          <a:prstGeom prst="rect">
            <a:avLst/>
          </a:prstGeom>
          <a:solidFill>
            <a:srgbClr val="2466D2"/>
          </a:solidFill>
          <a:ln w="12700">
            <a:solidFill>
              <a:srgbClr val="246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000"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1EA4D6-EBDA-4F94-B4B7-DDE970DFAD33}"/>
              </a:ext>
            </a:extLst>
          </p:cNvPr>
          <p:cNvSpPr>
            <a:spLocks noGrp="1"/>
          </p:cNvSpPr>
          <p:nvPr/>
        </p:nvSpPr>
        <p:spPr>
          <a:xfrm>
            <a:off x="6995160" y="1517904"/>
            <a:ext cx="4471416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buNone/>
            </a:pPr>
            <a:r>
              <a:rPr sz="1400" b="1">
                <a:solidFill>
                  <a:srgbClr val="FFFFFF"/>
                </a:solidFill>
                <a:latin typeface="페이퍼로지 5 Medium"/>
                <a:ea typeface="페이퍼로지 5 Medium"/>
                <a:cs typeface="페이퍼로지 5 Medium"/>
              </a:rPr>
              <a:t>RAP 적용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E32E9D-1526-4498-BC88-3224037D8739}"/>
              </a:ext>
            </a:extLst>
          </p:cNvPr>
          <p:cNvSpPr>
            <a:spLocks noGrp="1"/>
          </p:cNvSpPr>
          <p:nvPr/>
        </p:nvSpPr>
        <p:spPr>
          <a:xfrm>
            <a:off x="566928" y="1947672"/>
            <a:ext cx="2057400" cy="521207"/>
          </a:xfrm>
          <a:prstGeom prst="rect">
            <a:avLst/>
          </a:prstGeom>
          <a:solidFill>
            <a:srgbClr val="FFFFFF"/>
          </a:solidFill>
          <a:ln w="12700"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000"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D0ADB4-47BC-4D40-BAB2-069297473221}"/>
              </a:ext>
            </a:extLst>
          </p:cNvPr>
          <p:cNvSpPr>
            <a:spLocks noGrp="1"/>
          </p:cNvSpPr>
          <p:nvPr/>
        </p:nvSpPr>
        <p:spPr>
          <a:xfrm>
            <a:off x="621792" y="2039112"/>
            <a:ext cx="1947672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buNone/>
            </a:pPr>
            <a:r>
              <a:rPr sz="1100" b="1">
                <a:solidFill>
                  <a:srgbClr val="192D46"/>
                </a:solidFill>
                <a:latin typeface="페이퍼로지 5 Medium"/>
                <a:ea typeface="페이퍼로지 5 Medium"/>
                <a:cs typeface="페이퍼로지 5 Medium"/>
              </a:rPr>
              <a:t>데이터 접근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6C8AA47-2811-4D97-9B75-E964FF881A3F}"/>
              </a:ext>
            </a:extLst>
          </p:cNvPr>
          <p:cNvSpPr>
            <a:spLocks noGrp="1"/>
          </p:cNvSpPr>
          <p:nvPr/>
        </p:nvSpPr>
        <p:spPr>
          <a:xfrm>
            <a:off x="2624328" y="1947672"/>
            <a:ext cx="4343400" cy="521207"/>
          </a:xfrm>
          <a:prstGeom prst="rect">
            <a:avLst/>
          </a:prstGeom>
          <a:solidFill>
            <a:srgbClr val="FFFFFF"/>
          </a:solidFill>
          <a:ln w="12700"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000"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58CA25F-DD5C-4E1D-A270-79D33F807E77}"/>
              </a:ext>
            </a:extLst>
          </p:cNvPr>
          <p:cNvSpPr>
            <a:spLocks noGrp="1"/>
          </p:cNvSpPr>
          <p:nvPr/>
        </p:nvSpPr>
        <p:spPr>
          <a:xfrm>
            <a:off x="2679192" y="2039112"/>
            <a:ext cx="4233672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343A40"/>
                </a:solidFill>
                <a:latin typeface="페이퍼로지 5 Medium"/>
                <a:ea typeface="페이퍼로지 5 Medium"/>
                <a:cs typeface="페이퍼로지 5 Medium"/>
              </a:rPr>
              <a:t>SELECT / UPDATE 직접 처리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1150F71-9B25-4C5D-9A3D-CF01ECC12423}"/>
              </a:ext>
            </a:extLst>
          </p:cNvPr>
          <p:cNvSpPr>
            <a:spLocks noGrp="1"/>
          </p:cNvSpPr>
          <p:nvPr/>
        </p:nvSpPr>
        <p:spPr>
          <a:xfrm>
            <a:off x="6967728" y="1947672"/>
            <a:ext cx="4526280" cy="521207"/>
          </a:xfrm>
          <a:prstGeom prst="rect">
            <a:avLst/>
          </a:prstGeom>
          <a:solidFill>
            <a:srgbClr val="FFFFFF"/>
          </a:solidFill>
          <a:ln w="12700"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000"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71D15E-BA23-42CC-ABBF-E0FEE4174DC0}"/>
              </a:ext>
            </a:extLst>
          </p:cNvPr>
          <p:cNvSpPr>
            <a:spLocks noGrp="1"/>
          </p:cNvSpPr>
          <p:nvPr/>
        </p:nvSpPr>
        <p:spPr>
          <a:xfrm>
            <a:off x="7022592" y="2039112"/>
            <a:ext cx="4416552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343A40"/>
                </a:solidFill>
                <a:latin typeface="페이퍼로지 5 Medium"/>
                <a:ea typeface="페이퍼로지 5 Medium"/>
                <a:cs typeface="페이퍼로지 5 Medium"/>
              </a:rPr>
              <a:t>CDS Entity + Managed Persistence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7578365-BBDB-4507-AA25-C54B44C08C3B}"/>
              </a:ext>
            </a:extLst>
          </p:cNvPr>
          <p:cNvSpPr>
            <a:spLocks noGrp="1"/>
          </p:cNvSpPr>
          <p:nvPr/>
        </p:nvSpPr>
        <p:spPr>
          <a:xfrm>
            <a:off x="566928" y="2468879"/>
            <a:ext cx="2057400" cy="521207"/>
          </a:xfrm>
          <a:prstGeom prst="rect">
            <a:avLst/>
          </a:prstGeom>
          <a:solidFill>
            <a:srgbClr val="F3F8FC"/>
          </a:solidFill>
          <a:ln w="12700"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000"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97E5099-FEF9-4D70-9CF1-3ABBB9BAEF18}"/>
              </a:ext>
            </a:extLst>
          </p:cNvPr>
          <p:cNvSpPr>
            <a:spLocks noGrp="1"/>
          </p:cNvSpPr>
          <p:nvPr/>
        </p:nvSpPr>
        <p:spPr>
          <a:xfrm>
            <a:off x="621792" y="2560320"/>
            <a:ext cx="1947672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buNone/>
            </a:pPr>
            <a:r>
              <a:rPr sz="1100" b="1">
                <a:solidFill>
                  <a:srgbClr val="192D46"/>
                </a:solidFill>
                <a:latin typeface="페이퍼로지 5 Medium"/>
                <a:ea typeface="페이퍼로지 5 Medium"/>
                <a:cs typeface="페이퍼로지 5 Medium"/>
              </a:rPr>
              <a:t>CRUD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93D70FF-978D-4AA0-A0E3-5CD7FF103F69}"/>
              </a:ext>
            </a:extLst>
          </p:cNvPr>
          <p:cNvSpPr>
            <a:spLocks noGrp="1"/>
          </p:cNvSpPr>
          <p:nvPr/>
        </p:nvSpPr>
        <p:spPr>
          <a:xfrm>
            <a:off x="2624328" y="2468879"/>
            <a:ext cx="4343400" cy="521207"/>
          </a:xfrm>
          <a:prstGeom prst="rect">
            <a:avLst/>
          </a:prstGeom>
          <a:solidFill>
            <a:srgbClr val="F3F8FC"/>
          </a:solidFill>
          <a:ln w="12700"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000"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7F6CEA3-AB69-457F-B047-1964714AED6F}"/>
              </a:ext>
            </a:extLst>
          </p:cNvPr>
          <p:cNvSpPr>
            <a:spLocks noGrp="1"/>
          </p:cNvSpPr>
          <p:nvPr/>
        </p:nvSpPr>
        <p:spPr>
          <a:xfrm>
            <a:off x="2679192" y="2560320"/>
            <a:ext cx="4233672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343A40"/>
                </a:solidFill>
                <a:latin typeface="페이퍼로지 5 Medium"/>
                <a:ea typeface="페이퍼로지 5 Medium"/>
                <a:cs typeface="페이퍼로지 5 Medium"/>
              </a:rPr>
              <a:t>화면 Event에서 직접 구현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2043488-BD17-49B5-BD22-ADCF2692E28C}"/>
              </a:ext>
            </a:extLst>
          </p:cNvPr>
          <p:cNvSpPr>
            <a:spLocks noGrp="1"/>
          </p:cNvSpPr>
          <p:nvPr/>
        </p:nvSpPr>
        <p:spPr>
          <a:xfrm>
            <a:off x="6967728" y="2468879"/>
            <a:ext cx="4526280" cy="521207"/>
          </a:xfrm>
          <a:prstGeom prst="rect">
            <a:avLst/>
          </a:prstGeom>
          <a:solidFill>
            <a:srgbClr val="F3F8FC"/>
          </a:solidFill>
          <a:ln w="12700"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000"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635AAE0-3B97-4B86-809F-9AFE50DC45D7}"/>
              </a:ext>
            </a:extLst>
          </p:cNvPr>
          <p:cNvSpPr>
            <a:spLocks noGrp="1"/>
          </p:cNvSpPr>
          <p:nvPr/>
        </p:nvSpPr>
        <p:spPr>
          <a:xfrm>
            <a:off x="7022592" y="2560320"/>
            <a:ext cx="4416552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343A40"/>
                </a:solidFill>
                <a:latin typeface="페이퍼로지 5 Medium"/>
                <a:ea typeface="페이퍼로지 5 Medium"/>
                <a:cs typeface="페이퍼로지 5 Medium"/>
              </a:rPr>
              <a:t>Managed RAP Framework가 기본 처리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63334B4-C045-42B6-9F65-FD1644B0DF8F}"/>
              </a:ext>
            </a:extLst>
          </p:cNvPr>
          <p:cNvSpPr>
            <a:spLocks noGrp="1"/>
          </p:cNvSpPr>
          <p:nvPr/>
        </p:nvSpPr>
        <p:spPr>
          <a:xfrm>
            <a:off x="566928" y="2990087"/>
            <a:ext cx="2057400" cy="521207"/>
          </a:xfrm>
          <a:prstGeom prst="rect">
            <a:avLst/>
          </a:prstGeom>
          <a:solidFill>
            <a:srgbClr val="FFFFFF"/>
          </a:solidFill>
          <a:ln w="12700"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000"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6D9E923-0301-46FB-B986-464CF695F0A4}"/>
              </a:ext>
            </a:extLst>
          </p:cNvPr>
          <p:cNvSpPr>
            <a:spLocks noGrp="1"/>
          </p:cNvSpPr>
          <p:nvPr/>
        </p:nvSpPr>
        <p:spPr>
          <a:xfrm>
            <a:off x="621792" y="3081527"/>
            <a:ext cx="1947672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buNone/>
            </a:pPr>
            <a:r>
              <a:rPr sz="1100" b="1">
                <a:solidFill>
                  <a:srgbClr val="192D46"/>
                </a:solidFill>
                <a:latin typeface="페이퍼로지 5 Medium"/>
                <a:ea typeface="페이퍼로지 5 Medium"/>
                <a:cs typeface="페이퍼로지 5 Medium"/>
              </a:rPr>
              <a:t>검증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EA36EFE-7151-4418-82C6-12065FA4BB80}"/>
              </a:ext>
            </a:extLst>
          </p:cNvPr>
          <p:cNvSpPr>
            <a:spLocks noGrp="1"/>
          </p:cNvSpPr>
          <p:nvPr/>
        </p:nvSpPr>
        <p:spPr>
          <a:xfrm>
            <a:off x="2624328" y="2990087"/>
            <a:ext cx="4343400" cy="521207"/>
          </a:xfrm>
          <a:prstGeom prst="rect">
            <a:avLst/>
          </a:prstGeom>
          <a:solidFill>
            <a:srgbClr val="FFFFFF"/>
          </a:solidFill>
          <a:ln w="12700"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000"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DD8DA46-9740-4160-B928-8DA427A63265}"/>
              </a:ext>
            </a:extLst>
          </p:cNvPr>
          <p:cNvSpPr>
            <a:spLocks noGrp="1"/>
          </p:cNvSpPr>
          <p:nvPr/>
        </p:nvSpPr>
        <p:spPr>
          <a:xfrm>
            <a:off x="2679192" y="3081527"/>
            <a:ext cx="4233672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343A40"/>
                </a:solidFill>
                <a:latin typeface="페이퍼로지 5 Medium"/>
                <a:ea typeface="페이퍼로지 5 Medium"/>
                <a:cs typeface="페이퍼로지 5 Medium"/>
              </a:rPr>
              <a:t>PAI / FORM / Method에 분산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BF7FA05-F339-4468-9A1C-1848F4A1395B}"/>
              </a:ext>
            </a:extLst>
          </p:cNvPr>
          <p:cNvSpPr>
            <a:spLocks noGrp="1"/>
          </p:cNvSpPr>
          <p:nvPr/>
        </p:nvSpPr>
        <p:spPr>
          <a:xfrm>
            <a:off x="6967728" y="2990087"/>
            <a:ext cx="4526280" cy="521207"/>
          </a:xfrm>
          <a:prstGeom prst="rect">
            <a:avLst/>
          </a:prstGeom>
          <a:solidFill>
            <a:srgbClr val="FFFFFF"/>
          </a:solidFill>
          <a:ln w="12700"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000"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8001BFC-213F-427C-97C6-AC391BDBD329}"/>
              </a:ext>
            </a:extLst>
          </p:cNvPr>
          <p:cNvSpPr>
            <a:spLocks noGrp="1"/>
          </p:cNvSpPr>
          <p:nvPr/>
        </p:nvSpPr>
        <p:spPr>
          <a:xfrm>
            <a:off x="7022592" y="3081527"/>
            <a:ext cx="4416552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343A40"/>
                </a:solidFill>
                <a:latin typeface="페이퍼로지 5 Medium"/>
                <a:ea typeface="페이퍼로지 5 Medium"/>
                <a:cs typeface="페이퍼로지 5 Medium"/>
              </a:rPr>
              <a:t>Validation으로 BO 규칙화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14E02A8-5E5F-44B1-BA0F-2C44D028D147}"/>
              </a:ext>
            </a:extLst>
          </p:cNvPr>
          <p:cNvSpPr>
            <a:spLocks noGrp="1"/>
          </p:cNvSpPr>
          <p:nvPr/>
        </p:nvSpPr>
        <p:spPr>
          <a:xfrm>
            <a:off x="566928" y="3511295"/>
            <a:ext cx="2057400" cy="521207"/>
          </a:xfrm>
          <a:prstGeom prst="rect">
            <a:avLst/>
          </a:prstGeom>
          <a:solidFill>
            <a:srgbClr val="F3F8FC"/>
          </a:solidFill>
          <a:ln w="12700"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000"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02BA18B-B359-4FB4-8E4B-FB82A9183221}"/>
              </a:ext>
            </a:extLst>
          </p:cNvPr>
          <p:cNvSpPr>
            <a:spLocks noGrp="1"/>
          </p:cNvSpPr>
          <p:nvPr/>
        </p:nvSpPr>
        <p:spPr>
          <a:xfrm>
            <a:off x="621792" y="3602735"/>
            <a:ext cx="1947672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buNone/>
            </a:pPr>
            <a:r>
              <a:rPr sz="1100" b="1">
                <a:solidFill>
                  <a:srgbClr val="192D46"/>
                </a:solidFill>
                <a:latin typeface="페이퍼로지 5 Medium"/>
                <a:ea typeface="페이퍼로지 5 Medium"/>
                <a:cs typeface="페이퍼로지 5 Medium"/>
              </a:rPr>
              <a:t>자동값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77D7543-FF2A-4E09-B5E9-FED270BCA9BD}"/>
              </a:ext>
            </a:extLst>
          </p:cNvPr>
          <p:cNvSpPr>
            <a:spLocks noGrp="1"/>
          </p:cNvSpPr>
          <p:nvPr/>
        </p:nvSpPr>
        <p:spPr>
          <a:xfrm>
            <a:off x="2624328" y="3511295"/>
            <a:ext cx="4343400" cy="521207"/>
          </a:xfrm>
          <a:prstGeom prst="rect">
            <a:avLst/>
          </a:prstGeom>
          <a:solidFill>
            <a:srgbClr val="F3F8FC"/>
          </a:solidFill>
          <a:ln w="12700"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000"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4B8CCDC-2C8C-4CF1-819C-B9AB1F41708E}"/>
              </a:ext>
            </a:extLst>
          </p:cNvPr>
          <p:cNvSpPr>
            <a:spLocks noGrp="1"/>
          </p:cNvSpPr>
          <p:nvPr/>
        </p:nvSpPr>
        <p:spPr>
          <a:xfrm>
            <a:off x="2679192" y="3602735"/>
            <a:ext cx="4233672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343A40"/>
                </a:solidFill>
                <a:latin typeface="페이퍼로지 5 Medium"/>
                <a:ea typeface="페이퍼로지 5 Medium"/>
                <a:cs typeface="페이퍼로지 5 Medium"/>
              </a:rPr>
              <a:t>화면 로직에서 직접 세팅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72A70C8-117D-4F37-B733-B36B26680D52}"/>
              </a:ext>
            </a:extLst>
          </p:cNvPr>
          <p:cNvSpPr>
            <a:spLocks noGrp="1"/>
          </p:cNvSpPr>
          <p:nvPr/>
        </p:nvSpPr>
        <p:spPr>
          <a:xfrm>
            <a:off x="6967728" y="3511295"/>
            <a:ext cx="4526280" cy="521207"/>
          </a:xfrm>
          <a:prstGeom prst="rect">
            <a:avLst/>
          </a:prstGeom>
          <a:solidFill>
            <a:srgbClr val="F3F8FC"/>
          </a:solidFill>
          <a:ln w="12700"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000"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2614181-3BF0-4ED2-80B7-501D00A8DCA2}"/>
              </a:ext>
            </a:extLst>
          </p:cNvPr>
          <p:cNvSpPr>
            <a:spLocks noGrp="1"/>
          </p:cNvSpPr>
          <p:nvPr/>
        </p:nvSpPr>
        <p:spPr>
          <a:xfrm>
            <a:off x="7022592" y="3602735"/>
            <a:ext cx="4416552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343A40"/>
                </a:solidFill>
                <a:latin typeface="페이퍼로지 5 Medium"/>
                <a:ea typeface="페이퍼로지 5 Medium"/>
                <a:cs typeface="페이퍼로지 5 Medium"/>
              </a:rPr>
              <a:t>Determination으로 자동화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21D9925-7087-405A-817D-9379D2DF6BCC}"/>
              </a:ext>
            </a:extLst>
          </p:cNvPr>
          <p:cNvSpPr>
            <a:spLocks noGrp="1"/>
          </p:cNvSpPr>
          <p:nvPr/>
        </p:nvSpPr>
        <p:spPr>
          <a:xfrm>
            <a:off x="566928" y="4032503"/>
            <a:ext cx="2057400" cy="521207"/>
          </a:xfrm>
          <a:prstGeom prst="rect">
            <a:avLst/>
          </a:prstGeom>
          <a:solidFill>
            <a:srgbClr val="FFFFFF"/>
          </a:solidFill>
          <a:ln w="12700"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000"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D3A5535-9DFE-4D44-846C-D6D7166300D1}"/>
              </a:ext>
            </a:extLst>
          </p:cNvPr>
          <p:cNvSpPr>
            <a:spLocks noGrp="1"/>
          </p:cNvSpPr>
          <p:nvPr/>
        </p:nvSpPr>
        <p:spPr>
          <a:xfrm>
            <a:off x="621792" y="4123943"/>
            <a:ext cx="1947672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buNone/>
            </a:pPr>
            <a:r>
              <a:rPr sz="1100" b="1">
                <a:solidFill>
                  <a:srgbClr val="192D46"/>
                </a:solidFill>
                <a:latin typeface="페이퍼로지 5 Medium"/>
                <a:ea typeface="페이퍼로지 5 Medium"/>
                <a:cs typeface="페이퍼로지 5 Medium"/>
              </a:rPr>
              <a:t>관계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8CFC799-32E4-4BDD-A9DD-27EFD75D5D6E}"/>
              </a:ext>
            </a:extLst>
          </p:cNvPr>
          <p:cNvSpPr>
            <a:spLocks noGrp="1"/>
          </p:cNvSpPr>
          <p:nvPr/>
        </p:nvSpPr>
        <p:spPr>
          <a:xfrm>
            <a:off x="2624328" y="4032503"/>
            <a:ext cx="4343400" cy="521207"/>
          </a:xfrm>
          <a:prstGeom prst="rect">
            <a:avLst/>
          </a:prstGeom>
          <a:solidFill>
            <a:srgbClr val="FFFFFF"/>
          </a:solidFill>
          <a:ln w="12700"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000"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ACC7D28-FF39-4B89-8FA8-D48BDE727235}"/>
              </a:ext>
            </a:extLst>
          </p:cNvPr>
          <p:cNvSpPr>
            <a:spLocks noGrp="1"/>
          </p:cNvSpPr>
          <p:nvPr/>
        </p:nvSpPr>
        <p:spPr>
          <a:xfrm>
            <a:off x="2679192" y="4123943"/>
            <a:ext cx="4233672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343A40"/>
                </a:solidFill>
                <a:latin typeface="페이퍼로지 5 Medium"/>
                <a:ea typeface="페이퍼로지 5 Medium"/>
                <a:cs typeface="페이퍼로지 5 Medium"/>
              </a:rPr>
              <a:t>프로그램이 Header–Item 제어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4ED9E57-6E1F-442D-AC1D-1478F0F5BED8}"/>
              </a:ext>
            </a:extLst>
          </p:cNvPr>
          <p:cNvSpPr>
            <a:spLocks noGrp="1"/>
          </p:cNvSpPr>
          <p:nvPr/>
        </p:nvSpPr>
        <p:spPr>
          <a:xfrm>
            <a:off x="6967728" y="4032503"/>
            <a:ext cx="4526280" cy="521207"/>
          </a:xfrm>
          <a:prstGeom prst="rect">
            <a:avLst/>
          </a:prstGeom>
          <a:solidFill>
            <a:srgbClr val="FFFFFF"/>
          </a:solidFill>
          <a:ln w="12700"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000"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9D778E9-5D0B-48E6-9A71-8D26E61130A9}"/>
              </a:ext>
            </a:extLst>
          </p:cNvPr>
          <p:cNvSpPr>
            <a:spLocks noGrp="1"/>
          </p:cNvSpPr>
          <p:nvPr/>
        </p:nvSpPr>
        <p:spPr>
          <a:xfrm>
            <a:off x="7022592" y="4123943"/>
            <a:ext cx="4416552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343A40"/>
                </a:solidFill>
                <a:latin typeface="페이퍼로지 5 Medium"/>
                <a:ea typeface="페이퍼로지 5 Medium"/>
                <a:cs typeface="페이퍼로지 5 Medium"/>
              </a:rPr>
              <a:t>Composition / Association 선언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7686835-8798-4229-B58C-838658F879FD}"/>
              </a:ext>
            </a:extLst>
          </p:cNvPr>
          <p:cNvSpPr>
            <a:spLocks noGrp="1"/>
          </p:cNvSpPr>
          <p:nvPr/>
        </p:nvSpPr>
        <p:spPr>
          <a:xfrm>
            <a:off x="566928" y="4553712"/>
            <a:ext cx="2057400" cy="521207"/>
          </a:xfrm>
          <a:prstGeom prst="rect">
            <a:avLst/>
          </a:prstGeom>
          <a:solidFill>
            <a:srgbClr val="F3F8FC"/>
          </a:solidFill>
          <a:ln w="12700"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000"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B06C0F5-DE07-4057-9EDD-369792EE43A1}"/>
              </a:ext>
            </a:extLst>
          </p:cNvPr>
          <p:cNvSpPr>
            <a:spLocks noGrp="1"/>
          </p:cNvSpPr>
          <p:nvPr/>
        </p:nvSpPr>
        <p:spPr>
          <a:xfrm>
            <a:off x="621792" y="4645151"/>
            <a:ext cx="1947672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buNone/>
            </a:pPr>
            <a:r>
              <a:rPr sz="1100" b="1">
                <a:solidFill>
                  <a:srgbClr val="192D46"/>
                </a:solidFill>
                <a:latin typeface="페이퍼로지 5 Medium"/>
                <a:ea typeface="페이퍼로지 5 Medium"/>
                <a:cs typeface="페이퍼로지 5 Medium"/>
              </a:rPr>
              <a:t>UI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1EB2589-746E-4ABF-A2CF-2D84EF235034}"/>
              </a:ext>
            </a:extLst>
          </p:cNvPr>
          <p:cNvSpPr>
            <a:spLocks noGrp="1"/>
          </p:cNvSpPr>
          <p:nvPr/>
        </p:nvSpPr>
        <p:spPr>
          <a:xfrm>
            <a:off x="2624328" y="4553712"/>
            <a:ext cx="4343400" cy="521207"/>
          </a:xfrm>
          <a:prstGeom prst="rect">
            <a:avLst/>
          </a:prstGeom>
          <a:solidFill>
            <a:srgbClr val="F3F8FC"/>
          </a:solidFill>
          <a:ln w="12700"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000"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D59098A-A584-4C3F-A877-D213A651354E}"/>
              </a:ext>
            </a:extLst>
          </p:cNvPr>
          <p:cNvSpPr>
            <a:spLocks noGrp="1"/>
          </p:cNvSpPr>
          <p:nvPr/>
        </p:nvSpPr>
        <p:spPr>
          <a:xfrm>
            <a:off x="2679192" y="4645151"/>
            <a:ext cx="4233672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343A40"/>
                </a:solidFill>
                <a:latin typeface="페이퍼로지 5 Medium"/>
                <a:ea typeface="페이퍼로지 5 Medium"/>
                <a:cs typeface="페이퍼로지 5 Medium"/>
              </a:rPr>
              <a:t>Dynpro / ALV 직접 구성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2DA698C-FD55-4372-9936-38086E921171}"/>
              </a:ext>
            </a:extLst>
          </p:cNvPr>
          <p:cNvSpPr>
            <a:spLocks noGrp="1"/>
          </p:cNvSpPr>
          <p:nvPr/>
        </p:nvSpPr>
        <p:spPr>
          <a:xfrm>
            <a:off x="6967728" y="4553712"/>
            <a:ext cx="4526280" cy="521207"/>
          </a:xfrm>
          <a:prstGeom prst="rect">
            <a:avLst/>
          </a:prstGeom>
          <a:solidFill>
            <a:srgbClr val="F3F8FC"/>
          </a:solidFill>
          <a:ln w="12700"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000"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C167CDC-215A-47A1-98B1-F7D5D39EC7E4}"/>
              </a:ext>
            </a:extLst>
          </p:cNvPr>
          <p:cNvSpPr>
            <a:spLocks noGrp="1"/>
          </p:cNvSpPr>
          <p:nvPr/>
        </p:nvSpPr>
        <p:spPr>
          <a:xfrm>
            <a:off x="7022592" y="4645151"/>
            <a:ext cx="4416552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343A40"/>
                </a:solidFill>
                <a:latin typeface="페이퍼로지 5 Medium"/>
                <a:ea typeface="페이퍼로지 5 Medium"/>
                <a:cs typeface="페이퍼로지 5 Medium"/>
              </a:rPr>
              <a:t>Annotation + Fiori Elements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3973CD7-F883-4977-B1C7-CDACABFFAABE}"/>
              </a:ext>
            </a:extLst>
          </p:cNvPr>
          <p:cNvSpPr>
            <a:spLocks noGrp="1"/>
          </p:cNvSpPr>
          <p:nvPr/>
        </p:nvSpPr>
        <p:spPr>
          <a:xfrm>
            <a:off x="566928" y="5074920"/>
            <a:ext cx="2057400" cy="521207"/>
          </a:xfrm>
          <a:prstGeom prst="rect">
            <a:avLst/>
          </a:prstGeom>
          <a:solidFill>
            <a:srgbClr val="FFFFFF"/>
          </a:solidFill>
          <a:ln w="12700"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000"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9784F9E-15AB-4C12-8B31-509B9CAB666A}"/>
              </a:ext>
            </a:extLst>
          </p:cNvPr>
          <p:cNvSpPr>
            <a:spLocks noGrp="1"/>
          </p:cNvSpPr>
          <p:nvPr/>
        </p:nvSpPr>
        <p:spPr>
          <a:xfrm>
            <a:off x="621792" y="5166359"/>
            <a:ext cx="1947672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buNone/>
            </a:pPr>
            <a:r>
              <a:rPr sz="1100" b="1">
                <a:solidFill>
                  <a:srgbClr val="192D46"/>
                </a:solidFill>
                <a:latin typeface="페이퍼로지 5 Medium"/>
                <a:ea typeface="페이퍼로지 5 Medium"/>
                <a:cs typeface="페이퍼로지 5 Medium"/>
              </a:rPr>
              <a:t>작성 중 데이터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0E7914B-1654-40EB-859C-2F8A31690C4C}"/>
              </a:ext>
            </a:extLst>
          </p:cNvPr>
          <p:cNvSpPr>
            <a:spLocks noGrp="1"/>
          </p:cNvSpPr>
          <p:nvPr/>
        </p:nvSpPr>
        <p:spPr>
          <a:xfrm>
            <a:off x="2624328" y="5074920"/>
            <a:ext cx="4343400" cy="521207"/>
          </a:xfrm>
          <a:prstGeom prst="rect">
            <a:avLst/>
          </a:prstGeom>
          <a:solidFill>
            <a:srgbClr val="FFFFFF"/>
          </a:solidFill>
          <a:ln w="12700"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000"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4FE0AF1-E59D-4E56-82BD-73A39FA2AE0B}"/>
              </a:ext>
            </a:extLst>
          </p:cNvPr>
          <p:cNvSpPr>
            <a:spLocks noGrp="1"/>
          </p:cNvSpPr>
          <p:nvPr/>
        </p:nvSpPr>
        <p:spPr>
          <a:xfrm>
            <a:off x="2679192" y="5166359"/>
            <a:ext cx="4233672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343A40"/>
                </a:solidFill>
                <a:latin typeface="페이퍼로지 5 Medium"/>
                <a:ea typeface="페이퍼로지 5 Medium"/>
                <a:cs typeface="페이퍼로지 5 Medium"/>
              </a:rPr>
              <a:t>별도 임시 처리 필요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68F5621-5F87-4D04-93A4-DE7BE45E135D}"/>
              </a:ext>
            </a:extLst>
          </p:cNvPr>
          <p:cNvSpPr>
            <a:spLocks noGrp="1"/>
          </p:cNvSpPr>
          <p:nvPr/>
        </p:nvSpPr>
        <p:spPr>
          <a:xfrm>
            <a:off x="6967728" y="5074920"/>
            <a:ext cx="4526280" cy="521207"/>
          </a:xfrm>
          <a:prstGeom prst="rect">
            <a:avLst/>
          </a:prstGeom>
          <a:solidFill>
            <a:srgbClr val="FFFFFF"/>
          </a:solidFill>
          <a:ln w="12700"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000"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8F5BAD8-494C-4867-9F4C-755A3E0AAEEF}"/>
              </a:ext>
            </a:extLst>
          </p:cNvPr>
          <p:cNvSpPr>
            <a:spLocks noGrp="1"/>
          </p:cNvSpPr>
          <p:nvPr/>
        </p:nvSpPr>
        <p:spPr>
          <a:xfrm>
            <a:off x="7022592" y="5166359"/>
            <a:ext cx="4416552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343A40"/>
                </a:solidFill>
                <a:latin typeface="페이퍼로지 5 Medium"/>
                <a:ea typeface="페이퍼로지 5 Medium"/>
                <a:cs typeface="페이퍼로지 5 Medium"/>
              </a:rPr>
              <a:t>Draft Framework 활용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D9FF1FA-F4B7-48CE-80DF-0B95422900C0}"/>
              </a:ext>
            </a:extLst>
          </p:cNvPr>
          <p:cNvSpPr>
            <a:spLocks noGrp="1"/>
          </p:cNvSpPr>
          <p:nvPr/>
        </p:nvSpPr>
        <p:spPr>
          <a:xfrm>
            <a:off x="658368" y="5806440"/>
            <a:ext cx="10789920" cy="2585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buNone/>
            </a:pPr>
            <a:r>
              <a:rPr sz="1200" b="1">
                <a:solidFill>
                  <a:srgbClr val="2466D2"/>
                </a:solidFill>
                <a:latin typeface="페이퍼로지 5 Medium"/>
                <a:ea typeface="페이퍼로지 5 Medium"/>
                <a:cs typeface="페이퍼로지 5 Medium"/>
              </a:rPr>
              <a:t>RAP에서는 검증·자동화·관계 정의를 Business Object에 모아 일관되게 관리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1E2AD67-7C3D-4E2D-912C-6BA0DD40780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EF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5DAEE7D-23C0-40BD-860B-26ABF19B1C3F}"/>
              </a:ext>
            </a:extLst>
          </p:cNvPr>
          <p:cNvSpPr>
            <a:spLocks noGrp="1"/>
          </p:cNvSpPr>
          <p:nvPr/>
        </p:nvSpPr>
        <p:spPr>
          <a:xfrm>
            <a:off x="0" y="804672"/>
            <a:ext cx="11292840" cy="32004"/>
          </a:xfrm>
          <a:prstGeom prst="rect">
            <a:avLst/>
          </a:prstGeom>
          <a:solidFill>
            <a:srgbClr val="CDD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B0FEC40-C922-4847-98A5-91D8FB5D2412}"/>
              </a:ext>
            </a:extLst>
          </p:cNvPr>
          <p:cNvSpPr>
            <a:spLocks noGrp="1"/>
          </p:cNvSpPr>
          <p:nvPr/>
        </p:nvSpPr>
        <p:spPr>
          <a:xfrm>
            <a:off x="0" y="786384"/>
            <a:ext cx="4297680" cy="64008"/>
          </a:xfrm>
          <a:prstGeom prst="rect">
            <a:avLst/>
          </a:prstGeom>
          <a:solidFill>
            <a:srgbClr val="15A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A88E91D-E002-44F7-89FB-CDAEE956DBE4}"/>
              </a:ext>
            </a:extLst>
          </p:cNvPr>
          <p:cNvSpPr>
            <a:spLocks noGrp="1"/>
          </p:cNvSpPr>
          <p:nvPr/>
        </p:nvSpPr>
        <p:spPr>
          <a:xfrm>
            <a:off x="361950" y="123825"/>
            <a:ext cx="11239500" cy="590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925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000000"/>
                </a:solidFill>
                <a:latin typeface="페이퍼로지 5 Medium"/>
                <a:ea typeface="페이퍼로지 5 Medium"/>
                <a:cs typeface="페이퍼로지 5 Medium"/>
              </a:rPr>
              <a:t>08. Classic ABAP과 RAP 비교</a:t>
            </a:r>
          </a:p>
        </p:txBody>
      </p:sp>
    </p:spTree>
    <p:extLst>
      <p:ext uri="{BB962C8B-B14F-4D97-AF65-F5344CB8AC3E}">
        <p14:creationId xmlns:p14="http://schemas.microsoft.com/office/powerpoint/2010/main" val="17210350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9074082-77B8-4EBA-8BDD-F7396E4FD8D1}"/>
              </a:ext>
            </a:extLst>
          </p:cNvPr>
          <p:cNvSpPr>
            <a:spLocks noGrp="1"/>
          </p:cNvSpPr>
          <p:nvPr/>
        </p:nvSpPr>
        <p:spPr>
          <a:xfrm>
            <a:off x="658368" y="1481328"/>
            <a:ext cx="109728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A848947-8EDE-4446-BAF5-75ACB3E09CAB}"/>
              </a:ext>
            </a:extLst>
          </p:cNvPr>
          <p:cNvSpPr>
            <a:spLocks noGrp="1"/>
          </p:cNvSpPr>
          <p:nvPr/>
        </p:nvSpPr>
        <p:spPr>
          <a:xfrm>
            <a:off x="822960" y="1664208"/>
            <a:ext cx="475488" cy="292608"/>
          </a:xfrm>
          <a:prstGeom prst="roundRect">
            <a:avLst/>
          </a:prstGeom>
          <a:solidFill>
            <a:srgbClr val="246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000" b="1">
                <a:solidFill>
                  <a:srgbClr val="FFFFFF"/>
                </a:solidFill>
                <a:latin typeface="페이퍼로지 5 Medium"/>
                <a:ea typeface="페이퍼로지 5 Medium"/>
                <a:cs typeface="페이퍼로지 5 Medium"/>
              </a:rPr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1BCED5-49D9-49D8-960F-EF20DD305316}"/>
              </a:ext>
            </a:extLst>
          </p:cNvPr>
          <p:cNvSpPr>
            <a:spLocks noGrp="1"/>
          </p:cNvSpPr>
          <p:nvPr/>
        </p:nvSpPr>
        <p:spPr>
          <a:xfrm>
            <a:off x="1481328" y="1600200"/>
            <a:ext cx="22860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buNone/>
            </a:pPr>
            <a:r>
              <a:rPr sz="1400" b="1">
                <a:solidFill>
                  <a:srgbClr val="192D46"/>
                </a:solidFill>
                <a:latin typeface="페이퍼로지 5 Medium"/>
                <a:ea typeface="페이퍼로지 5 Medium"/>
                <a:cs typeface="페이퍼로지 5 Medium"/>
              </a:rPr>
              <a:t>데이터 무결성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294AA3-F4C6-4360-AD93-0FCE621AF5A6}"/>
              </a:ext>
            </a:extLst>
          </p:cNvPr>
          <p:cNvSpPr>
            <a:spLocks noGrp="1"/>
          </p:cNvSpPr>
          <p:nvPr/>
        </p:nvSpPr>
        <p:spPr>
          <a:xfrm>
            <a:off x="3794760" y="1600200"/>
            <a:ext cx="7406640" cy="25083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buNone/>
            </a:pPr>
            <a:r>
              <a:rPr sz="1150" b="0">
                <a:solidFill>
                  <a:srgbClr val="343A40"/>
                </a:solidFill>
                <a:latin typeface="페이퍼로지 5 Medium"/>
                <a:ea typeface="페이퍼로지 5 Medium"/>
                <a:cs typeface="페이퍼로지 5 Medium"/>
              </a:rPr>
              <a:t>Validation으로 필수값·존재 여부·중복 Rule을 저장 전에 검증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AD7CB5F-8859-4A59-B3B3-B6D3FC861D3B}"/>
              </a:ext>
            </a:extLst>
          </p:cNvPr>
          <p:cNvSpPr>
            <a:spLocks noGrp="1"/>
          </p:cNvSpPr>
          <p:nvPr/>
        </p:nvSpPr>
        <p:spPr>
          <a:xfrm>
            <a:off x="658368" y="2359152"/>
            <a:ext cx="109728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CF9608E-F60F-4073-A414-7B0E1A17A4D2}"/>
              </a:ext>
            </a:extLst>
          </p:cNvPr>
          <p:cNvSpPr>
            <a:spLocks noGrp="1"/>
          </p:cNvSpPr>
          <p:nvPr/>
        </p:nvSpPr>
        <p:spPr>
          <a:xfrm>
            <a:off x="822960" y="2542032"/>
            <a:ext cx="475488" cy="292608"/>
          </a:xfrm>
          <a:prstGeom prst="roundRect">
            <a:avLst/>
          </a:prstGeom>
          <a:solidFill>
            <a:srgbClr val="246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000" b="1">
                <a:solidFill>
                  <a:srgbClr val="FFFFFF"/>
                </a:solidFill>
                <a:latin typeface="페이퍼로지 5 Medium"/>
                <a:ea typeface="페이퍼로지 5 Medium"/>
                <a:cs typeface="페이퍼로지 5 Medium"/>
              </a:rPr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46CFED-9B6D-412B-A13D-1DEF7FB0C193}"/>
              </a:ext>
            </a:extLst>
          </p:cNvPr>
          <p:cNvSpPr>
            <a:spLocks noGrp="1"/>
          </p:cNvSpPr>
          <p:nvPr/>
        </p:nvSpPr>
        <p:spPr>
          <a:xfrm>
            <a:off x="1481328" y="2478024"/>
            <a:ext cx="22860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buNone/>
            </a:pPr>
            <a:r>
              <a:rPr sz="1400" b="1">
                <a:solidFill>
                  <a:srgbClr val="192D46"/>
                </a:solidFill>
                <a:latin typeface="페이퍼로지 5 Medium"/>
                <a:ea typeface="페이퍼로지 5 Medium"/>
                <a:cs typeface="페이퍼로지 5 Medium"/>
              </a:rPr>
              <a:t>업무 자동화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F39B1C-C46D-4FE4-AB60-41521EC4BB72}"/>
              </a:ext>
            </a:extLst>
          </p:cNvPr>
          <p:cNvSpPr>
            <a:spLocks noGrp="1"/>
          </p:cNvSpPr>
          <p:nvPr/>
        </p:nvSpPr>
        <p:spPr>
          <a:xfrm>
            <a:off x="3794760" y="2478024"/>
            <a:ext cx="7406640" cy="25083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buNone/>
            </a:pPr>
            <a:r>
              <a:rPr sz="1150" b="0">
                <a:solidFill>
                  <a:srgbClr val="343A40"/>
                </a:solidFill>
                <a:latin typeface="페이퍼로지 5 Medium"/>
                <a:ea typeface="페이퍼로지 5 Medium"/>
                <a:cs typeface="페이퍼로지 5 Medium"/>
              </a:rPr>
              <a:t>Determination으로 명칭·단위·기본값을 자동 반영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FDA3689-664A-4E96-811A-27355F778AFB}"/>
              </a:ext>
            </a:extLst>
          </p:cNvPr>
          <p:cNvSpPr>
            <a:spLocks noGrp="1"/>
          </p:cNvSpPr>
          <p:nvPr/>
        </p:nvSpPr>
        <p:spPr>
          <a:xfrm>
            <a:off x="658368" y="3236976"/>
            <a:ext cx="109728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9CC306A0-5022-4AA4-8DC8-A9A74F2C6169}"/>
              </a:ext>
            </a:extLst>
          </p:cNvPr>
          <p:cNvSpPr>
            <a:spLocks noGrp="1"/>
          </p:cNvSpPr>
          <p:nvPr/>
        </p:nvSpPr>
        <p:spPr>
          <a:xfrm>
            <a:off x="822960" y="3419856"/>
            <a:ext cx="475488" cy="292608"/>
          </a:xfrm>
          <a:prstGeom prst="roundRect">
            <a:avLst/>
          </a:prstGeom>
          <a:solidFill>
            <a:srgbClr val="246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000" b="1">
                <a:solidFill>
                  <a:srgbClr val="FFFFFF"/>
                </a:solidFill>
                <a:latin typeface="페이퍼로지 5 Medium"/>
                <a:ea typeface="페이퍼로지 5 Medium"/>
                <a:cs typeface="페이퍼로지 5 Medium"/>
              </a:rPr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57633BC-42FE-4912-88E6-AC3383D46BD2}"/>
              </a:ext>
            </a:extLst>
          </p:cNvPr>
          <p:cNvSpPr>
            <a:spLocks noGrp="1"/>
          </p:cNvSpPr>
          <p:nvPr/>
        </p:nvSpPr>
        <p:spPr>
          <a:xfrm>
            <a:off x="1481328" y="3355848"/>
            <a:ext cx="22860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buNone/>
            </a:pPr>
            <a:r>
              <a:rPr sz="1400" b="1">
                <a:solidFill>
                  <a:srgbClr val="192D46"/>
                </a:solidFill>
                <a:latin typeface="페이퍼로지 5 Medium"/>
                <a:ea typeface="페이퍼로지 5 Medium"/>
                <a:cs typeface="페이퍼로지 5 Medium"/>
              </a:rPr>
              <a:t>재사용성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3D6BD06-3674-4835-BED4-071BC8A204E6}"/>
              </a:ext>
            </a:extLst>
          </p:cNvPr>
          <p:cNvSpPr>
            <a:spLocks noGrp="1"/>
          </p:cNvSpPr>
          <p:nvPr/>
        </p:nvSpPr>
        <p:spPr>
          <a:xfrm>
            <a:off x="3794760" y="3355848"/>
            <a:ext cx="7406640" cy="25083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buNone/>
            </a:pPr>
            <a:r>
              <a:rPr sz="1150" b="0">
                <a:solidFill>
                  <a:srgbClr val="343A40"/>
                </a:solidFill>
                <a:latin typeface="페이퍼로지 5 Medium"/>
                <a:ea typeface="페이퍼로지 5 Medium"/>
                <a:cs typeface="페이퍼로지 5 Medium"/>
              </a:rPr>
              <a:t>공통 CDS Value Help와 Association을 여러 BO에서 재사용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EDB605E0-CBAB-46BE-88CF-B97CEBFA2EBB}"/>
              </a:ext>
            </a:extLst>
          </p:cNvPr>
          <p:cNvSpPr>
            <a:spLocks noGrp="1"/>
          </p:cNvSpPr>
          <p:nvPr/>
        </p:nvSpPr>
        <p:spPr>
          <a:xfrm>
            <a:off x="658368" y="4114800"/>
            <a:ext cx="109728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F9ECA5F5-FE69-4151-A34D-C4DF9967B2F1}"/>
              </a:ext>
            </a:extLst>
          </p:cNvPr>
          <p:cNvSpPr>
            <a:spLocks noGrp="1"/>
          </p:cNvSpPr>
          <p:nvPr/>
        </p:nvSpPr>
        <p:spPr>
          <a:xfrm>
            <a:off x="822960" y="4297680"/>
            <a:ext cx="475488" cy="292608"/>
          </a:xfrm>
          <a:prstGeom prst="roundRect">
            <a:avLst/>
          </a:prstGeom>
          <a:solidFill>
            <a:srgbClr val="246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000" b="1">
                <a:solidFill>
                  <a:srgbClr val="FFFFFF"/>
                </a:solidFill>
                <a:latin typeface="페이퍼로지 5 Medium"/>
                <a:ea typeface="페이퍼로지 5 Medium"/>
                <a:cs typeface="페이퍼로지 5 Medium"/>
              </a:rPr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B3A8F85-76A2-4410-B53B-12FD4DB98719}"/>
              </a:ext>
            </a:extLst>
          </p:cNvPr>
          <p:cNvSpPr>
            <a:spLocks noGrp="1"/>
          </p:cNvSpPr>
          <p:nvPr/>
        </p:nvSpPr>
        <p:spPr>
          <a:xfrm>
            <a:off x="1481328" y="4233672"/>
            <a:ext cx="22860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buNone/>
            </a:pPr>
            <a:r>
              <a:rPr sz="1400" b="1">
                <a:solidFill>
                  <a:srgbClr val="192D46"/>
                </a:solidFill>
                <a:latin typeface="페이퍼로지 5 Medium"/>
                <a:ea typeface="페이퍼로지 5 Medium"/>
                <a:cs typeface="페이퍼로지 5 Medium"/>
              </a:rPr>
              <a:t>유지보수성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9BF4E5B-3EA9-4DD8-B185-B1468A29836A}"/>
              </a:ext>
            </a:extLst>
          </p:cNvPr>
          <p:cNvSpPr>
            <a:spLocks noGrp="1"/>
          </p:cNvSpPr>
          <p:nvPr/>
        </p:nvSpPr>
        <p:spPr>
          <a:xfrm>
            <a:off x="3794760" y="4233672"/>
            <a:ext cx="7406640" cy="25083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buNone/>
            </a:pPr>
            <a:r>
              <a:rPr sz="1150" b="0">
                <a:solidFill>
                  <a:srgbClr val="343A40"/>
                </a:solidFill>
                <a:latin typeface="페이퍼로지 5 Medium"/>
                <a:ea typeface="페이퍼로지 5 Medium"/>
                <a:cs typeface="페이퍼로지 5 Medium"/>
              </a:rPr>
              <a:t>DB / CDS / Behavior / Projection / UI 계층을 분리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141A7DFC-194A-4C70-90CF-B3224F11B138}"/>
              </a:ext>
            </a:extLst>
          </p:cNvPr>
          <p:cNvSpPr>
            <a:spLocks noGrp="1"/>
          </p:cNvSpPr>
          <p:nvPr/>
        </p:nvSpPr>
        <p:spPr>
          <a:xfrm>
            <a:off x="658368" y="4992624"/>
            <a:ext cx="109728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71B6AFFC-9EA2-446F-835E-40E8952B59A6}"/>
              </a:ext>
            </a:extLst>
          </p:cNvPr>
          <p:cNvSpPr>
            <a:spLocks noGrp="1"/>
          </p:cNvSpPr>
          <p:nvPr/>
        </p:nvSpPr>
        <p:spPr>
          <a:xfrm>
            <a:off x="822960" y="5175504"/>
            <a:ext cx="475488" cy="292608"/>
          </a:xfrm>
          <a:prstGeom prst="roundRect">
            <a:avLst/>
          </a:prstGeom>
          <a:solidFill>
            <a:srgbClr val="246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000" b="1">
                <a:solidFill>
                  <a:srgbClr val="FFFFFF"/>
                </a:solidFill>
                <a:latin typeface="페이퍼로지 5 Medium"/>
                <a:ea typeface="페이퍼로지 5 Medium"/>
                <a:cs typeface="페이퍼로지 5 Medium"/>
              </a:rPr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9276F30-E885-4D3D-ABEA-07054F168EE0}"/>
              </a:ext>
            </a:extLst>
          </p:cNvPr>
          <p:cNvSpPr>
            <a:spLocks noGrp="1"/>
          </p:cNvSpPr>
          <p:nvPr/>
        </p:nvSpPr>
        <p:spPr>
          <a:xfrm>
            <a:off x="1481328" y="5111496"/>
            <a:ext cx="22860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buNone/>
            </a:pPr>
            <a:r>
              <a:rPr sz="1400" b="1">
                <a:solidFill>
                  <a:srgbClr val="192D46"/>
                </a:solidFill>
                <a:latin typeface="페이퍼로지 5 Medium"/>
                <a:ea typeface="페이퍼로지 5 Medium"/>
                <a:cs typeface="페이퍼로지 5 Medium"/>
              </a:rPr>
              <a:t>사용자 경험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343E5CC-C91D-4F58-82D6-0F39F110459C}"/>
              </a:ext>
            </a:extLst>
          </p:cNvPr>
          <p:cNvSpPr>
            <a:spLocks noGrp="1"/>
          </p:cNvSpPr>
          <p:nvPr/>
        </p:nvSpPr>
        <p:spPr>
          <a:xfrm>
            <a:off x="3794760" y="5111496"/>
            <a:ext cx="7406640" cy="25083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buNone/>
            </a:pPr>
            <a:r>
              <a:rPr sz="1150" b="0">
                <a:solidFill>
                  <a:srgbClr val="343A40"/>
                </a:solidFill>
                <a:latin typeface="페이퍼로지 5 Medium"/>
                <a:ea typeface="페이퍼로지 5 Medium"/>
                <a:cs typeface="페이퍼로지 5 Medium"/>
              </a:rPr>
              <a:t>Draft · Value Help · Fiori Elements로 입력 편의성과 안정성 개선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A3FCA270-D247-4D2D-B7CD-AAE10FFFD5A8}"/>
              </a:ext>
            </a:extLst>
          </p:cNvPr>
          <p:cNvSpPr>
            <a:spLocks noGrp="1"/>
          </p:cNvSpPr>
          <p:nvPr/>
        </p:nvSpPr>
        <p:spPr>
          <a:xfrm>
            <a:off x="658368" y="5916168"/>
            <a:ext cx="10972800" cy="384048"/>
          </a:xfrm>
          <a:prstGeom prst="roundRect">
            <a:avLst/>
          </a:prstGeom>
          <a:solidFill>
            <a:srgbClr val="F3F8FC"/>
          </a:solidFill>
          <a:ln w="12700"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5A05832-464C-4ECA-99D6-DE8820EB6CE8}"/>
              </a:ext>
            </a:extLst>
          </p:cNvPr>
          <p:cNvSpPr>
            <a:spLocks noGrp="1"/>
          </p:cNvSpPr>
          <p:nvPr/>
        </p:nvSpPr>
        <p:spPr>
          <a:xfrm>
            <a:off x="841248" y="5989320"/>
            <a:ext cx="10561320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buNone/>
            </a:pPr>
            <a:r>
              <a:rPr sz="1050" b="1">
                <a:solidFill>
                  <a:srgbClr val="2466D2"/>
                </a:solidFill>
                <a:latin typeface="페이퍼로지 5 Medium"/>
                <a:ea typeface="페이퍼로지 5 Medium"/>
                <a:cs typeface="페이퍼로지 5 Medium"/>
              </a:rPr>
              <a:t>개인 기여도: FS 요구사항 분석 → RAP 구조 설계 → 구현 → 중간평가 피드백 반영 → 기술 제약에 따른 데이터 모델 보완까지 수행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6B5A0C5-2C02-41AB-8B89-DC5F4367AB1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EF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78D1FAB-0E61-4ED8-A2BD-6A1A9CD3DA95}"/>
              </a:ext>
            </a:extLst>
          </p:cNvPr>
          <p:cNvSpPr>
            <a:spLocks noGrp="1"/>
          </p:cNvSpPr>
          <p:nvPr/>
        </p:nvSpPr>
        <p:spPr>
          <a:xfrm>
            <a:off x="0" y="804672"/>
            <a:ext cx="11292840" cy="32004"/>
          </a:xfrm>
          <a:prstGeom prst="rect">
            <a:avLst/>
          </a:prstGeom>
          <a:solidFill>
            <a:srgbClr val="CDD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918D8C2-60C4-4730-8D33-AAF6384AB080}"/>
              </a:ext>
            </a:extLst>
          </p:cNvPr>
          <p:cNvSpPr>
            <a:spLocks noGrp="1"/>
          </p:cNvSpPr>
          <p:nvPr/>
        </p:nvSpPr>
        <p:spPr>
          <a:xfrm>
            <a:off x="0" y="786384"/>
            <a:ext cx="4297680" cy="64008"/>
          </a:xfrm>
          <a:prstGeom prst="rect">
            <a:avLst/>
          </a:prstGeom>
          <a:solidFill>
            <a:srgbClr val="15A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8BDC9C5-B156-422C-8089-2D817B32F987}"/>
              </a:ext>
            </a:extLst>
          </p:cNvPr>
          <p:cNvSpPr>
            <a:spLocks noGrp="1"/>
          </p:cNvSpPr>
          <p:nvPr/>
        </p:nvSpPr>
        <p:spPr>
          <a:xfrm>
            <a:off x="361950" y="123825"/>
            <a:ext cx="11239500" cy="590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925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000000"/>
                </a:solidFill>
                <a:latin typeface="페이퍼로지 5 Medium"/>
                <a:ea typeface="페이퍼로지 5 Medium"/>
                <a:cs typeface="페이퍼로지 5 Medium"/>
              </a:rPr>
              <a:t>09. 개선 결과 및 주요 장점</a:t>
            </a:r>
          </a:p>
        </p:txBody>
      </p:sp>
    </p:spTree>
    <p:extLst>
      <p:ext uri="{BB962C8B-B14F-4D97-AF65-F5344CB8AC3E}">
        <p14:creationId xmlns:p14="http://schemas.microsoft.com/office/powerpoint/2010/main" val="6215017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FEA6A78-A142-4BD4-9FF8-CA2FB6F0AA49}"/>
              </a:ext>
            </a:extLst>
          </p:cNvPr>
          <p:cNvSpPr>
            <a:spLocks noGrp="1"/>
          </p:cNvSpPr>
          <p:nvPr/>
        </p:nvSpPr>
        <p:spPr>
          <a:xfrm>
            <a:off x="658368" y="1234440"/>
            <a:ext cx="1097280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buNone/>
            </a:pPr>
            <a:r>
              <a:rPr sz="1600" b="1">
                <a:solidFill>
                  <a:srgbClr val="192D46"/>
                </a:solidFill>
                <a:latin typeface="페이퍼로지 5 Medium"/>
                <a:ea typeface="페이퍼로지 5 Medium"/>
                <a:cs typeface="페이퍼로지 5 Medium"/>
              </a:rPr>
              <a:t>구매오더 Header–Item Composition을 기준으로 입고와 회계전표 연계 구조를 설계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6A0A140-227F-4FAB-9DA0-3ECA8C105FD5}"/>
              </a:ext>
            </a:extLst>
          </p:cNvPr>
          <p:cNvSpPr>
            <a:spLocks noGrp="1"/>
          </p:cNvSpPr>
          <p:nvPr/>
        </p:nvSpPr>
        <p:spPr>
          <a:xfrm>
            <a:off x="960120" y="1874519"/>
            <a:ext cx="297180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27C312A-A664-4316-BE21-637E751CA31E}"/>
              </a:ext>
            </a:extLst>
          </p:cNvPr>
          <p:cNvSpPr>
            <a:spLocks noGrp="1"/>
          </p:cNvSpPr>
          <p:nvPr/>
        </p:nvSpPr>
        <p:spPr>
          <a:xfrm>
            <a:off x="1216152" y="2084831"/>
            <a:ext cx="713232" cy="292608"/>
          </a:xfrm>
          <a:prstGeom prst="roundRect">
            <a:avLst/>
          </a:prstGeom>
          <a:solidFill>
            <a:srgbClr val="246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900" b="1">
                <a:solidFill>
                  <a:srgbClr val="FFFFFF"/>
                </a:solidFill>
                <a:latin typeface="페이퍼로지 5 Medium"/>
                <a:ea typeface="페이퍼로지 5 Medium"/>
                <a:cs typeface="페이퍼로지 5 Medium"/>
              </a:rPr>
              <a:t>FS06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689FC3-B08F-4F54-BE72-A6B0E48172CD}"/>
              </a:ext>
            </a:extLst>
          </p:cNvPr>
          <p:cNvSpPr>
            <a:spLocks noGrp="1"/>
          </p:cNvSpPr>
          <p:nvPr/>
        </p:nvSpPr>
        <p:spPr>
          <a:xfrm>
            <a:off x="1188720" y="2468880"/>
            <a:ext cx="2514600" cy="41242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buNone/>
            </a:pPr>
            <a:r>
              <a:rPr sz="2200" b="1">
                <a:solidFill>
                  <a:srgbClr val="192D46"/>
                </a:solidFill>
                <a:latin typeface="페이퍼로지 5 Medium"/>
                <a:ea typeface="페이퍼로지 5 Medium"/>
                <a:cs typeface="페이퍼로지 5 Medium"/>
              </a:rPr>
              <a:t>PO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84A041-3D6C-42F5-B382-AB6D6A1893D2}"/>
              </a:ext>
            </a:extLst>
          </p:cNvPr>
          <p:cNvSpPr>
            <a:spLocks noGrp="1"/>
          </p:cNvSpPr>
          <p:nvPr/>
        </p:nvSpPr>
        <p:spPr>
          <a:xfrm>
            <a:off x="1188720" y="2916936"/>
            <a:ext cx="2514600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666E76"/>
                </a:solidFill>
                <a:latin typeface="페이퍼로지 5 Medium"/>
                <a:ea typeface="페이퍼로지 5 Medium"/>
                <a:cs typeface="페이퍼로지 5 Medium"/>
              </a:rPr>
              <a:t>EKKO / EKPO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FD799C-EEEC-4C46-A8F7-20E8F720FABA}"/>
              </a:ext>
            </a:extLst>
          </p:cNvPr>
          <p:cNvSpPr>
            <a:spLocks noGrp="1"/>
          </p:cNvSpPr>
          <p:nvPr/>
        </p:nvSpPr>
        <p:spPr>
          <a:xfrm>
            <a:off x="3977639" y="2340864"/>
            <a:ext cx="658368" cy="50475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buNone/>
            </a:pPr>
            <a:r>
              <a:rPr sz="2800" b="1">
                <a:solidFill>
                  <a:srgbClr val="15A9E0"/>
                </a:solidFill>
                <a:latin typeface="페이퍼로지 5 Medium"/>
                <a:ea typeface="페이퍼로지 5 Medium"/>
                <a:cs typeface="페이퍼로지 5 Medium"/>
              </a:rPr>
              <a:t>→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8BF9D99-5B61-4C77-9BD7-47F6E53D5EE7}"/>
              </a:ext>
            </a:extLst>
          </p:cNvPr>
          <p:cNvSpPr>
            <a:spLocks noGrp="1"/>
          </p:cNvSpPr>
          <p:nvPr/>
        </p:nvSpPr>
        <p:spPr>
          <a:xfrm>
            <a:off x="4709159" y="1874519"/>
            <a:ext cx="297180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D9B0B8D-9AD5-4C11-B867-E714553082A8}"/>
              </a:ext>
            </a:extLst>
          </p:cNvPr>
          <p:cNvSpPr>
            <a:spLocks noGrp="1"/>
          </p:cNvSpPr>
          <p:nvPr/>
        </p:nvSpPr>
        <p:spPr>
          <a:xfrm>
            <a:off x="4965192" y="2084831"/>
            <a:ext cx="713232" cy="292608"/>
          </a:xfrm>
          <a:prstGeom prst="roundRect">
            <a:avLst/>
          </a:prstGeom>
          <a:solidFill>
            <a:srgbClr val="666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900" b="1">
                <a:solidFill>
                  <a:srgbClr val="FFFFFF"/>
                </a:solidFill>
                <a:latin typeface="페이퍼로지 5 Medium"/>
                <a:ea typeface="페이퍼로지 5 Medium"/>
                <a:cs typeface="페이퍼로지 5 Medium"/>
              </a:rPr>
              <a:t>FS07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92F927-D20B-40CE-86CA-81DEE1B668D1}"/>
              </a:ext>
            </a:extLst>
          </p:cNvPr>
          <p:cNvSpPr>
            <a:spLocks noGrp="1"/>
          </p:cNvSpPr>
          <p:nvPr/>
        </p:nvSpPr>
        <p:spPr>
          <a:xfrm>
            <a:off x="4937759" y="2468880"/>
            <a:ext cx="2514600" cy="41242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buNone/>
            </a:pPr>
            <a:r>
              <a:rPr sz="2200" b="1">
                <a:solidFill>
                  <a:srgbClr val="192D46"/>
                </a:solidFill>
                <a:latin typeface="페이퍼로지 5 Medium"/>
                <a:ea typeface="페이퍼로지 5 Medium"/>
                <a:cs typeface="페이퍼로지 5 Medium"/>
              </a:rPr>
              <a:t>GR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4719A6-E94E-436F-8F0C-5A97F132DC51}"/>
              </a:ext>
            </a:extLst>
          </p:cNvPr>
          <p:cNvSpPr>
            <a:spLocks noGrp="1"/>
          </p:cNvSpPr>
          <p:nvPr/>
        </p:nvSpPr>
        <p:spPr>
          <a:xfrm>
            <a:off x="4937759" y="2916936"/>
            <a:ext cx="2514600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666E76"/>
                </a:solidFill>
                <a:latin typeface="페이퍼로지 5 Medium"/>
                <a:ea typeface="페이퍼로지 5 Medium"/>
                <a:cs typeface="페이퍼로지 5 Medium"/>
              </a:rPr>
              <a:t>MKPF / MSEG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195FF08-9F7F-4987-BC26-F419E9025BA0}"/>
              </a:ext>
            </a:extLst>
          </p:cNvPr>
          <p:cNvSpPr>
            <a:spLocks noGrp="1"/>
          </p:cNvSpPr>
          <p:nvPr/>
        </p:nvSpPr>
        <p:spPr>
          <a:xfrm>
            <a:off x="7726679" y="2340864"/>
            <a:ext cx="658368" cy="50475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buNone/>
            </a:pPr>
            <a:r>
              <a:rPr sz="2800" b="1">
                <a:solidFill>
                  <a:srgbClr val="15A9E0"/>
                </a:solidFill>
                <a:latin typeface="페이퍼로지 5 Medium"/>
                <a:ea typeface="페이퍼로지 5 Medium"/>
                <a:cs typeface="페이퍼로지 5 Medium"/>
              </a:rPr>
              <a:t>→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38232A56-9855-44BE-A30B-7366DE5DA488}"/>
              </a:ext>
            </a:extLst>
          </p:cNvPr>
          <p:cNvSpPr>
            <a:spLocks noGrp="1"/>
          </p:cNvSpPr>
          <p:nvPr/>
        </p:nvSpPr>
        <p:spPr>
          <a:xfrm>
            <a:off x="8458200" y="1874519"/>
            <a:ext cx="297180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5FF73F9F-E807-4A33-86CC-B667A02428F9}"/>
              </a:ext>
            </a:extLst>
          </p:cNvPr>
          <p:cNvSpPr>
            <a:spLocks noGrp="1"/>
          </p:cNvSpPr>
          <p:nvPr/>
        </p:nvSpPr>
        <p:spPr>
          <a:xfrm>
            <a:off x="8714232" y="2084831"/>
            <a:ext cx="713232" cy="292608"/>
          </a:xfrm>
          <a:prstGeom prst="roundRect">
            <a:avLst/>
          </a:prstGeom>
          <a:solidFill>
            <a:srgbClr val="666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900" b="1">
                <a:solidFill>
                  <a:srgbClr val="FFFFFF"/>
                </a:solidFill>
                <a:latin typeface="페이퍼로지 5 Medium"/>
                <a:ea typeface="페이퍼로지 5 Medium"/>
                <a:cs typeface="페이퍼로지 5 Medium"/>
              </a:rPr>
              <a:t>FS08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A4AEA2-6EB0-4D1F-B418-85A03D047BDE}"/>
              </a:ext>
            </a:extLst>
          </p:cNvPr>
          <p:cNvSpPr>
            <a:spLocks noGrp="1"/>
          </p:cNvSpPr>
          <p:nvPr/>
        </p:nvSpPr>
        <p:spPr>
          <a:xfrm>
            <a:off x="8686800" y="2468880"/>
            <a:ext cx="2514600" cy="41242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buNone/>
            </a:pPr>
            <a:r>
              <a:rPr sz="2200" b="1">
                <a:solidFill>
                  <a:srgbClr val="192D46"/>
                </a:solidFill>
                <a:latin typeface="페이퍼로지 5 Medium"/>
                <a:ea typeface="페이퍼로지 5 Medium"/>
                <a:cs typeface="페이퍼로지 5 Medium"/>
              </a:rPr>
              <a:t>FI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18CF8C3-FD03-4614-B83D-71B23870416A}"/>
              </a:ext>
            </a:extLst>
          </p:cNvPr>
          <p:cNvSpPr>
            <a:spLocks noGrp="1"/>
          </p:cNvSpPr>
          <p:nvPr/>
        </p:nvSpPr>
        <p:spPr>
          <a:xfrm>
            <a:off x="8686800" y="2916936"/>
            <a:ext cx="2514600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666E76"/>
                </a:solidFill>
                <a:latin typeface="페이퍼로지 5 Medium"/>
                <a:ea typeface="페이퍼로지 5 Medium"/>
                <a:cs typeface="페이퍼로지 5 Medium"/>
              </a:rPr>
              <a:t>BKPF / BSEG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6F68CFFC-B4F8-4293-B46E-1BC8DF04362B}"/>
              </a:ext>
            </a:extLst>
          </p:cNvPr>
          <p:cNvSpPr>
            <a:spLocks noGrp="1"/>
          </p:cNvSpPr>
          <p:nvPr/>
        </p:nvSpPr>
        <p:spPr>
          <a:xfrm>
            <a:off x="777240" y="3822191"/>
            <a:ext cx="10652760" cy="1719072"/>
          </a:xfrm>
          <a:prstGeom prst="roundRect">
            <a:avLst/>
          </a:prstGeom>
          <a:solidFill>
            <a:srgbClr val="F3F8FC"/>
          </a:solidFill>
          <a:ln w="12700"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000"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F73563D-5A94-419B-86E5-CE5157EB7F1A}"/>
              </a:ext>
            </a:extLst>
          </p:cNvPr>
          <p:cNvSpPr>
            <a:spLocks noGrp="1"/>
          </p:cNvSpPr>
          <p:nvPr/>
        </p:nvSpPr>
        <p:spPr>
          <a:xfrm>
            <a:off x="960120" y="4255643"/>
            <a:ext cx="10195560" cy="893321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  <a:buNone/>
              <a:defRPr sz="1200">
                <a:solidFill>
                  <a:srgbClr val="343A4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dirty="0" err="1">
                <a:latin typeface="페이퍼로지 5 Medium"/>
                <a:ea typeface="페이퍼로지 5 Medium"/>
                <a:cs typeface="페이퍼로지 5 Medium"/>
              </a:rPr>
              <a:t>입고</a:t>
            </a:r>
            <a:r>
              <a:rPr sz="1600" dirty="0">
                <a:latin typeface="페이퍼로지 5 Medium"/>
                <a:ea typeface="페이퍼로지 5 Medium"/>
                <a:cs typeface="페이퍼로지 5 Medium"/>
              </a:rPr>
              <a:t> 시 </a:t>
            </a:r>
            <a:r>
              <a:rPr sz="1600" dirty="0" err="1">
                <a:latin typeface="페이퍼로지 5 Medium"/>
                <a:ea typeface="페이퍼로지 5 Medium"/>
                <a:cs typeface="페이퍼로지 5 Medium"/>
              </a:rPr>
              <a:t>구매오더</a:t>
            </a:r>
            <a:r>
              <a:rPr sz="1600" dirty="0"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sz="1600" dirty="0" err="1">
                <a:latin typeface="페이퍼로지 5 Medium"/>
                <a:ea typeface="페이퍼로지 5 Medium"/>
                <a:cs typeface="페이퍼로지 5 Medium"/>
              </a:rPr>
              <a:t>Item의</a:t>
            </a:r>
            <a:r>
              <a:rPr sz="1600" dirty="0"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sz="1600" dirty="0" err="1">
                <a:latin typeface="페이퍼로지 5 Medium"/>
                <a:ea typeface="페이퍼로지 5 Medium"/>
                <a:cs typeface="페이퍼로지 5 Medium"/>
              </a:rPr>
              <a:t>누적</a:t>
            </a:r>
            <a:r>
              <a:rPr sz="1600" dirty="0"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sz="1600" dirty="0" err="1">
                <a:latin typeface="페이퍼로지 5 Medium"/>
                <a:ea typeface="페이퍼로지 5 Medium"/>
                <a:cs typeface="페이퍼로지 5 Medium"/>
              </a:rPr>
              <a:t>입고수량</a:t>
            </a:r>
            <a:r>
              <a:rPr sz="1600" dirty="0">
                <a:latin typeface="페이퍼로지 5 Medium"/>
                <a:ea typeface="페이퍼로지 5 Medium"/>
                <a:cs typeface="페이퍼로지 5 Medium"/>
              </a:rPr>
              <a:t>(WEMNG) </a:t>
            </a:r>
            <a:r>
              <a:rPr sz="1600" dirty="0" err="1">
                <a:latin typeface="페이퍼로지 5 Medium"/>
                <a:ea typeface="페이퍼로지 5 Medium"/>
                <a:cs typeface="페이퍼로지 5 Medium"/>
              </a:rPr>
              <a:t>갱신</a:t>
            </a:r>
            <a:r>
              <a:rPr sz="1600" dirty="0">
                <a:latin typeface="페이퍼로지 5 Medium"/>
                <a:ea typeface="페이퍼로지 5 Medium"/>
                <a:cs typeface="페이퍼로지 5 Medium"/>
              </a:rPr>
              <a:t> 및 </a:t>
            </a:r>
            <a:r>
              <a:rPr sz="1600" dirty="0" err="1">
                <a:latin typeface="페이퍼로지 5 Medium"/>
                <a:ea typeface="페이퍼로지 5 Medium"/>
                <a:cs typeface="페이퍼로지 5 Medium"/>
              </a:rPr>
              <a:t>전량</a:t>
            </a:r>
            <a:r>
              <a:rPr sz="1600" dirty="0"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sz="1600" dirty="0" err="1">
                <a:latin typeface="페이퍼로지 5 Medium"/>
                <a:ea typeface="페이퍼로지 5 Medium"/>
                <a:cs typeface="페이퍼로지 5 Medium"/>
              </a:rPr>
              <a:t>입고</a:t>
            </a:r>
            <a:r>
              <a:rPr sz="1600" dirty="0">
                <a:latin typeface="페이퍼로지 5 Medium"/>
                <a:ea typeface="페이퍼로지 5 Medium"/>
                <a:cs typeface="페이퍼로지 5 Medium"/>
              </a:rPr>
              <a:t> 시 ELIKZ = X </a:t>
            </a:r>
            <a:r>
              <a:rPr sz="1600" dirty="0" err="1">
                <a:latin typeface="페이퍼로지 5 Medium"/>
                <a:ea typeface="페이퍼로지 5 Medium"/>
                <a:cs typeface="페이퍼로지 5 Medium"/>
              </a:rPr>
              <a:t>처리</a:t>
            </a:r>
            <a:endParaRPr sz="1600" dirty="0">
              <a:latin typeface="페이퍼로지 5 Medium"/>
              <a:ea typeface="페이퍼로지 5 Medium"/>
              <a:cs typeface="페이퍼로지 5 Medium"/>
            </a:endParaRPr>
          </a:p>
          <a:p>
            <a:pPr>
              <a:lnSpc>
                <a:spcPct val="110000"/>
              </a:lnSpc>
              <a:spcAft>
                <a:spcPts val="200"/>
              </a:spcAft>
              <a:buNone/>
              <a:defRPr sz="1200">
                <a:solidFill>
                  <a:srgbClr val="343A4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dirty="0" err="1">
                <a:latin typeface="페이퍼로지 5 Medium"/>
                <a:ea typeface="페이퍼로지 5 Medium"/>
                <a:cs typeface="페이퍼로지 5 Medium"/>
              </a:rPr>
              <a:t>이동유형</a:t>
            </a:r>
            <a:r>
              <a:rPr sz="1600" dirty="0">
                <a:latin typeface="페이퍼로지 5 Medium"/>
                <a:ea typeface="페이퍼로지 5 Medium"/>
                <a:cs typeface="페이퍼로지 5 Medium"/>
              </a:rPr>
              <a:t> 101 </a:t>
            </a:r>
            <a:r>
              <a:rPr sz="1600" dirty="0" err="1">
                <a:latin typeface="페이퍼로지 5 Medium"/>
                <a:ea typeface="페이퍼로지 5 Medium"/>
                <a:cs typeface="페이퍼로지 5 Medium"/>
              </a:rPr>
              <a:t>입고</a:t>
            </a:r>
            <a:r>
              <a:rPr sz="1600" dirty="0">
                <a:latin typeface="페이퍼로지 5 Medium"/>
                <a:ea typeface="페이퍼로지 5 Medium"/>
                <a:cs typeface="페이퍼로지 5 Medium"/>
              </a:rPr>
              <a:t> / 102 </a:t>
            </a:r>
            <a:r>
              <a:rPr sz="1600" dirty="0" err="1">
                <a:latin typeface="페이퍼로지 5 Medium"/>
                <a:ea typeface="페이퍼로지 5 Medium"/>
                <a:cs typeface="페이퍼로지 5 Medium"/>
              </a:rPr>
              <a:t>취소를</a:t>
            </a:r>
            <a:r>
              <a:rPr sz="1600" dirty="0"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sz="1600" dirty="0" err="1">
                <a:latin typeface="페이퍼로지 5 Medium"/>
                <a:ea typeface="페이퍼로지 5 Medium"/>
                <a:cs typeface="페이퍼로지 5 Medium"/>
              </a:rPr>
              <a:t>기준으로</a:t>
            </a:r>
            <a:r>
              <a:rPr sz="1600" dirty="0"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sz="1600" dirty="0" err="1">
                <a:latin typeface="페이퍼로지 5 Medium"/>
                <a:ea typeface="페이퍼로지 5 Medium"/>
                <a:cs typeface="페이퍼로지 5 Medium"/>
              </a:rPr>
              <a:t>원입고</a:t>
            </a:r>
            <a:r>
              <a:rPr sz="1600" dirty="0"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sz="1600" dirty="0" err="1">
                <a:latin typeface="페이퍼로지 5 Medium"/>
                <a:ea typeface="페이퍼로지 5 Medium"/>
                <a:cs typeface="페이퍼로지 5 Medium"/>
              </a:rPr>
              <a:t>문서</a:t>
            </a:r>
            <a:r>
              <a:rPr sz="1600" dirty="0"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sz="1600" dirty="0" err="1">
                <a:latin typeface="페이퍼로지 5 Medium"/>
                <a:ea typeface="페이퍼로지 5 Medium"/>
                <a:cs typeface="페이퍼로지 5 Medium"/>
              </a:rPr>
              <a:t>참조</a:t>
            </a:r>
            <a:r>
              <a:rPr sz="1600" dirty="0">
                <a:latin typeface="페이퍼로지 5 Medium"/>
                <a:ea typeface="페이퍼로지 5 Medium"/>
                <a:cs typeface="페이퍼로지 5 Medium"/>
              </a:rPr>
              <a:t> 및 </a:t>
            </a:r>
            <a:r>
              <a:rPr sz="1600" dirty="0" err="1">
                <a:latin typeface="페이퍼로지 5 Medium"/>
                <a:ea typeface="페이퍼로지 5 Medium"/>
                <a:cs typeface="페이퍼로지 5 Medium"/>
              </a:rPr>
              <a:t>역처리</a:t>
            </a:r>
            <a:r>
              <a:rPr sz="1600" dirty="0"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sz="1600" dirty="0" err="1">
                <a:latin typeface="페이퍼로지 5 Medium"/>
                <a:ea typeface="페이퍼로지 5 Medium"/>
                <a:cs typeface="페이퍼로지 5 Medium"/>
              </a:rPr>
              <a:t>구조</a:t>
            </a:r>
            <a:r>
              <a:rPr sz="1600" dirty="0"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sz="1600" dirty="0" err="1">
                <a:latin typeface="페이퍼로지 5 Medium"/>
                <a:ea typeface="페이퍼로지 5 Medium"/>
                <a:cs typeface="페이퍼로지 5 Medium"/>
              </a:rPr>
              <a:t>설계</a:t>
            </a:r>
            <a:endParaRPr sz="1600" dirty="0">
              <a:latin typeface="페이퍼로지 5 Medium"/>
              <a:ea typeface="페이퍼로지 5 Medium"/>
              <a:cs typeface="페이퍼로지 5 Medium"/>
            </a:endParaRPr>
          </a:p>
          <a:p>
            <a:pPr>
              <a:lnSpc>
                <a:spcPct val="110000"/>
              </a:lnSpc>
              <a:spcAft>
                <a:spcPts val="200"/>
              </a:spcAft>
              <a:buNone/>
              <a:defRPr sz="1200">
                <a:solidFill>
                  <a:srgbClr val="343A4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dirty="0" err="1">
                <a:latin typeface="페이퍼로지 5 Medium"/>
                <a:ea typeface="페이퍼로지 5 Medium"/>
                <a:cs typeface="페이퍼로지 5 Medium"/>
              </a:rPr>
              <a:t>입고</a:t>
            </a:r>
            <a:r>
              <a:rPr sz="1600" dirty="0"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sz="1600" dirty="0" err="1">
                <a:latin typeface="페이퍼로지 5 Medium"/>
                <a:ea typeface="페이퍼로지 5 Medium"/>
                <a:cs typeface="페이퍼로지 5 Medium"/>
              </a:rPr>
              <a:t>완료</a:t>
            </a:r>
            <a:r>
              <a:rPr sz="1600" dirty="0">
                <a:latin typeface="페이퍼로지 5 Medium"/>
                <a:ea typeface="페이퍼로지 5 Medium"/>
                <a:cs typeface="페이퍼로지 5 Medium"/>
              </a:rPr>
              <a:t> 시 </a:t>
            </a:r>
            <a:r>
              <a:rPr sz="1600" dirty="0" err="1">
                <a:latin typeface="페이퍼로지 5 Medium"/>
                <a:ea typeface="페이퍼로지 5 Medium"/>
                <a:cs typeface="페이퍼로지 5 Medium"/>
              </a:rPr>
              <a:t>자재문서를</a:t>
            </a:r>
            <a:r>
              <a:rPr sz="1600" dirty="0"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sz="1600" dirty="0" err="1">
                <a:latin typeface="페이퍼로지 5 Medium"/>
                <a:ea typeface="페이퍼로지 5 Medium"/>
                <a:cs typeface="페이퍼로지 5 Medium"/>
              </a:rPr>
              <a:t>참조하는</a:t>
            </a:r>
            <a:r>
              <a:rPr sz="1600" dirty="0">
                <a:latin typeface="페이퍼로지 5 Medium"/>
                <a:ea typeface="페이퍼로지 5 Medium"/>
                <a:cs typeface="페이퍼로지 5 Medium"/>
              </a:rPr>
              <a:t> FI </a:t>
            </a:r>
            <a:r>
              <a:rPr sz="1600" dirty="0" err="1">
                <a:latin typeface="페이퍼로지 5 Medium"/>
                <a:ea typeface="페이퍼로지 5 Medium"/>
                <a:cs typeface="페이퍼로지 5 Medium"/>
              </a:rPr>
              <a:t>전표</a:t>
            </a:r>
            <a:r>
              <a:rPr sz="1600" dirty="0">
                <a:latin typeface="페이퍼로지 5 Medium"/>
                <a:ea typeface="페이퍼로지 5 Medium"/>
                <a:cs typeface="페이퍼로지 5 Medium"/>
              </a:rPr>
              <a:t> Header/</a:t>
            </a:r>
            <a:r>
              <a:rPr sz="1600" dirty="0" err="1">
                <a:latin typeface="페이퍼로지 5 Medium"/>
                <a:ea typeface="페이퍼로지 5 Medium"/>
                <a:cs typeface="페이퍼로지 5 Medium"/>
              </a:rPr>
              <a:t>Item을</a:t>
            </a:r>
            <a:r>
              <a:rPr sz="1600" dirty="0"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sz="1600" dirty="0" err="1">
                <a:latin typeface="페이퍼로지 5 Medium"/>
                <a:ea typeface="페이퍼로지 5 Medium"/>
                <a:cs typeface="페이퍼로지 5 Medium"/>
              </a:rPr>
              <a:t>생성하여</a:t>
            </a:r>
            <a:r>
              <a:rPr sz="1600" dirty="0"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sz="1600" dirty="0" err="1">
                <a:latin typeface="페이퍼로지 5 Medium"/>
                <a:ea typeface="페이퍼로지 5 Medium"/>
                <a:cs typeface="페이퍼로지 5 Medium"/>
              </a:rPr>
              <a:t>물류</a:t>
            </a:r>
            <a:r>
              <a:rPr sz="1600" dirty="0"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sz="1600" dirty="0" err="1">
                <a:latin typeface="페이퍼로지 5 Medium"/>
                <a:ea typeface="페이퍼로지 5 Medium"/>
                <a:cs typeface="페이퍼로지 5 Medium"/>
              </a:rPr>
              <a:t>흐름과</a:t>
            </a:r>
            <a:r>
              <a:rPr sz="1600" dirty="0"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sz="1600" dirty="0" err="1">
                <a:latin typeface="페이퍼로지 5 Medium"/>
                <a:ea typeface="페이퍼로지 5 Medium"/>
                <a:cs typeface="페이퍼로지 5 Medium"/>
              </a:rPr>
              <a:t>회계</a:t>
            </a:r>
            <a:r>
              <a:rPr sz="1600" dirty="0"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sz="1600" dirty="0" err="1">
                <a:latin typeface="페이퍼로지 5 Medium"/>
                <a:ea typeface="페이퍼로지 5 Medium"/>
                <a:cs typeface="페이퍼로지 5 Medium"/>
              </a:rPr>
              <a:t>흐름</a:t>
            </a:r>
            <a:r>
              <a:rPr sz="1600" dirty="0"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sz="1600" dirty="0" err="1">
                <a:latin typeface="페이퍼로지 5 Medium"/>
                <a:ea typeface="페이퍼로지 5 Medium"/>
                <a:cs typeface="페이퍼로지 5 Medium"/>
              </a:rPr>
              <a:t>연결</a:t>
            </a:r>
            <a:endParaRPr sz="1600" dirty="0"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F398660-3B11-4E2F-995F-7F64FFAA108B}"/>
              </a:ext>
            </a:extLst>
          </p:cNvPr>
          <p:cNvSpPr>
            <a:spLocks noGrp="1"/>
          </p:cNvSpPr>
          <p:nvPr/>
        </p:nvSpPr>
        <p:spPr>
          <a:xfrm>
            <a:off x="822960" y="5760720"/>
            <a:ext cx="10789920" cy="25083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buNone/>
            </a:pPr>
            <a:r>
              <a:rPr sz="1150" b="1">
                <a:solidFill>
                  <a:srgbClr val="2466D2"/>
                </a:solidFill>
                <a:latin typeface="페이퍼로지 5 Medium"/>
                <a:ea typeface="페이퍼로지 5 Medium"/>
                <a:cs typeface="페이퍼로지 5 Medium"/>
              </a:rPr>
              <a:t>FS06 구현 범위  |  Header–Item Composition 기반 구매오더 관리 · FS07~FS08은 후속 설계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2852198-3F90-46B6-BA0D-271E8C7C96F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EF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3B0F2F4-3DB8-4D02-ABD9-FD136C390CF2}"/>
              </a:ext>
            </a:extLst>
          </p:cNvPr>
          <p:cNvSpPr>
            <a:spLocks noGrp="1"/>
          </p:cNvSpPr>
          <p:nvPr/>
        </p:nvSpPr>
        <p:spPr>
          <a:xfrm>
            <a:off x="0" y="804672"/>
            <a:ext cx="11292840" cy="32004"/>
          </a:xfrm>
          <a:prstGeom prst="rect">
            <a:avLst/>
          </a:prstGeom>
          <a:solidFill>
            <a:srgbClr val="CDD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DD7298B-741A-49D3-B659-407335E6D6FA}"/>
              </a:ext>
            </a:extLst>
          </p:cNvPr>
          <p:cNvSpPr>
            <a:spLocks noGrp="1"/>
          </p:cNvSpPr>
          <p:nvPr/>
        </p:nvSpPr>
        <p:spPr>
          <a:xfrm>
            <a:off x="0" y="786384"/>
            <a:ext cx="4297680" cy="64008"/>
          </a:xfrm>
          <a:prstGeom prst="rect">
            <a:avLst/>
          </a:prstGeom>
          <a:solidFill>
            <a:srgbClr val="15A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B0F7648-9671-4213-8C98-78FFB0BE0B85}"/>
              </a:ext>
            </a:extLst>
          </p:cNvPr>
          <p:cNvSpPr>
            <a:spLocks noGrp="1"/>
          </p:cNvSpPr>
          <p:nvPr/>
        </p:nvSpPr>
        <p:spPr>
          <a:xfrm>
            <a:off x="361950" y="123825"/>
            <a:ext cx="11239500" cy="590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925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000000"/>
                </a:solidFill>
                <a:latin typeface="페이퍼로지 5 Medium"/>
                <a:ea typeface="페이퍼로지 5 Medium"/>
                <a:cs typeface="페이퍼로지 5 Medium"/>
              </a:rPr>
              <a:t>10. 후속 확장 설계 : PO · GR · FI</a:t>
            </a:r>
          </a:p>
        </p:txBody>
      </p:sp>
    </p:spTree>
    <p:extLst>
      <p:ext uri="{BB962C8B-B14F-4D97-AF65-F5344CB8AC3E}">
        <p14:creationId xmlns:p14="http://schemas.microsoft.com/office/powerpoint/2010/main" val="16607806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C23B460-1228-401A-AF1E-96E0A9F3DD58}"/>
              </a:ext>
            </a:extLst>
          </p:cNvPr>
          <p:cNvSpPr>
            <a:spLocks noGrp="1"/>
          </p:cNvSpPr>
          <p:nvPr/>
        </p:nvSpPr>
        <p:spPr>
          <a:xfrm>
            <a:off x="658368" y="1417320"/>
            <a:ext cx="10972800" cy="4654296"/>
          </a:xfrm>
          <a:prstGeom prst="roundRect">
            <a:avLst/>
          </a:prstGeom>
          <a:solidFill>
            <a:srgbClr val="F3F8FC"/>
          </a:solidFill>
          <a:ln w="12700"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C07906-AFF9-49C0-81E2-7C923C29AC94}"/>
              </a:ext>
            </a:extLst>
          </p:cNvPr>
          <p:cNvSpPr>
            <a:spLocks noGrp="1"/>
          </p:cNvSpPr>
          <p:nvPr/>
        </p:nvSpPr>
        <p:spPr>
          <a:xfrm>
            <a:off x="1143000" y="1828800"/>
            <a:ext cx="9906000" cy="914400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2325" b="1">
                <a:solidFill>
                  <a:srgbClr val="1C3557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C3557"/>
                </a:solidFill>
                <a:latin typeface="페이퍼로지 5 Medium"/>
                <a:ea typeface="페이퍼로지 5 Medium"/>
                <a:cs typeface="페이퍼로지 5 Medium"/>
              </a:rPr>
              <a:t>업무 요구사항을 RAP Business Object로 구조화하고,</a:t>
            </a:r>
          </a:p>
          <a:p>
            <a:pPr algn="ctr">
              <a:buNone/>
              <a:defRPr sz="2325" b="1">
                <a:solidFill>
                  <a:srgbClr val="1C3557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C3557"/>
                </a:solidFill>
                <a:latin typeface="페이퍼로지 5 Medium"/>
                <a:ea typeface="페이퍼로지 5 Medium"/>
                <a:cs typeface="페이퍼로지 5 Medium"/>
              </a:rPr>
              <a:t>Validation과 Determination으로 데이터 품질과 입력 효율을 개선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D66933-018C-45C4-AD27-C8496D89201A}"/>
              </a:ext>
            </a:extLst>
          </p:cNvPr>
          <p:cNvSpPr>
            <a:spLocks noGrp="1"/>
          </p:cNvSpPr>
          <p:nvPr/>
        </p:nvSpPr>
        <p:spPr>
          <a:xfrm>
            <a:off x="1078992" y="3291449"/>
            <a:ext cx="10012680" cy="30469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buNone/>
            </a:pPr>
            <a:r>
              <a:rPr sz="1500" b="1">
                <a:solidFill>
                  <a:srgbClr val="2466D2"/>
                </a:solidFill>
                <a:latin typeface="페이퍼로지 5 Medium"/>
                <a:ea typeface="페이퍼로지 5 Medium"/>
                <a:cs typeface="페이퍼로지 5 Medium"/>
              </a:rPr>
              <a:t>직접 수행한 핵심 경험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CE64276-B804-46E6-B4B4-E9FC351A4F99}"/>
              </a:ext>
            </a:extLst>
          </p:cNvPr>
          <p:cNvSpPr>
            <a:spLocks noGrp="1"/>
          </p:cNvSpPr>
          <p:nvPr/>
        </p:nvSpPr>
        <p:spPr>
          <a:xfrm>
            <a:off x="932688" y="3858377"/>
            <a:ext cx="306324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DDBF4C-1B8C-4F05-A9A3-F46C295E7809}"/>
              </a:ext>
            </a:extLst>
          </p:cNvPr>
          <p:cNvSpPr>
            <a:spLocks noGrp="1"/>
          </p:cNvSpPr>
          <p:nvPr/>
        </p:nvSpPr>
        <p:spPr>
          <a:xfrm>
            <a:off x="1069848" y="3995537"/>
            <a:ext cx="2788920" cy="23852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buNone/>
            </a:pPr>
            <a:r>
              <a:rPr sz="1070" b="1">
                <a:solidFill>
                  <a:srgbClr val="343A40"/>
                </a:solidFill>
                <a:latin typeface="페이퍼로지 5 Medium"/>
                <a:ea typeface="페이퍼로지 5 Medium"/>
                <a:cs typeface="페이퍼로지 5 Medium"/>
              </a:rPr>
              <a:t>공통 Search Help 설계 및 재사용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D4E6DA9-794E-41A8-B915-E850CB6F59BE}"/>
              </a:ext>
            </a:extLst>
          </p:cNvPr>
          <p:cNvSpPr>
            <a:spLocks noGrp="1"/>
          </p:cNvSpPr>
          <p:nvPr/>
        </p:nvSpPr>
        <p:spPr>
          <a:xfrm>
            <a:off x="4453128" y="3858377"/>
            <a:ext cx="306324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80B97E-7BD5-40D3-82F8-4A727DC5F0E9}"/>
              </a:ext>
            </a:extLst>
          </p:cNvPr>
          <p:cNvSpPr>
            <a:spLocks noGrp="1"/>
          </p:cNvSpPr>
          <p:nvPr/>
        </p:nvSpPr>
        <p:spPr>
          <a:xfrm>
            <a:off x="4590288" y="3995537"/>
            <a:ext cx="2788920" cy="23852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buNone/>
            </a:pPr>
            <a:r>
              <a:rPr sz="1070" b="1">
                <a:solidFill>
                  <a:srgbClr val="343A40"/>
                </a:solidFill>
                <a:latin typeface="페이퍼로지 5 Medium"/>
                <a:ea typeface="페이퍼로지 5 Medium"/>
                <a:cs typeface="페이퍼로지 5 Medium"/>
              </a:rPr>
              <a:t>Master Data 4개 영역 RAP 구현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DE6143F-D0D6-4EA4-8BD8-F4BED51724AC}"/>
              </a:ext>
            </a:extLst>
          </p:cNvPr>
          <p:cNvSpPr>
            <a:spLocks noGrp="1"/>
          </p:cNvSpPr>
          <p:nvPr/>
        </p:nvSpPr>
        <p:spPr>
          <a:xfrm>
            <a:off x="7973568" y="3858377"/>
            <a:ext cx="306324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AACCB4-F904-4649-91C1-66AE057C7461}"/>
              </a:ext>
            </a:extLst>
          </p:cNvPr>
          <p:cNvSpPr>
            <a:spLocks noGrp="1"/>
          </p:cNvSpPr>
          <p:nvPr/>
        </p:nvSpPr>
        <p:spPr>
          <a:xfrm>
            <a:off x="8110728" y="3995537"/>
            <a:ext cx="2788920" cy="23852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buNone/>
            </a:pPr>
            <a:r>
              <a:rPr sz="1070" b="1">
                <a:solidFill>
                  <a:srgbClr val="343A40"/>
                </a:solidFill>
                <a:latin typeface="페이퍼로지 5 Medium"/>
                <a:ea typeface="페이퍼로지 5 Medium"/>
                <a:cs typeface="페이퍼로지 5 Medium"/>
              </a:rPr>
              <a:t>구매정보 자동 채움 및 구매오더 Composition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8E1A3A99-437C-4A41-97D4-9E28610E9F7F}"/>
              </a:ext>
            </a:extLst>
          </p:cNvPr>
          <p:cNvSpPr>
            <a:spLocks noGrp="1"/>
          </p:cNvSpPr>
          <p:nvPr/>
        </p:nvSpPr>
        <p:spPr>
          <a:xfrm>
            <a:off x="932688" y="4663049"/>
            <a:ext cx="306324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AB2BBB-1C8E-46EA-93ED-F4E9FACD93B9}"/>
              </a:ext>
            </a:extLst>
          </p:cNvPr>
          <p:cNvSpPr>
            <a:spLocks noGrp="1"/>
          </p:cNvSpPr>
          <p:nvPr/>
        </p:nvSpPr>
        <p:spPr>
          <a:xfrm>
            <a:off x="1069848" y="4800209"/>
            <a:ext cx="2788920" cy="23852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buNone/>
            </a:pPr>
            <a:r>
              <a:rPr sz="1070" b="1">
                <a:solidFill>
                  <a:srgbClr val="343A40"/>
                </a:solidFill>
                <a:latin typeface="페이퍼로지 5 Medium"/>
                <a:ea typeface="페이퍼로지 5 Medium"/>
                <a:cs typeface="페이퍼로지 5 Medium"/>
              </a:rPr>
              <a:t>Validation / Determination / Draft 적용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CE3C9174-2FC8-4D36-B6D1-1CC8AA8F8702}"/>
              </a:ext>
            </a:extLst>
          </p:cNvPr>
          <p:cNvSpPr>
            <a:spLocks noGrp="1"/>
          </p:cNvSpPr>
          <p:nvPr/>
        </p:nvSpPr>
        <p:spPr>
          <a:xfrm>
            <a:off x="4453128" y="4663049"/>
            <a:ext cx="306324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1A3D912-A243-46E1-81DF-148BF54AADEE}"/>
              </a:ext>
            </a:extLst>
          </p:cNvPr>
          <p:cNvSpPr>
            <a:spLocks noGrp="1"/>
          </p:cNvSpPr>
          <p:nvPr/>
        </p:nvSpPr>
        <p:spPr>
          <a:xfrm>
            <a:off x="4590288" y="4800209"/>
            <a:ext cx="2788920" cy="23852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buNone/>
            </a:pPr>
            <a:r>
              <a:rPr sz="1070" b="1">
                <a:solidFill>
                  <a:srgbClr val="343A40"/>
                </a:solidFill>
                <a:latin typeface="페이퍼로지 5 Medium"/>
                <a:ea typeface="페이퍼로지 5 Medium"/>
                <a:cs typeface="페이퍼로지 5 Medium"/>
              </a:rPr>
              <a:t>중간평가 피드백 및 기술제약 기반 개선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E27D3D1-4E79-40BE-A47C-396E200B687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EF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D175AF6-E23C-4306-8BF1-B324C64A8576}"/>
              </a:ext>
            </a:extLst>
          </p:cNvPr>
          <p:cNvSpPr>
            <a:spLocks noGrp="1"/>
          </p:cNvSpPr>
          <p:nvPr/>
        </p:nvSpPr>
        <p:spPr>
          <a:xfrm>
            <a:off x="0" y="804672"/>
            <a:ext cx="11292840" cy="32004"/>
          </a:xfrm>
          <a:prstGeom prst="rect">
            <a:avLst/>
          </a:prstGeom>
          <a:solidFill>
            <a:srgbClr val="CDD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1BA437C-F316-4806-A5C6-A677F82A7AF8}"/>
              </a:ext>
            </a:extLst>
          </p:cNvPr>
          <p:cNvSpPr>
            <a:spLocks noGrp="1"/>
          </p:cNvSpPr>
          <p:nvPr/>
        </p:nvSpPr>
        <p:spPr>
          <a:xfrm>
            <a:off x="0" y="786384"/>
            <a:ext cx="4297680" cy="64008"/>
          </a:xfrm>
          <a:prstGeom prst="rect">
            <a:avLst/>
          </a:prstGeom>
          <a:solidFill>
            <a:srgbClr val="15A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31479A2-0DED-4BF5-A2CC-BC8AF9466D56}"/>
              </a:ext>
            </a:extLst>
          </p:cNvPr>
          <p:cNvSpPr>
            <a:spLocks noGrp="1"/>
          </p:cNvSpPr>
          <p:nvPr/>
        </p:nvSpPr>
        <p:spPr>
          <a:xfrm>
            <a:off x="361950" y="123825"/>
            <a:ext cx="11239500" cy="590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925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000000"/>
                </a:solidFill>
                <a:latin typeface="페이퍼로지 5 Medium"/>
                <a:ea typeface="페이퍼로지 5 Medium"/>
                <a:cs typeface="페이퍼로지 5 Medium"/>
              </a:rPr>
              <a:t>11. 핵심 성과 요약</a:t>
            </a:r>
          </a:p>
        </p:txBody>
      </p:sp>
    </p:spTree>
    <p:extLst>
      <p:ext uri="{BB962C8B-B14F-4D97-AF65-F5344CB8AC3E}">
        <p14:creationId xmlns:p14="http://schemas.microsoft.com/office/powerpoint/2010/main" val="21291247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336</TotalTime>
  <Words>1952</Words>
  <Application>Microsoft Office PowerPoint</Application>
  <DocSecurity>0</DocSecurity>
  <PresentationFormat>와이드스크린</PresentationFormat>
  <Paragraphs>266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12</vt:i4>
      </vt:variant>
    </vt:vector>
  </HeadingPairs>
  <TitlesOfParts>
    <vt:vector size="19" baseType="lpstr">
      <vt:lpstr>페이퍼로지 4 Regular</vt:lpstr>
      <vt:lpstr>페이퍼로지 5 Medium</vt:lpstr>
      <vt:lpstr>Aptos</vt:lpstr>
      <vt:lpstr>Aptos Display</vt:lpstr>
      <vt:lpstr>Arial</vt:lpstr>
      <vt:lpstr>Office Theme</vt:lpstr>
      <vt:lpstr>1_Office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MINJUN CHOI</cp:lastModifiedBy>
  <cp:revision>7</cp:revision>
  <dcterms:created xsi:type="dcterms:W3CDTF">2026-09-08T15:40:28Z</dcterms:created>
  <dcterms:modified xsi:type="dcterms:W3CDTF">2026-09-11T08:27:11Z</dcterms:modified>
</cp:coreProperties>
</file>